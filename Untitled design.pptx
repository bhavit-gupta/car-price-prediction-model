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8288000" cy="10287000"/>
  <p:notesSz cx="6858000" cy="9144000"/>
  <p:embeddedFontLst>
    <p:embeddedFont>
      <p:font typeface="Arimo" panose="020B0604020202020204" charset="0"/>
      <p:regular r:id="rId16"/>
    </p:embeddedFont>
    <p:embeddedFont>
      <p:font typeface="Arimo Bold" panose="020B0604020202020204" charset="0"/>
      <p:regular r:id="rId17"/>
    </p:embeddedFont>
    <p:embeddedFont>
      <p:font typeface="Consolas" panose="020B0609020204030204" pitchFamily="49" charset="0"/>
      <p:regular r:id="rId18"/>
      <p:bold r:id="rId19"/>
      <p:italic r:id="rId20"/>
      <p:boldItalic r:id="rId21"/>
    </p:embeddedFont>
    <p:embeddedFont>
      <p:font typeface="Overpass" panose="020B0604020202020204" charset="0"/>
      <p:regular r:id="rId22"/>
    </p:embeddedFont>
    <p:embeddedFont>
      <p:font typeface="Overpass Bold" panose="020B0604020202020204" charset="0"/>
      <p:regular r:id="rId23"/>
    </p:embeddedFont>
    <p:embeddedFont>
      <p:font typeface="Overpass Light" panose="020B0604020202020204" charset="0"/>
      <p:regular r:id="rId24"/>
    </p:embeddedFont>
    <p:embeddedFont>
      <p:font typeface="Overpass Light Italics" panose="020B0604020202020204" charset="0"/>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font" Target="fonts/font10.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8.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Layout" Target="../slideLayouts/slideLayout7.xml"/><Relationship Id="rId5" Type="http://schemas.openxmlformats.org/officeDocument/2006/relationships/image" Target="../media/image6.svg"/><Relationship Id="rId4" Type="http://schemas.openxmlformats.org/officeDocument/2006/relationships/image" Target="../media/image5.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10.svg"/><Relationship Id="rId4" Type="http://schemas.openxmlformats.org/officeDocument/2006/relationships/image" Target="../media/image9.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9F4BE"/>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DE6"/>
            </a:solidFill>
          </p:spPr>
        </p:sp>
      </p:grpSp>
      <p:grpSp>
        <p:nvGrpSpPr>
          <p:cNvPr id="6" name="Group 6"/>
          <p:cNvGrpSpPr/>
          <p:nvPr/>
        </p:nvGrpSpPr>
        <p:grpSpPr>
          <a:xfrm>
            <a:off x="16049015" y="9686925"/>
            <a:ext cx="2153260" cy="514350"/>
            <a:chOff x="0" y="0"/>
            <a:chExt cx="2871013" cy="685800"/>
          </a:xfrm>
        </p:grpSpPr>
        <p:sp>
          <p:nvSpPr>
            <p:cNvPr id="7" name="Freeform 7" descr="preencoded.png">
              <a:hlinkClick r:id="rId2" tooltip="https://gamma.app/?utm_source=made-with-gamma"/>
            </p:cNvPr>
            <p:cNvSpPr/>
            <p:nvPr/>
          </p:nvSpPr>
          <p:spPr>
            <a:xfrm>
              <a:off x="0" y="0"/>
              <a:ext cx="2870962" cy="685800"/>
            </a:xfrm>
            <a:custGeom>
              <a:avLst/>
              <a:gdLst/>
              <a:ahLst/>
              <a:cxnLst/>
              <a:rect l="l" t="t" r="r" b="b"/>
              <a:pathLst>
                <a:path w="2870962" h="685800">
                  <a:moveTo>
                    <a:pt x="0" y="0"/>
                  </a:moveTo>
                  <a:lnTo>
                    <a:pt x="2870962" y="0"/>
                  </a:lnTo>
                  <a:lnTo>
                    <a:pt x="2870962" y="685800"/>
                  </a:lnTo>
                  <a:lnTo>
                    <a:pt x="0" y="685800"/>
                  </a:lnTo>
                  <a:lnTo>
                    <a:pt x="0" y="0"/>
                  </a:lnTo>
                  <a:close/>
                </a:path>
              </a:pathLst>
            </a:custGeom>
            <a:blipFill>
              <a:blip r:embed="rId3"/>
              <a:stretch>
                <a:fillRect r="-1"/>
              </a:stretch>
            </a:blipFill>
          </p:spPr>
        </p:sp>
      </p:grpSp>
      <p:grpSp>
        <p:nvGrpSpPr>
          <p:cNvPr id="8" name="Group 8"/>
          <p:cNvGrpSpPr/>
          <p:nvPr/>
        </p:nvGrpSpPr>
        <p:grpSpPr>
          <a:xfrm>
            <a:off x="11430000" y="0"/>
            <a:ext cx="6858000" cy="10287000"/>
            <a:chOff x="0" y="0"/>
            <a:chExt cx="9144000" cy="13716000"/>
          </a:xfrm>
        </p:grpSpPr>
        <p:sp>
          <p:nvSpPr>
            <p:cNvPr id="9" name="Freeform 9" descr="preencoded.png"/>
            <p:cNvSpPr/>
            <p:nvPr/>
          </p:nvSpPr>
          <p:spPr>
            <a:xfrm>
              <a:off x="0" y="0"/>
              <a:ext cx="9144000" cy="13716000"/>
            </a:xfrm>
            <a:custGeom>
              <a:avLst/>
              <a:gdLst/>
              <a:ahLst/>
              <a:cxnLst/>
              <a:rect l="l" t="t" r="r" b="b"/>
              <a:pathLst>
                <a:path w="9144000" h="13716000">
                  <a:moveTo>
                    <a:pt x="0" y="0"/>
                  </a:moveTo>
                  <a:lnTo>
                    <a:pt x="9144000" y="0"/>
                  </a:lnTo>
                  <a:lnTo>
                    <a:pt x="9144000" y="13716000"/>
                  </a:lnTo>
                  <a:lnTo>
                    <a:pt x="0" y="13716000"/>
                  </a:lnTo>
                  <a:lnTo>
                    <a:pt x="0" y="0"/>
                  </a:lnTo>
                  <a:close/>
                </a:path>
              </a:pathLst>
            </a:custGeom>
            <a:blipFill>
              <a:blip r:embed="rId4"/>
              <a:stretch>
                <a:fillRect/>
              </a:stretch>
            </a:blipFill>
          </p:spPr>
        </p:sp>
      </p:grpSp>
      <p:sp>
        <p:nvSpPr>
          <p:cNvPr id="10" name="TextBox 10"/>
          <p:cNvSpPr txBox="1"/>
          <p:nvPr/>
        </p:nvSpPr>
        <p:spPr>
          <a:xfrm>
            <a:off x="992238" y="2298354"/>
            <a:ext cx="6802641" cy="813197"/>
          </a:xfrm>
          <a:prstGeom prst="rect">
            <a:avLst/>
          </a:prstGeom>
        </p:spPr>
        <p:txBody>
          <a:bodyPr lIns="0" tIns="0" rIns="0" bIns="0" rtlCol="0" anchor="t">
            <a:spAutoFit/>
          </a:bodyPr>
          <a:lstStyle/>
          <a:p>
            <a:pPr algn="l">
              <a:lnSpc>
                <a:spcPts val="6062"/>
              </a:lnSpc>
            </a:pPr>
            <a:r>
              <a:rPr lang="en-US" sz="4875" b="1">
                <a:solidFill>
                  <a:srgbClr val="233939"/>
                </a:solidFill>
                <a:latin typeface="Arimo Bold"/>
                <a:ea typeface="Arimo Bold"/>
                <a:cs typeface="Arimo Bold"/>
                <a:sym typeface="Arimo Bold"/>
              </a:rPr>
              <a:t>Car Price Prediction</a:t>
            </a:r>
          </a:p>
        </p:txBody>
      </p:sp>
      <p:sp>
        <p:nvSpPr>
          <p:cNvPr id="11" name="TextBox 11"/>
          <p:cNvSpPr txBox="1"/>
          <p:nvPr/>
        </p:nvSpPr>
        <p:spPr>
          <a:xfrm>
            <a:off x="992238" y="3426466"/>
            <a:ext cx="9445523" cy="2196703"/>
          </a:xfrm>
          <a:prstGeom prst="rect">
            <a:avLst/>
          </a:prstGeom>
        </p:spPr>
        <p:txBody>
          <a:bodyPr lIns="0" tIns="0" rIns="0" bIns="0" rtlCol="0" anchor="t">
            <a:spAutoFit/>
          </a:bodyPr>
          <a:lstStyle/>
          <a:p>
            <a:pPr algn="l">
              <a:lnSpc>
                <a:spcPts val="8375"/>
              </a:lnSpc>
            </a:pPr>
            <a:r>
              <a:rPr lang="en-US" sz="6687" b="1">
                <a:solidFill>
                  <a:srgbClr val="233939"/>
                </a:solidFill>
                <a:latin typeface="Arimo Bold"/>
                <a:ea typeface="Arimo Bold"/>
                <a:cs typeface="Arimo Bold"/>
                <a:sym typeface="Arimo Bold"/>
              </a:rPr>
              <a:t>A Detailed Machine Learning Workflow</a:t>
            </a:r>
          </a:p>
        </p:txBody>
      </p:sp>
      <p:sp>
        <p:nvSpPr>
          <p:cNvPr id="12" name="TextBox 12"/>
          <p:cNvSpPr txBox="1"/>
          <p:nvPr/>
        </p:nvSpPr>
        <p:spPr>
          <a:xfrm>
            <a:off x="992238" y="5919045"/>
            <a:ext cx="9445523" cy="1266977"/>
          </a:xfrm>
          <a:prstGeom prst="rect">
            <a:avLst/>
          </a:prstGeom>
        </p:spPr>
        <p:txBody>
          <a:bodyPr lIns="0" tIns="0" rIns="0" bIns="0" rtlCol="0" anchor="t">
            <a:spAutoFit/>
          </a:bodyPr>
          <a:lstStyle/>
          <a:p>
            <a:pPr algn="l">
              <a:lnSpc>
                <a:spcPts val="3125"/>
              </a:lnSpc>
            </a:pPr>
            <a:r>
              <a:rPr lang="en-US" sz="1937">
                <a:solidFill>
                  <a:srgbClr val="3B4E4E"/>
                </a:solidFill>
                <a:latin typeface="Overpass Light"/>
                <a:ea typeface="Overpass Light"/>
                <a:cs typeface="Overpass Light"/>
                <a:sym typeface="Overpass Light"/>
              </a:rPr>
              <a:t>A comprehensive, step-by-step walkthrough of building a supervised regression model to estimate car prices from technical specifications and physical attributes — from raw data to deployment-ready predictions.</a:t>
            </a:r>
          </a:p>
        </p:txBody>
      </p:sp>
      <p:grpSp>
        <p:nvGrpSpPr>
          <p:cNvPr id="13" name="Group 13"/>
          <p:cNvGrpSpPr/>
          <p:nvPr/>
        </p:nvGrpSpPr>
        <p:grpSpPr>
          <a:xfrm>
            <a:off x="992238" y="7474591"/>
            <a:ext cx="2462508" cy="466430"/>
            <a:chOff x="0" y="0"/>
            <a:chExt cx="3283344" cy="621906"/>
          </a:xfrm>
        </p:grpSpPr>
        <p:sp>
          <p:nvSpPr>
            <p:cNvPr id="14" name="Freeform 14"/>
            <p:cNvSpPr/>
            <p:nvPr/>
          </p:nvSpPr>
          <p:spPr>
            <a:xfrm>
              <a:off x="0" y="0"/>
              <a:ext cx="3283331" cy="621919"/>
            </a:xfrm>
            <a:custGeom>
              <a:avLst/>
              <a:gdLst/>
              <a:ahLst/>
              <a:cxnLst/>
              <a:rect l="l" t="t" r="r" b="b"/>
              <a:pathLst>
                <a:path w="3283331" h="621919">
                  <a:moveTo>
                    <a:pt x="0" y="111125"/>
                  </a:moveTo>
                  <a:cubicBezTo>
                    <a:pt x="0" y="49784"/>
                    <a:pt x="49784" y="0"/>
                    <a:pt x="111125" y="0"/>
                  </a:cubicBezTo>
                  <a:lnTo>
                    <a:pt x="3172206" y="0"/>
                  </a:lnTo>
                  <a:cubicBezTo>
                    <a:pt x="3233547" y="0"/>
                    <a:pt x="3283331" y="49784"/>
                    <a:pt x="3283331" y="111125"/>
                  </a:cubicBezTo>
                  <a:lnTo>
                    <a:pt x="3283331" y="510794"/>
                  </a:lnTo>
                  <a:cubicBezTo>
                    <a:pt x="3283331" y="572135"/>
                    <a:pt x="3233547" y="621919"/>
                    <a:pt x="3172206" y="621919"/>
                  </a:cubicBezTo>
                  <a:lnTo>
                    <a:pt x="111125" y="621919"/>
                  </a:lnTo>
                  <a:cubicBezTo>
                    <a:pt x="49784" y="621919"/>
                    <a:pt x="0" y="572135"/>
                    <a:pt x="0" y="510794"/>
                  </a:cubicBezTo>
                  <a:close/>
                </a:path>
              </a:pathLst>
            </a:custGeom>
            <a:solidFill>
              <a:srgbClr val="DDEEE6"/>
            </a:solidFill>
          </p:spPr>
        </p:sp>
      </p:grpSp>
      <p:sp>
        <p:nvSpPr>
          <p:cNvPr id="15" name="TextBox 15"/>
          <p:cNvSpPr txBox="1"/>
          <p:nvPr/>
        </p:nvSpPr>
        <p:spPr>
          <a:xfrm>
            <a:off x="1141066" y="7509905"/>
            <a:ext cx="2462498" cy="300595"/>
          </a:xfrm>
          <a:prstGeom prst="rect">
            <a:avLst/>
          </a:prstGeom>
        </p:spPr>
        <p:txBody>
          <a:bodyPr wrap="square" lIns="0" tIns="0" rIns="0" bIns="0" rtlCol="0" anchor="t">
            <a:spAutoFit/>
          </a:bodyPr>
          <a:lstStyle/>
          <a:p>
            <a:pPr algn="l">
              <a:lnSpc>
                <a:spcPts val="2499"/>
              </a:lnSpc>
            </a:pPr>
            <a:r>
              <a:rPr lang="en-US" sz="1562" dirty="0">
                <a:solidFill>
                  <a:srgbClr val="3B4E4E"/>
                </a:solidFill>
                <a:latin typeface="Overpass Light"/>
                <a:ea typeface="Overpass Light"/>
                <a:cs typeface="Overpass Light"/>
                <a:sym typeface="Overpass Light"/>
              </a:rPr>
              <a:t>SUPERVISED LEARNING</a:t>
            </a:r>
          </a:p>
        </p:txBody>
      </p:sp>
      <p:grpSp>
        <p:nvGrpSpPr>
          <p:cNvPr id="16" name="Group 16"/>
          <p:cNvGrpSpPr/>
          <p:nvPr/>
        </p:nvGrpSpPr>
        <p:grpSpPr>
          <a:xfrm>
            <a:off x="3573961" y="7460304"/>
            <a:ext cx="1520276" cy="495005"/>
            <a:chOff x="0" y="0"/>
            <a:chExt cx="2027034" cy="660006"/>
          </a:xfrm>
        </p:grpSpPr>
        <p:sp>
          <p:nvSpPr>
            <p:cNvPr id="17" name="Freeform 17"/>
            <p:cNvSpPr/>
            <p:nvPr/>
          </p:nvSpPr>
          <p:spPr>
            <a:xfrm>
              <a:off x="0" y="0"/>
              <a:ext cx="2027047" cy="660019"/>
            </a:xfrm>
            <a:custGeom>
              <a:avLst/>
              <a:gdLst/>
              <a:ahLst/>
              <a:cxnLst/>
              <a:rect l="l" t="t" r="r" b="b"/>
              <a:pathLst>
                <a:path w="2027047" h="660019">
                  <a:moveTo>
                    <a:pt x="0" y="117475"/>
                  </a:moveTo>
                  <a:cubicBezTo>
                    <a:pt x="0" y="52578"/>
                    <a:pt x="53340" y="0"/>
                    <a:pt x="118999" y="0"/>
                  </a:cubicBezTo>
                  <a:lnTo>
                    <a:pt x="1908048" y="0"/>
                  </a:lnTo>
                  <a:lnTo>
                    <a:pt x="1908048" y="6350"/>
                  </a:lnTo>
                  <a:lnTo>
                    <a:pt x="1908048" y="0"/>
                  </a:lnTo>
                  <a:cubicBezTo>
                    <a:pt x="1973707" y="0"/>
                    <a:pt x="2027047" y="52578"/>
                    <a:pt x="2027047" y="117475"/>
                  </a:cubicBezTo>
                  <a:lnTo>
                    <a:pt x="2020697" y="117475"/>
                  </a:lnTo>
                  <a:lnTo>
                    <a:pt x="2027047" y="117475"/>
                  </a:lnTo>
                  <a:lnTo>
                    <a:pt x="2027047" y="542544"/>
                  </a:lnTo>
                  <a:lnTo>
                    <a:pt x="2020697" y="542544"/>
                  </a:lnTo>
                  <a:lnTo>
                    <a:pt x="2027047" y="542544"/>
                  </a:lnTo>
                  <a:cubicBezTo>
                    <a:pt x="2027047" y="607568"/>
                    <a:pt x="1973707" y="660019"/>
                    <a:pt x="1908048" y="660019"/>
                  </a:cubicBezTo>
                  <a:lnTo>
                    <a:pt x="1908048" y="653669"/>
                  </a:lnTo>
                  <a:lnTo>
                    <a:pt x="1908048" y="660019"/>
                  </a:lnTo>
                  <a:lnTo>
                    <a:pt x="118999" y="660019"/>
                  </a:lnTo>
                  <a:lnTo>
                    <a:pt x="118999" y="653669"/>
                  </a:lnTo>
                  <a:lnTo>
                    <a:pt x="118999" y="660019"/>
                  </a:lnTo>
                  <a:cubicBezTo>
                    <a:pt x="53340" y="660019"/>
                    <a:pt x="0" y="607441"/>
                    <a:pt x="0" y="542544"/>
                  </a:cubicBezTo>
                  <a:lnTo>
                    <a:pt x="0" y="117475"/>
                  </a:lnTo>
                  <a:lnTo>
                    <a:pt x="6350" y="117475"/>
                  </a:lnTo>
                  <a:lnTo>
                    <a:pt x="0" y="117475"/>
                  </a:lnTo>
                  <a:moveTo>
                    <a:pt x="12700" y="117475"/>
                  </a:moveTo>
                  <a:lnTo>
                    <a:pt x="12700" y="542544"/>
                  </a:lnTo>
                  <a:lnTo>
                    <a:pt x="6350" y="542544"/>
                  </a:lnTo>
                  <a:lnTo>
                    <a:pt x="12700" y="542544"/>
                  </a:lnTo>
                  <a:cubicBezTo>
                    <a:pt x="12700" y="600329"/>
                    <a:pt x="60198" y="647319"/>
                    <a:pt x="118999" y="647319"/>
                  </a:cubicBezTo>
                  <a:lnTo>
                    <a:pt x="1908048" y="647319"/>
                  </a:lnTo>
                  <a:cubicBezTo>
                    <a:pt x="1966849" y="647319"/>
                    <a:pt x="2014347" y="600329"/>
                    <a:pt x="2014347" y="542544"/>
                  </a:cubicBezTo>
                  <a:lnTo>
                    <a:pt x="2014347" y="117475"/>
                  </a:lnTo>
                  <a:cubicBezTo>
                    <a:pt x="2014347" y="59690"/>
                    <a:pt x="1966849" y="12700"/>
                    <a:pt x="1908048" y="12700"/>
                  </a:cubicBezTo>
                  <a:lnTo>
                    <a:pt x="118999" y="12700"/>
                  </a:lnTo>
                  <a:lnTo>
                    <a:pt x="118999" y="6350"/>
                  </a:lnTo>
                  <a:lnTo>
                    <a:pt x="118999" y="12700"/>
                  </a:lnTo>
                  <a:cubicBezTo>
                    <a:pt x="60198" y="12700"/>
                    <a:pt x="12700" y="59690"/>
                    <a:pt x="12700" y="117475"/>
                  </a:cubicBezTo>
                  <a:close/>
                </a:path>
              </a:pathLst>
            </a:custGeom>
            <a:solidFill>
              <a:srgbClr val="224435"/>
            </a:solidFill>
          </p:spPr>
        </p:sp>
      </p:grpSp>
      <p:sp>
        <p:nvSpPr>
          <p:cNvPr id="18" name="TextBox 18"/>
          <p:cNvSpPr txBox="1"/>
          <p:nvPr/>
        </p:nvSpPr>
        <p:spPr>
          <a:xfrm>
            <a:off x="3737077" y="7509905"/>
            <a:ext cx="1520286" cy="300595"/>
          </a:xfrm>
          <a:prstGeom prst="rect">
            <a:avLst/>
          </a:prstGeom>
        </p:spPr>
        <p:txBody>
          <a:bodyPr wrap="square" lIns="0" tIns="0" rIns="0" bIns="0" rtlCol="0" anchor="t">
            <a:spAutoFit/>
          </a:bodyPr>
          <a:lstStyle/>
          <a:p>
            <a:pPr algn="l">
              <a:lnSpc>
                <a:spcPts val="2499"/>
              </a:lnSpc>
            </a:pPr>
            <a:r>
              <a:rPr lang="en-US" sz="1562" dirty="0">
                <a:solidFill>
                  <a:srgbClr val="224435"/>
                </a:solidFill>
                <a:latin typeface="Overpass Light"/>
                <a:ea typeface="Overpass Light"/>
                <a:cs typeface="Overpass Light"/>
                <a:sym typeface="Overpass Light"/>
              </a:rPr>
              <a:t>REGRESSION</a:t>
            </a:r>
          </a:p>
        </p:txBody>
      </p:sp>
      <p:grpSp>
        <p:nvGrpSpPr>
          <p:cNvPr id="19" name="Group 19"/>
          <p:cNvGrpSpPr/>
          <p:nvPr/>
        </p:nvGrpSpPr>
        <p:grpSpPr>
          <a:xfrm>
            <a:off x="5208689" y="7460304"/>
            <a:ext cx="2472928" cy="495005"/>
            <a:chOff x="0" y="0"/>
            <a:chExt cx="3297238" cy="660006"/>
          </a:xfrm>
        </p:grpSpPr>
        <p:sp>
          <p:nvSpPr>
            <p:cNvPr id="20" name="Freeform 20"/>
            <p:cNvSpPr/>
            <p:nvPr/>
          </p:nvSpPr>
          <p:spPr>
            <a:xfrm>
              <a:off x="0" y="0"/>
              <a:ext cx="3297301" cy="660019"/>
            </a:xfrm>
            <a:custGeom>
              <a:avLst/>
              <a:gdLst/>
              <a:ahLst/>
              <a:cxnLst/>
              <a:rect l="l" t="t" r="r" b="b"/>
              <a:pathLst>
                <a:path w="3297301" h="660019">
                  <a:moveTo>
                    <a:pt x="0" y="117475"/>
                  </a:moveTo>
                  <a:cubicBezTo>
                    <a:pt x="0" y="52451"/>
                    <a:pt x="53467" y="0"/>
                    <a:pt x="119253" y="0"/>
                  </a:cubicBezTo>
                  <a:lnTo>
                    <a:pt x="3178048" y="0"/>
                  </a:lnTo>
                  <a:lnTo>
                    <a:pt x="3178048" y="6350"/>
                  </a:lnTo>
                  <a:lnTo>
                    <a:pt x="3178048" y="0"/>
                  </a:lnTo>
                  <a:cubicBezTo>
                    <a:pt x="3243834" y="0"/>
                    <a:pt x="3297301" y="52451"/>
                    <a:pt x="3297301" y="117475"/>
                  </a:cubicBezTo>
                  <a:lnTo>
                    <a:pt x="3290951" y="117475"/>
                  </a:lnTo>
                  <a:lnTo>
                    <a:pt x="3297301" y="117475"/>
                  </a:lnTo>
                  <a:lnTo>
                    <a:pt x="3297301" y="542544"/>
                  </a:lnTo>
                  <a:lnTo>
                    <a:pt x="3290951" y="542544"/>
                  </a:lnTo>
                  <a:lnTo>
                    <a:pt x="3297301" y="542544"/>
                  </a:lnTo>
                  <a:cubicBezTo>
                    <a:pt x="3297301" y="607568"/>
                    <a:pt x="3243834" y="660019"/>
                    <a:pt x="3178048" y="660019"/>
                  </a:cubicBezTo>
                  <a:lnTo>
                    <a:pt x="3178048" y="653669"/>
                  </a:lnTo>
                  <a:lnTo>
                    <a:pt x="3178048" y="660019"/>
                  </a:lnTo>
                  <a:lnTo>
                    <a:pt x="119253" y="660019"/>
                  </a:lnTo>
                  <a:lnTo>
                    <a:pt x="119253" y="653669"/>
                  </a:lnTo>
                  <a:lnTo>
                    <a:pt x="119253" y="660019"/>
                  </a:lnTo>
                  <a:cubicBezTo>
                    <a:pt x="53467" y="660019"/>
                    <a:pt x="0" y="607441"/>
                    <a:pt x="0" y="542544"/>
                  </a:cubicBezTo>
                  <a:lnTo>
                    <a:pt x="0" y="117475"/>
                  </a:lnTo>
                  <a:lnTo>
                    <a:pt x="6350" y="117475"/>
                  </a:lnTo>
                  <a:lnTo>
                    <a:pt x="0" y="117475"/>
                  </a:lnTo>
                  <a:moveTo>
                    <a:pt x="12700" y="117475"/>
                  </a:moveTo>
                  <a:lnTo>
                    <a:pt x="12700" y="542544"/>
                  </a:lnTo>
                  <a:lnTo>
                    <a:pt x="6350" y="542544"/>
                  </a:lnTo>
                  <a:lnTo>
                    <a:pt x="12700" y="542544"/>
                  </a:lnTo>
                  <a:cubicBezTo>
                    <a:pt x="12700" y="600329"/>
                    <a:pt x="60325" y="647319"/>
                    <a:pt x="119253" y="647319"/>
                  </a:cubicBezTo>
                  <a:lnTo>
                    <a:pt x="3178048" y="647319"/>
                  </a:lnTo>
                  <a:cubicBezTo>
                    <a:pt x="3236976" y="647319"/>
                    <a:pt x="3284601" y="600329"/>
                    <a:pt x="3284601" y="542544"/>
                  </a:cubicBezTo>
                  <a:lnTo>
                    <a:pt x="3284601" y="117475"/>
                  </a:lnTo>
                  <a:cubicBezTo>
                    <a:pt x="3284601" y="59690"/>
                    <a:pt x="3236976" y="12700"/>
                    <a:pt x="3178048" y="12700"/>
                  </a:cubicBezTo>
                  <a:lnTo>
                    <a:pt x="119253" y="12700"/>
                  </a:lnTo>
                  <a:lnTo>
                    <a:pt x="119253" y="6350"/>
                  </a:lnTo>
                  <a:lnTo>
                    <a:pt x="119253" y="12700"/>
                  </a:lnTo>
                  <a:cubicBezTo>
                    <a:pt x="60325" y="12700"/>
                    <a:pt x="12700" y="59690"/>
                    <a:pt x="12700" y="117475"/>
                  </a:cubicBezTo>
                  <a:close/>
                </a:path>
              </a:pathLst>
            </a:custGeom>
            <a:solidFill>
              <a:srgbClr val="224435"/>
            </a:solidFill>
          </p:spPr>
        </p:sp>
      </p:grpSp>
      <p:sp>
        <p:nvSpPr>
          <p:cNvPr id="21" name="TextBox 21"/>
          <p:cNvSpPr txBox="1"/>
          <p:nvPr/>
        </p:nvSpPr>
        <p:spPr>
          <a:xfrm>
            <a:off x="5371805" y="7509905"/>
            <a:ext cx="2781595" cy="300595"/>
          </a:xfrm>
          <a:prstGeom prst="rect">
            <a:avLst/>
          </a:prstGeom>
        </p:spPr>
        <p:txBody>
          <a:bodyPr wrap="square" lIns="0" tIns="0" rIns="0" bIns="0" rtlCol="0" anchor="t">
            <a:spAutoFit/>
          </a:bodyPr>
          <a:lstStyle/>
          <a:p>
            <a:pPr algn="l">
              <a:lnSpc>
                <a:spcPts val="2499"/>
              </a:lnSpc>
            </a:pPr>
            <a:r>
              <a:rPr lang="en-US" sz="1562" dirty="0">
                <a:solidFill>
                  <a:srgbClr val="224435"/>
                </a:solidFill>
                <a:latin typeface="Overpass Light"/>
                <a:ea typeface="Overpass Light"/>
                <a:cs typeface="Overpass Light"/>
                <a:sym typeface="Overpass Light"/>
              </a:rPr>
              <a:t>PYTHON · SCIKIT-LEARN</a:t>
            </a:r>
          </a:p>
        </p:txBody>
      </p:sp>
      <p:sp>
        <p:nvSpPr>
          <p:cNvPr id="22" name="TextBox 21">
            <a:extLst>
              <a:ext uri="{FF2B5EF4-FFF2-40B4-BE49-F238E27FC236}">
                <a16:creationId xmlns:a16="http://schemas.microsoft.com/office/drawing/2014/main" id="{0A60EF31-86E0-4244-399A-35F16619D952}"/>
              </a:ext>
            </a:extLst>
          </p:cNvPr>
          <p:cNvSpPr txBox="1"/>
          <p:nvPr/>
        </p:nvSpPr>
        <p:spPr>
          <a:xfrm>
            <a:off x="992238" y="8343900"/>
            <a:ext cx="4722762" cy="923330"/>
          </a:xfrm>
          <a:prstGeom prst="rect">
            <a:avLst/>
          </a:prstGeom>
          <a:noFill/>
        </p:spPr>
        <p:txBody>
          <a:bodyPr wrap="square" rtlCol="0">
            <a:spAutoFit/>
          </a:bodyPr>
          <a:lstStyle/>
          <a:p>
            <a:r>
              <a:rPr lang="en-US" dirty="0"/>
              <a:t>Presented by :-  Bhavit Gupta</a:t>
            </a:r>
          </a:p>
          <a:p>
            <a:r>
              <a:rPr lang="en-US" dirty="0"/>
              <a:t>	           Vansh </a:t>
            </a:r>
          </a:p>
          <a:p>
            <a:r>
              <a:rPr lang="en-US" dirty="0"/>
              <a:t>	           Aman </a:t>
            </a:r>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9F4BE"/>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DE6"/>
            </a:solidFill>
          </p:spPr>
        </p:sp>
      </p:grpSp>
      <p:sp>
        <p:nvSpPr>
          <p:cNvPr id="6" name="TextBox 6"/>
          <p:cNvSpPr txBox="1"/>
          <p:nvPr/>
        </p:nvSpPr>
        <p:spPr>
          <a:xfrm>
            <a:off x="992238" y="1228877"/>
            <a:ext cx="13215195" cy="813197"/>
          </a:xfrm>
          <a:prstGeom prst="rect">
            <a:avLst/>
          </a:prstGeom>
        </p:spPr>
        <p:txBody>
          <a:bodyPr lIns="0" tIns="0" rIns="0" bIns="0" rtlCol="0" anchor="t">
            <a:spAutoFit/>
          </a:bodyPr>
          <a:lstStyle/>
          <a:p>
            <a:pPr algn="l">
              <a:lnSpc>
                <a:spcPts val="6062"/>
              </a:lnSpc>
            </a:pPr>
            <a:r>
              <a:rPr lang="en-US" sz="4875" b="1">
                <a:solidFill>
                  <a:srgbClr val="233939"/>
                </a:solidFill>
                <a:latin typeface="Arimo Bold"/>
                <a:ea typeface="Arimo Bold"/>
                <a:cs typeface="Arimo Bold"/>
                <a:sym typeface="Arimo Bold"/>
              </a:rPr>
              <a:t>Understanding the Problem Statement</a:t>
            </a:r>
          </a:p>
        </p:txBody>
      </p:sp>
      <p:sp>
        <p:nvSpPr>
          <p:cNvPr id="7" name="TextBox 7"/>
          <p:cNvSpPr txBox="1"/>
          <p:nvPr/>
        </p:nvSpPr>
        <p:spPr>
          <a:xfrm>
            <a:off x="992238" y="2461917"/>
            <a:ext cx="16303523" cy="870052"/>
          </a:xfrm>
          <a:prstGeom prst="rect">
            <a:avLst/>
          </a:prstGeom>
        </p:spPr>
        <p:txBody>
          <a:bodyPr lIns="0" tIns="0" rIns="0" bIns="0" rtlCol="0" anchor="t">
            <a:spAutoFit/>
          </a:bodyPr>
          <a:lstStyle/>
          <a:p>
            <a:pPr algn="l">
              <a:lnSpc>
                <a:spcPts val="3125"/>
              </a:lnSpc>
            </a:pPr>
            <a:r>
              <a:rPr lang="en-US" sz="1937">
                <a:solidFill>
                  <a:srgbClr val="3B4E4E"/>
                </a:solidFill>
                <a:latin typeface="Overpass Light"/>
                <a:ea typeface="Overpass Light"/>
                <a:cs typeface="Overpass Light"/>
                <a:sym typeface="Overpass Light"/>
              </a:rPr>
              <a:t>Before writing a single line of code, it is essential to clearly define what we are solving, why it matters, and how to frame it within the machine learning landscape. A well-scoped problem statement guides every downstream decision — from data collection to model selection.</a:t>
            </a:r>
          </a:p>
        </p:txBody>
      </p:sp>
      <p:grpSp>
        <p:nvGrpSpPr>
          <p:cNvPr id="8" name="Group 8"/>
          <p:cNvGrpSpPr/>
          <p:nvPr/>
        </p:nvGrpSpPr>
        <p:grpSpPr>
          <a:xfrm>
            <a:off x="813645" y="3611013"/>
            <a:ext cx="8206378" cy="5408857"/>
            <a:chOff x="0" y="0"/>
            <a:chExt cx="10941837" cy="7211809"/>
          </a:xfrm>
        </p:grpSpPr>
        <p:sp>
          <p:nvSpPr>
            <p:cNvPr id="9" name="Freeform 9"/>
            <p:cNvSpPr/>
            <p:nvPr/>
          </p:nvSpPr>
          <p:spPr>
            <a:xfrm>
              <a:off x="0" y="0"/>
              <a:ext cx="10941812" cy="7211822"/>
            </a:xfrm>
            <a:custGeom>
              <a:avLst/>
              <a:gdLst/>
              <a:ahLst/>
              <a:cxnLst/>
              <a:rect l="l" t="t" r="r" b="b"/>
              <a:pathLst>
                <a:path w="10941812" h="7211822">
                  <a:moveTo>
                    <a:pt x="0" y="238125"/>
                  </a:moveTo>
                  <a:cubicBezTo>
                    <a:pt x="0" y="106553"/>
                    <a:pt x="106553" y="0"/>
                    <a:pt x="238125" y="0"/>
                  </a:cubicBezTo>
                  <a:lnTo>
                    <a:pt x="10703687" y="0"/>
                  </a:lnTo>
                  <a:cubicBezTo>
                    <a:pt x="10835259" y="0"/>
                    <a:pt x="10941812" y="106553"/>
                    <a:pt x="10941812" y="238125"/>
                  </a:cubicBezTo>
                  <a:lnTo>
                    <a:pt x="10941812" y="6973697"/>
                  </a:lnTo>
                  <a:cubicBezTo>
                    <a:pt x="10941812" y="7105269"/>
                    <a:pt x="10835259" y="7211822"/>
                    <a:pt x="10703687" y="7211822"/>
                  </a:cubicBezTo>
                  <a:lnTo>
                    <a:pt x="238125" y="7211822"/>
                  </a:lnTo>
                  <a:cubicBezTo>
                    <a:pt x="106553" y="7211822"/>
                    <a:pt x="0" y="7105142"/>
                    <a:pt x="0" y="6973697"/>
                  </a:cubicBezTo>
                  <a:close/>
                </a:path>
              </a:pathLst>
            </a:custGeom>
            <a:solidFill>
              <a:srgbClr val="224435"/>
            </a:solidFill>
          </p:spPr>
        </p:sp>
      </p:grpSp>
      <p:sp>
        <p:nvSpPr>
          <p:cNvPr id="10" name="TextBox 10"/>
          <p:cNvSpPr txBox="1"/>
          <p:nvPr/>
        </p:nvSpPr>
        <p:spPr>
          <a:xfrm>
            <a:off x="1061590" y="3849443"/>
            <a:ext cx="3101130" cy="397221"/>
          </a:xfrm>
          <a:prstGeom prst="rect">
            <a:avLst/>
          </a:prstGeom>
        </p:spPr>
        <p:txBody>
          <a:bodyPr lIns="0" tIns="0" rIns="0" bIns="0" rtlCol="0" anchor="t">
            <a:spAutoFit/>
          </a:bodyPr>
          <a:lstStyle/>
          <a:p>
            <a:pPr algn="l">
              <a:lnSpc>
                <a:spcPts val="2999"/>
              </a:lnSpc>
            </a:pPr>
            <a:r>
              <a:rPr lang="en-US" sz="2437" b="1">
                <a:solidFill>
                  <a:srgbClr val="FFFFFF"/>
                </a:solidFill>
                <a:latin typeface="Arimo Bold"/>
                <a:ea typeface="Arimo Bold"/>
                <a:cs typeface="Arimo Bold"/>
                <a:sym typeface="Arimo Bold"/>
              </a:rPr>
              <a:t>The Goal</a:t>
            </a:r>
          </a:p>
        </p:txBody>
      </p:sp>
      <p:sp>
        <p:nvSpPr>
          <p:cNvPr id="11" name="TextBox 11"/>
          <p:cNvSpPr txBox="1"/>
          <p:nvPr/>
        </p:nvSpPr>
        <p:spPr>
          <a:xfrm>
            <a:off x="1061590" y="4418409"/>
            <a:ext cx="7710488" cy="1663903"/>
          </a:xfrm>
          <a:prstGeom prst="rect">
            <a:avLst/>
          </a:prstGeom>
        </p:spPr>
        <p:txBody>
          <a:bodyPr lIns="0" tIns="0" rIns="0" bIns="0" rtlCol="0" anchor="t">
            <a:spAutoFit/>
          </a:bodyPr>
          <a:lstStyle/>
          <a:p>
            <a:pPr algn="l">
              <a:lnSpc>
                <a:spcPts val="3125"/>
              </a:lnSpc>
            </a:pPr>
            <a:r>
              <a:rPr lang="en-US" sz="1937">
                <a:solidFill>
                  <a:srgbClr val="FFFFFF"/>
                </a:solidFill>
                <a:latin typeface="Overpass Light"/>
                <a:ea typeface="Overpass Light"/>
                <a:cs typeface="Overpass Light"/>
                <a:sym typeface="Overpass Light"/>
              </a:rPr>
              <a:t>Build a predictive model that can accurately estimate the price of a car based on its technical specifications and physical attributes — including engine size, horsepower, fuel type, body style, wheelbase, and more.</a:t>
            </a:r>
          </a:p>
        </p:txBody>
      </p:sp>
      <p:sp>
        <p:nvSpPr>
          <p:cNvPr id="12" name="TextBox 12"/>
          <p:cNvSpPr txBox="1"/>
          <p:nvPr/>
        </p:nvSpPr>
        <p:spPr>
          <a:xfrm>
            <a:off x="1061590" y="6320733"/>
            <a:ext cx="3101130" cy="397221"/>
          </a:xfrm>
          <a:prstGeom prst="rect">
            <a:avLst/>
          </a:prstGeom>
        </p:spPr>
        <p:txBody>
          <a:bodyPr lIns="0" tIns="0" rIns="0" bIns="0" rtlCol="0" anchor="t">
            <a:spAutoFit/>
          </a:bodyPr>
          <a:lstStyle/>
          <a:p>
            <a:pPr algn="l">
              <a:lnSpc>
                <a:spcPts val="2999"/>
              </a:lnSpc>
            </a:pPr>
            <a:r>
              <a:rPr lang="en-US" sz="2437" b="1">
                <a:solidFill>
                  <a:srgbClr val="FFFFFF"/>
                </a:solidFill>
                <a:latin typeface="Arimo Bold"/>
                <a:ea typeface="Arimo Bold"/>
                <a:cs typeface="Arimo Bold"/>
                <a:sym typeface="Arimo Bold"/>
              </a:rPr>
              <a:t>Why It Matters</a:t>
            </a:r>
          </a:p>
        </p:txBody>
      </p:sp>
      <p:sp>
        <p:nvSpPr>
          <p:cNvPr id="13" name="TextBox 13"/>
          <p:cNvSpPr txBox="1"/>
          <p:nvPr/>
        </p:nvSpPr>
        <p:spPr>
          <a:xfrm>
            <a:off x="1061590" y="6889699"/>
            <a:ext cx="7710488" cy="1663903"/>
          </a:xfrm>
          <a:prstGeom prst="rect">
            <a:avLst/>
          </a:prstGeom>
        </p:spPr>
        <p:txBody>
          <a:bodyPr lIns="0" tIns="0" rIns="0" bIns="0" rtlCol="0" anchor="t">
            <a:spAutoFit/>
          </a:bodyPr>
          <a:lstStyle/>
          <a:p>
            <a:pPr algn="l">
              <a:lnSpc>
                <a:spcPts val="3125"/>
              </a:lnSpc>
            </a:pPr>
            <a:r>
              <a:rPr lang="en-US" sz="1937">
                <a:solidFill>
                  <a:srgbClr val="FFFFFF"/>
                </a:solidFill>
                <a:latin typeface="Overpass Light"/>
                <a:ea typeface="Overpass Light"/>
                <a:cs typeface="Overpass Light"/>
                <a:sym typeface="Overpass Light"/>
              </a:rPr>
              <a:t>Accurate price estimation empowers car manufacturers to set competitive MSRP values, helps dealerships optimize inventory pricing, and enables buyers to assess whether a listed price is fair. It also surfaces which features drive value in the market.</a:t>
            </a:r>
          </a:p>
        </p:txBody>
      </p:sp>
      <p:sp>
        <p:nvSpPr>
          <p:cNvPr id="14" name="TextBox 14"/>
          <p:cNvSpPr txBox="1"/>
          <p:nvPr/>
        </p:nvSpPr>
        <p:spPr>
          <a:xfrm>
            <a:off x="9456096" y="3849443"/>
            <a:ext cx="6123384" cy="397221"/>
          </a:xfrm>
          <a:prstGeom prst="rect">
            <a:avLst/>
          </a:prstGeom>
        </p:spPr>
        <p:txBody>
          <a:bodyPr lIns="0" tIns="0" rIns="0" bIns="0" rtlCol="0" anchor="t">
            <a:spAutoFit/>
          </a:bodyPr>
          <a:lstStyle/>
          <a:p>
            <a:pPr algn="l">
              <a:lnSpc>
                <a:spcPts val="2999"/>
              </a:lnSpc>
            </a:pPr>
            <a:r>
              <a:rPr lang="en-US" sz="2437" b="1">
                <a:solidFill>
                  <a:srgbClr val="233939"/>
                </a:solidFill>
                <a:latin typeface="Arimo Bold"/>
                <a:ea typeface="Arimo Bold"/>
                <a:cs typeface="Arimo Bold"/>
                <a:sym typeface="Arimo Bold"/>
              </a:rPr>
              <a:t>The ML Task: Supervised Regression</a:t>
            </a:r>
          </a:p>
        </p:txBody>
      </p:sp>
      <p:sp>
        <p:nvSpPr>
          <p:cNvPr id="15" name="TextBox 15"/>
          <p:cNvSpPr txBox="1"/>
          <p:nvPr/>
        </p:nvSpPr>
        <p:spPr>
          <a:xfrm>
            <a:off x="9456096" y="4418409"/>
            <a:ext cx="7849191" cy="1663903"/>
          </a:xfrm>
          <a:prstGeom prst="rect">
            <a:avLst/>
          </a:prstGeom>
        </p:spPr>
        <p:txBody>
          <a:bodyPr lIns="0" tIns="0" rIns="0" bIns="0" rtlCol="0" anchor="t">
            <a:spAutoFit/>
          </a:bodyPr>
          <a:lstStyle/>
          <a:p>
            <a:pPr algn="l">
              <a:lnSpc>
                <a:spcPts val="3125"/>
              </a:lnSpc>
            </a:pPr>
            <a:r>
              <a:rPr lang="en-US" sz="1937">
                <a:solidFill>
                  <a:srgbClr val="3B4E4E"/>
                </a:solidFill>
                <a:latin typeface="Overpass Light"/>
                <a:ea typeface="Overpass Light"/>
                <a:cs typeface="Overpass Light"/>
                <a:sym typeface="Overpass Light"/>
              </a:rPr>
              <a:t>This is a </a:t>
            </a:r>
            <a:r>
              <a:rPr lang="en-US" sz="1937" b="1">
                <a:solidFill>
                  <a:srgbClr val="3B4E4E"/>
                </a:solidFill>
                <a:latin typeface="Overpass Bold"/>
                <a:ea typeface="Overpass Bold"/>
                <a:cs typeface="Overpass Bold"/>
                <a:sym typeface="Overpass Bold"/>
              </a:rPr>
              <a:t>Supervised Learning</a:t>
            </a:r>
            <a:r>
              <a:rPr lang="en-US" sz="1937">
                <a:solidFill>
                  <a:srgbClr val="3B4E4E"/>
                </a:solidFill>
                <a:latin typeface="Overpass Light"/>
                <a:ea typeface="Overpass Light"/>
                <a:cs typeface="Overpass Light"/>
                <a:sym typeface="Overpass Light"/>
              </a:rPr>
              <a:t> task because we are training on labeled historical data — each car in our dataset has a known price. It is specifically a </a:t>
            </a:r>
            <a:r>
              <a:rPr lang="en-US" sz="1937" b="1">
                <a:solidFill>
                  <a:srgbClr val="3B4E4E"/>
                </a:solidFill>
                <a:latin typeface="Overpass Bold"/>
                <a:ea typeface="Overpass Bold"/>
                <a:cs typeface="Overpass Bold"/>
                <a:sym typeface="Overpass Bold"/>
              </a:rPr>
              <a:t>Regression</a:t>
            </a:r>
            <a:r>
              <a:rPr lang="en-US" sz="1937">
                <a:solidFill>
                  <a:srgbClr val="3B4E4E"/>
                </a:solidFill>
                <a:latin typeface="Overpass Light"/>
                <a:ea typeface="Overpass Light"/>
                <a:cs typeface="Overpass Light"/>
                <a:sym typeface="Overpass Light"/>
              </a:rPr>
              <a:t> problem because the target variable (price) is a </a:t>
            </a:r>
            <a:r>
              <a:rPr lang="en-US" sz="1937" b="1">
                <a:solidFill>
                  <a:srgbClr val="3B4E4E"/>
                </a:solidFill>
                <a:latin typeface="Overpass Bold"/>
                <a:ea typeface="Overpass Bold"/>
                <a:cs typeface="Overpass Bold"/>
                <a:sym typeface="Overpass Bold"/>
              </a:rPr>
              <a:t>continuous numerical value</a:t>
            </a:r>
            <a:r>
              <a:rPr lang="en-US" sz="1937">
                <a:solidFill>
                  <a:srgbClr val="3B4E4E"/>
                </a:solidFill>
                <a:latin typeface="Overpass Light"/>
                <a:ea typeface="Overpass Light"/>
                <a:cs typeface="Overpass Light"/>
                <a:sym typeface="Overpass Light"/>
              </a:rPr>
              <a:t>, not a discrete class.</a:t>
            </a:r>
          </a:p>
        </p:txBody>
      </p:sp>
      <p:grpSp>
        <p:nvGrpSpPr>
          <p:cNvPr id="16" name="Group 16"/>
          <p:cNvGrpSpPr/>
          <p:nvPr/>
        </p:nvGrpSpPr>
        <p:grpSpPr>
          <a:xfrm>
            <a:off x="9441809" y="6347069"/>
            <a:ext cx="3829202" cy="2408034"/>
            <a:chOff x="0" y="0"/>
            <a:chExt cx="5105603" cy="3210712"/>
          </a:xfrm>
        </p:grpSpPr>
        <p:sp>
          <p:nvSpPr>
            <p:cNvPr id="17" name="Freeform 17"/>
            <p:cNvSpPr/>
            <p:nvPr/>
          </p:nvSpPr>
          <p:spPr>
            <a:xfrm>
              <a:off x="19050" y="19050"/>
              <a:ext cx="5067554" cy="3172587"/>
            </a:xfrm>
            <a:custGeom>
              <a:avLst/>
              <a:gdLst/>
              <a:ahLst/>
              <a:cxnLst/>
              <a:rect l="l" t="t" r="r" b="b"/>
              <a:pathLst>
                <a:path w="5067554" h="3172587">
                  <a:moveTo>
                    <a:pt x="0" y="138938"/>
                  </a:moveTo>
                  <a:cubicBezTo>
                    <a:pt x="0" y="62230"/>
                    <a:pt x="62484" y="0"/>
                    <a:pt x="139573" y="0"/>
                  </a:cubicBezTo>
                  <a:lnTo>
                    <a:pt x="4927981" y="0"/>
                  </a:lnTo>
                  <a:cubicBezTo>
                    <a:pt x="5005070" y="0"/>
                    <a:pt x="5067554" y="62230"/>
                    <a:pt x="5067554" y="138938"/>
                  </a:cubicBezTo>
                  <a:lnTo>
                    <a:pt x="5067554" y="3033649"/>
                  </a:lnTo>
                  <a:cubicBezTo>
                    <a:pt x="5067554" y="3110357"/>
                    <a:pt x="5005070" y="3172587"/>
                    <a:pt x="4927981" y="3172587"/>
                  </a:cubicBezTo>
                  <a:lnTo>
                    <a:pt x="139573" y="3172587"/>
                  </a:lnTo>
                  <a:cubicBezTo>
                    <a:pt x="62484" y="3172587"/>
                    <a:pt x="0" y="3110357"/>
                    <a:pt x="0" y="3033649"/>
                  </a:cubicBezTo>
                  <a:close/>
                </a:path>
              </a:pathLst>
            </a:custGeom>
            <a:solidFill>
              <a:srgbClr val="FFFDE6"/>
            </a:solidFill>
          </p:spPr>
        </p:sp>
        <p:sp>
          <p:nvSpPr>
            <p:cNvPr id="18" name="Freeform 18"/>
            <p:cNvSpPr/>
            <p:nvPr/>
          </p:nvSpPr>
          <p:spPr>
            <a:xfrm>
              <a:off x="0" y="0"/>
              <a:ext cx="5105654" cy="3210687"/>
            </a:xfrm>
            <a:custGeom>
              <a:avLst/>
              <a:gdLst/>
              <a:ahLst/>
              <a:cxnLst/>
              <a:rect l="l" t="t" r="r" b="b"/>
              <a:pathLst>
                <a:path w="5105654" h="3210687">
                  <a:moveTo>
                    <a:pt x="0" y="157988"/>
                  </a:moveTo>
                  <a:cubicBezTo>
                    <a:pt x="0" y="70612"/>
                    <a:pt x="71120" y="0"/>
                    <a:pt x="158623" y="0"/>
                  </a:cubicBezTo>
                  <a:lnTo>
                    <a:pt x="4947031" y="0"/>
                  </a:lnTo>
                  <a:lnTo>
                    <a:pt x="4947031" y="19050"/>
                  </a:lnTo>
                  <a:lnTo>
                    <a:pt x="4947031" y="0"/>
                  </a:lnTo>
                  <a:cubicBezTo>
                    <a:pt x="5034534" y="0"/>
                    <a:pt x="5105654" y="70612"/>
                    <a:pt x="5105654" y="157988"/>
                  </a:cubicBezTo>
                  <a:lnTo>
                    <a:pt x="5086604" y="157988"/>
                  </a:lnTo>
                  <a:lnTo>
                    <a:pt x="5105654" y="157988"/>
                  </a:lnTo>
                  <a:lnTo>
                    <a:pt x="5105654" y="3052699"/>
                  </a:lnTo>
                  <a:lnTo>
                    <a:pt x="5086604" y="3052699"/>
                  </a:lnTo>
                  <a:lnTo>
                    <a:pt x="5105654" y="3052699"/>
                  </a:lnTo>
                  <a:cubicBezTo>
                    <a:pt x="5105654" y="3140075"/>
                    <a:pt x="5034534" y="3210687"/>
                    <a:pt x="4947031" y="3210687"/>
                  </a:cubicBezTo>
                  <a:lnTo>
                    <a:pt x="4947031" y="3191637"/>
                  </a:lnTo>
                  <a:lnTo>
                    <a:pt x="4947031" y="3210687"/>
                  </a:lnTo>
                  <a:lnTo>
                    <a:pt x="158623" y="3210687"/>
                  </a:lnTo>
                  <a:lnTo>
                    <a:pt x="158623" y="3191637"/>
                  </a:lnTo>
                  <a:lnTo>
                    <a:pt x="158623" y="3210687"/>
                  </a:lnTo>
                  <a:cubicBezTo>
                    <a:pt x="71120" y="3210687"/>
                    <a:pt x="0" y="3140075"/>
                    <a:pt x="0" y="3052699"/>
                  </a:cubicBezTo>
                  <a:lnTo>
                    <a:pt x="0" y="157988"/>
                  </a:lnTo>
                  <a:lnTo>
                    <a:pt x="19050" y="157988"/>
                  </a:lnTo>
                  <a:lnTo>
                    <a:pt x="0" y="157988"/>
                  </a:lnTo>
                  <a:moveTo>
                    <a:pt x="38100" y="157988"/>
                  </a:moveTo>
                  <a:lnTo>
                    <a:pt x="38100" y="3052699"/>
                  </a:lnTo>
                  <a:lnTo>
                    <a:pt x="19050" y="3052699"/>
                  </a:lnTo>
                  <a:lnTo>
                    <a:pt x="38100" y="3052699"/>
                  </a:lnTo>
                  <a:cubicBezTo>
                    <a:pt x="38100" y="3118866"/>
                    <a:pt x="91948" y="3172587"/>
                    <a:pt x="158623" y="3172587"/>
                  </a:cubicBezTo>
                  <a:lnTo>
                    <a:pt x="4947031" y="3172587"/>
                  </a:lnTo>
                  <a:cubicBezTo>
                    <a:pt x="5013706" y="3172587"/>
                    <a:pt x="5067554" y="3118866"/>
                    <a:pt x="5067554" y="3052699"/>
                  </a:cubicBezTo>
                  <a:lnTo>
                    <a:pt x="5067554" y="157988"/>
                  </a:lnTo>
                  <a:cubicBezTo>
                    <a:pt x="5067554" y="91821"/>
                    <a:pt x="5013706" y="38100"/>
                    <a:pt x="4947031" y="38100"/>
                  </a:cubicBezTo>
                  <a:lnTo>
                    <a:pt x="158623" y="38100"/>
                  </a:lnTo>
                  <a:lnTo>
                    <a:pt x="158623" y="19050"/>
                  </a:lnTo>
                  <a:lnTo>
                    <a:pt x="158623" y="38100"/>
                  </a:lnTo>
                  <a:cubicBezTo>
                    <a:pt x="91948" y="38100"/>
                    <a:pt x="38100" y="91821"/>
                    <a:pt x="38100" y="157988"/>
                  </a:cubicBezTo>
                  <a:close/>
                </a:path>
              </a:pathLst>
            </a:custGeom>
            <a:solidFill>
              <a:srgbClr val="C3D4CC"/>
            </a:solidFill>
          </p:spPr>
        </p:sp>
      </p:grpSp>
      <p:sp>
        <p:nvSpPr>
          <p:cNvPr id="19" name="TextBox 19"/>
          <p:cNvSpPr txBox="1"/>
          <p:nvPr/>
        </p:nvSpPr>
        <p:spPr>
          <a:xfrm>
            <a:off x="9732616" y="6628362"/>
            <a:ext cx="3101130" cy="397221"/>
          </a:xfrm>
          <a:prstGeom prst="rect">
            <a:avLst/>
          </a:prstGeom>
        </p:spPr>
        <p:txBody>
          <a:bodyPr lIns="0" tIns="0" rIns="0" bIns="0" rtlCol="0" anchor="t">
            <a:spAutoFit/>
          </a:bodyPr>
          <a:lstStyle/>
          <a:p>
            <a:pPr algn="l">
              <a:lnSpc>
                <a:spcPts val="2999"/>
              </a:lnSpc>
            </a:pPr>
            <a:r>
              <a:rPr lang="en-US" sz="2437" b="1">
                <a:solidFill>
                  <a:srgbClr val="3B4E4E"/>
                </a:solidFill>
                <a:latin typeface="Arimo Bold"/>
                <a:ea typeface="Arimo Bold"/>
                <a:cs typeface="Arimo Bold"/>
                <a:sym typeface="Arimo Bold"/>
              </a:rPr>
              <a:t>Input (X)</a:t>
            </a:r>
          </a:p>
        </p:txBody>
      </p:sp>
      <p:sp>
        <p:nvSpPr>
          <p:cNvPr id="20" name="TextBox 20"/>
          <p:cNvSpPr txBox="1"/>
          <p:nvPr/>
        </p:nvSpPr>
        <p:spPr>
          <a:xfrm>
            <a:off x="9732616" y="7197328"/>
            <a:ext cx="3247577" cy="1266977"/>
          </a:xfrm>
          <a:prstGeom prst="rect">
            <a:avLst/>
          </a:prstGeom>
        </p:spPr>
        <p:txBody>
          <a:bodyPr lIns="0" tIns="0" rIns="0" bIns="0" rtlCol="0" anchor="t">
            <a:spAutoFit/>
          </a:bodyPr>
          <a:lstStyle/>
          <a:p>
            <a:pPr algn="l">
              <a:lnSpc>
                <a:spcPts val="3125"/>
              </a:lnSpc>
            </a:pPr>
            <a:r>
              <a:rPr lang="en-US" sz="1937">
                <a:solidFill>
                  <a:srgbClr val="3B4E4E"/>
                </a:solidFill>
                <a:latin typeface="Overpass Light"/>
                <a:ea typeface="Overpass Light"/>
                <a:cs typeface="Overpass Light"/>
                <a:sym typeface="Overpass Light"/>
              </a:rPr>
              <a:t>26 car attributes: engine specs, dimensions, fuel type, body style, drivetrain</a:t>
            </a:r>
          </a:p>
        </p:txBody>
      </p:sp>
      <p:grpSp>
        <p:nvGrpSpPr>
          <p:cNvPr id="21" name="Group 21"/>
          <p:cNvGrpSpPr/>
          <p:nvPr/>
        </p:nvGrpSpPr>
        <p:grpSpPr>
          <a:xfrm>
            <a:off x="13490372" y="6347069"/>
            <a:ext cx="3829202" cy="2408034"/>
            <a:chOff x="0" y="0"/>
            <a:chExt cx="5105603" cy="3210712"/>
          </a:xfrm>
        </p:grpSpPr>
        <p:sp>
          <p:nvSpPr>
            <p:cNvPr id="22" name="Freeform 22"/>
            <p:cNvSpPr/>
            <p:nvPr/>
          </p:nvSpPr>
          <p:spPr>
            <a:xfrm>
              <a:off x="19050" y="19050"/>
              <a:ext cx="5067554" cy="3172587"/>
            </a:xfrm>
            <a:custGeom>
              <a:avLst/>
              <a:gdLst/>
              <a:ahLst/>
              <a:cxnLst/>
              <a:rect l="l" t="t" r="r" b="b"/>
              <a:pathLst>
                <a:path w="5067554" h="3172587">
                  <a:moveTo>
                    <a:pt x="0" y="138938"/>
                  </a:moveTo>
                  <a:cubicBezTo>
                    <a:pt x="0" y="62230"/>
                    <a:pt x="62484" y="0"/>
                    <a:pt x="139573" y="0"/>
                  </a:cubicBezTo>
                  <a:lnTo>
                    <a:pt x="4927981" y="0"/>
                  </a:lnTo>
                  <a:cubicBezTo>
                    <a:pt x="5005070" y="0"/>
                    <a:pt x="5067554" y="62230"/>
                    <a:pt x="5067554" y="138938"/>
                  </a:cubicBezTo>
                  <a:lnTo>
                    <a:pt x="5067554" y="3033649"/>
                  </a:lnTo>
                  <a:cubicBezTo>
                    <a:pt x="5067554" y="3110357"/>
                    <a:pt x="5005070" y="3172587"/>
                    <a:pt x="4927981" y="3172587"/>
                  </a:cubicBezTo>
                  <a:lnTo>
                    <a:pt x="139573" y="3172587"/>
                  </a:lnTo>
                  <a:cubicBezTo>
                    <a:pt x="62484" y="3172587"/>
                    <a:pt x="0" y="3110357"/>
                    <a:pt x="0" y="3033649"/>
                  </a:cubicBezTo>
                  <a:close/>
                </a:path>
              </a:pathLst>
            </a:custGeom>
            <a:solidFill>
              <a:srgbClr val="FFFDE6"/>
            </a:solidFill>
          </p:spPr>
        </p:sp>
        <p:sp>
          <p:nvSpPr>
            <p:cNvPr id="23" name="Freeform 23"/>
            <p:cNvSpPr/>
            <p:nvPr/>
          </p:nvSpPr>
          <p:spPr>
            <a:xfrm>
              <a:off x="0" y="0"/>
              <a:ext cx="5105654" cy="3210687"/>
            </a:xfrm>
            <a:custGeom>
              <a:avLst/>
              <a:gdLst/>
              <a:ahLst/>
              <a:cxnLst/>
              <a:rect l="l" t="t" r="r" b="b"/>
              <a:pathLst>
                <a:path w="5105654" h="3210687">
                  <a:moveTo>
                    <a:pt x="0" y="157988"/>
                  </a:moveTo>
                  <a:cubicBezTo>
                    <a:pt x="0" y="70612"/>
                    <a:pt x="71120" y="0"/>
                    <a:pt x="158623" y="0"/>
                  </a:cubicBezTo>
                  <a:lnTo>
                    <a:pt x="4947031" y="0"/>
                  </a:lnTo>
                  <a:lnTo>
                    <a:pt x="4947031" y="19050"/>
                  </a:lnTo>
                  <a:lnTo>
                    <a:pt x="4947031" y="0"/>
                  </a:lnTo>
                  <a:cubicBezTo>
                    <a:pt x="5034534" y="0"/>
                    <a:pt x="5105654" y="70612"/>
                    <a:pt x="5105654" y="157988"/>
                  </a:cubicBezTo>
                  <a:lnTo>
                    <a:pt x="5086604" y="157988"/>
                  </a:lnTo>
                  <a:lnTo>
                    <a:pt x="5105654" y="157988"/>
                  </a:lnTo>
                  <a:lnTo>
                    <a:pt x="5105654" y="3052699"/>
                  </a:lnTo>
                  <a:lnTo>
                    <a:pt x="5086604" y="3052699"/>
                  </a:lnTo>
                  <a:lnTo>
                    <a:pt x="5105654" y="3052699"/>
                  </a:lnTo>
                  <a:cubicBezTo>
                    <a:pt x="5105654" y="3140075"/>
                    <a:pt x="5034534" y="3210687"/>
                    <a:pt x="4947031" y="3210687"/>
                  </a:cubicBezTo>
                  <a:lnTo>
                    <a:pt x="4947031" y="3191637"/>
                  </a:lnTo>
                  <a:lnTo>
                    <a:pt x="4947031" y="3210687"/>
                  </a:lnTo>
                  <a:lnTo>
                    <a:pt x="158623" y="3210687"/>
                  </a:lnTo>
                  <a:lnTo>
                    <a:pt x="158623" y="3191637"/>
                  </a:lnTo>
                  <a:lnTo>
                    <a:pt x="158623" y="3210687"/>
                  </a:lnTo>
                  <a:cubicBezTo>
                    <a:pt x="71120" y="3210687"/>
                    <a:pt x="0" y="3140075"/>
                    <a:pt x="0" y="3052699"/>
                  </a:cubicBezTo>
                  <a:lnTo>
                    <a:pt x="0" y="157988"/>
                  </a:lnTo>
                  <a:lnTo>
                    <a:pt x="19050" y="157988"/>
                  </a:lnTo>
                  <a:lnTo>
                    <a:pt x="0" y="157988"/>
                  </a:lnTo>
                  <a:moveTo>
                    <a:pt x="38100" y="157988"/>
                  </a:moveTo>
                  <a:lnTo>
                    <a:pt x="38100" y="3052699"/>
                  </a:lnTo>
                  <a:lnTo>
                    <a:pt x="19050" y="3052699"/>
                  </a:lnTo>
                  <a:lnTo>
                    <a:pt x="38100" y="3052699"/>
                  </a:lnTo>
                  <a:cubicBezTo>
                    <a:pt x="38100" y="3118866"/>
                    <a:pt x="91948" y="3172587"/>
                    <a:pt x="158623" y="3172587"/>
                  </a:cubicBezTo>
                  <a:lnTo>
                    <a:pt x="4947031" y="3172587"/>
                  </a:lnTo>
                  <a:cubicBezTo>
                    <a:pt x="5013706" y="3172587"/>
                    <a:pt x="5067554" y="3118866"/>
                    <a:pt x="5067554" y="3052699"/>
                  </a:cubicBezTo>
                  <a:lnTo>
                    <a:pt x="5067554" y="157988"/>
                  </a:lnTo>
                  <a:cubicBezTo>
                    <a:pt x="5067554" y="91821"/>
                    <a:pt x="5013706" y="38100"/>
                    <a:pt x="4947031" y="38100"/>
                  </a:cubicBezTo>
                  <a:lnTo>
                    <a:pt x="158623" y="38100"/>
                  </a:lnTo>
                  <a:lnTo>
                    <a:pt x="158623" y="19050"/>
                  </a:lnTo>
                  <a:lnTo>
                    <a:pt x="158623" y="38100"/>
                  </a:lnTo>
                  <a:cubicBezTo>
                    <a:pt x="91948" y="38100"/>
                    <a:pt x="38100" y="91821"/>
                    <a:pt x="38100" y="157988"/>
                  </a:cubicBezTo>
                  <a:close/>
                </a:path>
              </a:pathLst>
            </a:custGeom>
            <a:solidFill>
              <a:srgbClr val="C3D4CC"/>
            </a:solidFill>
          </p:spPr>
        </p:sp>
      </p:grpSp>
      <p:sp>
        <p:nvSpPr>
          <p:cNvPr id="24" name="TextBox 24"/>
          <p:cNvSpPr txBox="1"/>
          <p:nvPr/>
        </p:nvSpPr>
        <p:spPr>
          <a:xfrm>
            <a:off x="13781189" y="6628362"/>
            <a:ext cx="3101130" cy="397221"/>
          </a:xfrm>
          <a:prstGeom prst="rect">
            <a:avLst/>
          </a:prstGeom>
        </p:spPr>
        <p:txBody>
          <a:bodyPr lIns="0" tIns="0" rIns="0" bIns="0" rtlCol="0" anchor="t">
            <a:spAutoFit/>
          </a:bodyPr>
          <a:lstStyle/>
          <a:p>
            <a:pPr algn="l">
              <a:lnSpc>
                <a:spcPts val="2999"/>
              </a:lnSpc>
            </a:pPr>
            <a:r>
              <a:rPr lang="en-US" sz="2437" b="1">
                <a:solidFill>
                  <a:srgbClr val="3B4E4E"/>
                </a:solidFill>
                <a:latin typeface="Arimo Bold"/>
                <a:ea typeface="Arimo Bold"/>
                <a:cs typeface="Arimo Bold"/>
                <a:sym typeface="Arimo Bold"/>
              </a:rPr>
              <a:t>Output (y)</a:t>
            </a:r>
          </a:p>
        </p:txBody>
      </p:sp>
      <p:sp>
        <p:nvSpPr>
          <p:cNvPr id="25" name="TextBox 25"/>
          <p:cNvSpPr txBox="1"/>
          <p:nvPr/>
        </p:nvSpPr>
        <p:spPr>
          <a:xfrm>
            <a:off x="13781189" y="7197328"/>
            <a:ext cx="3247577" cy="1266977"/>
          </a:xfrm>
          <a:prstGeom prst="rect">
            <a:avLst/>
          </a:prstGeom>
        </p:spPr>
        <p:txBody>
          <a:bodyPr lIns="0" tIns="0" rIns="0" bIns="0" rtlCol="0" anchor="t">
            <a:spAutoFit/>
          </a:bodyPr>
          <a:lstStyle/>
          <a:p>
            <a:pPr algn="l">
              <a:lnSpc>
                <a:spcPts val="3125"/>
              </a:lnSpc>
            </a:pPr>
            <a:r>
              <a:rPr lang="en-US" sz="1937">
                <a:solidFill>
                  <a:srgbClr val="3B4E4E"/>
                </a:solidFill>
                <a:latin typeface="Overpass Light"/>
                <a:ea typeface="Overpass Light"/>
                <a:cs typeface="Overpass Light"/>
                <a:sym typeface="Overpass Light"/>
              </a:rPr>
              <a:t>A single continuous value: the estimated market price of the car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9F4BE"/>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DE6"/>
            </a:solidFill>
          </p:spPr>
        </p:sp>
      </p:grpSp>
      <p:sp>
        <p:nvSpPr>
          <p:cNvPr id="6" name="TextBox 6"/>
          <p:cNvSpPr txBox="1"/>
          <p:nvPr/>
        </p:nvSpPr>
        <p:spPr>
          <a:xfrm>
            <a:off x="992238" y="780155"/>
            <a:ext cx="10741371" cy="696963"/>
          </a:xfrm>
          <a:prstGeom prst="rect">
            <a:avLst/>
          </a:prstGeom>
        </p:spPr>
        <p:txBody>
          <a:bodyPr lIns="0" tIns="0" rIns="0" bIns="0" rtlCol="0" anchor="t">
            <a:spAutoFit/>
          </a:bodyPr>
          <a:lstStyle/>
          <a:p>
            <a:pPr algn="l">
              <a:lnSpc>
                <a:spcPts val="5187"/>
              </a:lnSpc>
            </a:pPr>
            <a:r>
              <a:rPr lang="en-US" sz="4124" b="1">
                <a:solidFill>
                  <a:srgbClr val="233939"/>
                </a:solidFill>
                <a:latin typeface="Arimo Bold"/>
                <a:ea typeface="Arimo Bold"/>
                <a:cs typeface="Arimo Bold"/>
                <a:sym typeface="Arimo Bold"/>
              </a:rPr>
              <a:t>Data Collection &amp; Environment Setup</a:t>
            </a:r>
          </a:p>
        </p:txBody>
      </p:sp>
      <p:sp>
        <p:nvSpPr>
          <p:cNvPr id="7" name="TextBox 7"/>
          <p:cNvSpPr txBox="1"/>
          <p:nvPr/>
        </p:nvSpPr>
        <p:spPr>
          <a:xfrm>
            <a:off x="992238" y="1787871"/>
            <a:ext cx="16303523" cy="671808"/>
          </a:xfrm>
          <a:prstGeom prst="rect">
            <a:avLst/>
          </a:prstGeom>
        </p:spPr>
        <p:txBody>
          <a:bodyPr lIns="0" tIns="0" rIns="0" bIns="0" rtlCol="0" anchor="t">
            <a:spAutoFit/>
          </a:bodyPr>
          <a:lstStyle/>
          <a:p>
            <a:pPr algn="l">
              <a:lnSpc>
                <a:spcPts val="2437"/>
              </a:lnSpc>
            </a:pPr>
            <a:r>
              <a:rPr lang="en-US" sz="1625">
                <a:solidFill>
                  <a:srgbClr val="3B4E4E"/>
                </a:solidFill>
                <a:latin typeface="Overpass Light"/>
                <a:ea typeface="Overpass Light"/>
                <a:cs typeface="Overpass Light"/>
                <a:sym typeface="Overpass Light"/>
              </a:rPr>
              <a:t>A strong model starts with strong data. Our dataset contains real-world information on over </a:t>
            </a:r>
            <a:r>
              <a:rPr lang="en-US" sz="1625" b="1">
                <a:solidFill>
                  <a:srgbClr val="3B4E4E"/>
                </a:solidFill>
                <a:latin typeface="Overpass Bold"/>
                <a:ea typeface="Overpass Bold"/>
                <a:cs typeface="Overpass Bold"/>
                <a:sym typeface="Overpass Bold"/>
              </a:rPr>
              <a:t>200 car models</a:t>
            </a:r>
            <a:r>
              <a:rPr lang="en-US" sz="1625">
                <a:solidFill>
                  <a:srgbClr val="3B4E4E"/>
                </a:solidFill>
                <a:latin typeface="Overpass Light"/>
                <a:ea typeface="Overpass Light"/>
                <a:cs typeface="Overpass Light"/>
                <a:sym typeface="Overpass Light"/>
              </a:rPr>
              <a:t>, capturing a rich set of attributes that influence market price. Before any analysis, we assemble the Python toolchain that will power every stage of this workflow.</a:t>
            </a:r>
          </a:p>
        </p:txBody>
      </p:sp>
      <p:sp>
        <p:nvSpPr>
          <p:cNvPr id="8" name="TextBox 8"/>
          <p:cNvSpPr txBox="1"/>
          <p:nvPr/>
        </p:nvSpPr>
        <p:spPr>
          <a:xfrm>
            <a:off x="992238" y="2821334"/>
            <a:ext cx="2635891" cy="348405"/>
          </a:xfrm>
          <a:prstGeom prst="rect">
            <a:avLst/>
          </a:prstGeom>
        </p:spPr>
        <p:txBody>
          <a:bodyPr lIns="0" tIns="0" rIns="0" bIns="0" rtlCol="0" anchor="t">
            <a:spAutoFit/>
          </a:bodyPr>
          <a:lstStyle/>
          <a:p>
            <a:pPr algn="l">
              <a:lnSpc>
                <a:spcPts val="2562"/>
              </a:lnSpc>
            </a:pPr>
            <a:r>
              <a:rPr lang="en-US" sz="2062" b="1">
                <a:solidFill>
                  <a:srgbClr val="233939"/>
                </a:solidFill>
                <a:latin typeface="Arimo Bold"/>
                <a:ea typeface="Arimo Bold"/>
                <a:cs typeface="Arimo Bold"/>
                <a:sym typeface="Arimo Bold"/>
              </a:rPr>
              <a:t>Dataset Overview</a:t>
            </a:r>
          </a:p>
        </p:txBody>
      </p:sp>
      <p:grpSp>
        <p:nvGrpSpPr>
          <p:cNvPr id="9" name="Group 9"/>
          <p:cNvGrpSpPr/>
          <p:nvPr/>
        </p:nvGrpSpPr>
        <p:grpSpPr>
          <a:xfrm>
            <a:off x="987476" y="3366497"/>
            <a:ext cx="3867150" cy="1894884"/>
            <a:chOff x="0" y="0"/>
            <a:chExt cx="5156200" cy="2526513"/>
          </a:xfrm>
        </p:grpSpPr>
        <p:sp>
          <p:nvSpPr>
            <p:cNvPr id="10" name="Freeform 10"/>
            <p:cNvSpPr/>
            <p:nvPr/>
          </p:nvSpPr>
          <p:spPr>
            <a:xfrm>
              <a:off x="6350" y="6350"/>
              <a:ext cx="5143500" cy="2513838"/>
            </a:xfrm>
            <a:custGeom>
              <a:avLst/>
              <a:gdLst/>
              <a:ahLst/>
              <a:cxnLst/>
              <a:rect l="l" t="t" r="r" b="b"/>
              <a:pathLst>
                <a:path w="5143500" h="2513838">
                  <a:moveTo>
                    <a:pt x="0" y="118110"/>
                  </a:moveTo>
                  <a:cubicBezTo>
                    <a:pt x="0" y="52832"/>
                    <a:pt x="52959" y="0"/>
                    <a:pt x="118364" y="0"/>
                  </a:cubicBezTo>
                  <a:lnTo>
                    <a:pt x="5025136" y="0"/>
                  </a:lnTo>
                  <a:cubicBezTo>
                    <a:pt x="5090541" y="0"/>
                    <a:pt x="5143500" y="52832"/>
                    <a:pt x="5143500" y="118110"/>
                  </a:cubicBezTo>
                  <a:lnTo>
                    <a:pt x="5143500" y="2395728"/>
                  </a:lnTo>
                  <a:cubicBezTo>
                    <a:pt x="5143500" y="2461006"/>
                    <a:pt x="5090541" y="2513838"/>
                    <a:pt x="5025136" y="2513838"/>
                  </a:cubicBezTo>
                  <a:lnTo>
                    <a:pt x="118364" y="2513838"/>
                  </a:lnTo>
                  <a:cubicBezTo>
                    <a:pt x="52959" y="2513838"/>
                    <a:pt x="0" y="2461006"/>
                    <a:pt x="0" y="2395728"/>
                  </a:cubicBezTo>
                  <a:close/>
                </a:path>
              </a:pathLst>
            </a:custGeom>
            <a:solidFill>
              <a:srgbClr val="DDEEE6"/>
            </a:solidFill>
          </p:spPr>
        </p:sp>
        <p:sp>
          <p:nvSpPr>
            <p:cNvPr id="11" name="Freeform 11"/>
            <p:cNvSpPr/>
            <p:nvPr/>
          </p:nvSpPr>
          <p:spPr>
            <a:xfrm>
              <a:off x="0" y="0"/>
              <a:ext cx="5156200" cy="2526538"/>
            </a:xfrm>
            <a:custGeom>
              <a:avLst/>
              <a:gdLst/>
              <a:ahLst/>
              <a:cxnLst/>
              <a:rect l="l" t="t" r="r" b="b"/>
              <a:pathLst>
                <a:path w="5156200" h="2526538">
                  <a:moveTo>
                    <a:pt x="0" y="124460"/>
                  </a:moveTo>
                  <a:cubicBezTo>
                    <a:pt x="0" y="55753"/>
                    <a:pt x="55880" y="0"/>
                    <a:pt x="124714" y="0"/>
                  </a:cubicBezTo>
                  <a:lnTo>
                    <a:pt x="5031486" y="0"/>
                  </a:lnTo>
                  <a:lnTo>
                    <a:pt x="5031486" y="6350"/>
                  </a:lnTo>
                  <a:lnTo>
                    <a:pt x="5031486" y="0"/>
                  </a:lnTo>
                  <a:cubicBezTo>
                    <a:pt x="5100320" y="0"/>
                    <a:pt x="5156200" y="55753"/>
                    <a:pt x="5156200" y="124460"/>
                  </a:cubicBezTo>
                  <a:lnTo>
                    <a:pt x="5149850" y="124460"/>
                  </a:lnTo>
                  <a:lnTo>
                    <a:pt x="5156200" y="124460"/>
                  </a:lnTo>
                  <a:lnTo>
                    <a:pt x="5156200" y="2402078"/>
                  </a:lnTo>
                  <a:lnTo>
                    <a:pt x="5149850" y="2402078"/>
                  </a:lnTo>
                  <a:lnTo>
                    <a:pt x="5156200" y="2402078"/>
                  </a:lnTo>
                  <a:cubicBezTo>
                    <a:pt x="5156200" y="2470785"/>
                    <a:pt x="5100320" y="2526538"/>
                    <a:pt x="5031486" y="2526538"/>
                  </a:cubicBezTo>
                  <a:lnTo>
                    <a:pt x="5031486" y="2520188"/>
                  </a:lnTo>
                  <a:lnTo>
                    <a:pt x="5031486" y="2526538"/>
                  </a:lnTo>
                  <a:lnTo>
                    <a:pt x="124714" y="2526538"/>
                  </a:lnTo>
                  <a:lnTo>
                    <a:pt x="124714" y="2520188"/>
                  </a:lnTo>
                  <a:lnTo>
                    <a:pt x="124714" y="2526538"/>
                  </a:lnTo>
                  <a:cubicBezTo>
                    <a:pt x="55880" y="2526538"/>
                    <a:pt x="0" y="2470785"/>
                    <a:pt x="0" y="2402078"/>
                  </a:cubicBezTo>
                  <a:lnTo>
                    <a:pt x="0" y="124460"/>
                  </a:lnTo>
                  <a:lnTo>
                    <a:pt x="6350" y="124460"/>
                  </a:lnTo>
                  <a:lnTo>
                    <a:pt x="0" y="124460"/>
                  </a:lnTo>
                  <a:moveTo>
                    <a:pt x="12700" y="124460"/>
                  </a:moveTo>
                  <a:lnTo>
                    <a:pt x="12700" y="2402078"/>
                  </a:lnTo>
                  <a:lnTo>
                    <a:pt x="6350" y="2402078"/>
                  </a:lnTo>
                  <a:lnTo>
                    <a:pt x="12700" y="2402078"/>
                  </a:lnTo>
                  <a:cubicBezTo>
                    <a:pt x="12700" y="2463800"/>
                    <a:pt x="62865" y="2513838"/>
                    <a:pt x="124714" y="2513838"/>
                  </a:cubicBezTo>
                  <a:lnTo>
                    <a:pt x="5031486" y="2513838"/>
                  </a:lnTo>
                  <a:cubicBezTo>
                    <a:pt x="5093335" y="2513838"/>
                    <a:pt x="5143500" y="2463800"/>
                    <a:pt x="5143500" y="2402078"/>
                  </a:cubicBezTo>
                  <a:lnTo>
                    <a:pt x="5143500" y="124460"/>
                  </a:lnTo>
                  <a:cubicBezTo>
                    <a:pt x="5143500" y="62738"/>
                    <a:pt x="5093335" y="12700"/>
                    <a:pt x="5031486" y="12700"/>
                  </a:cubicBezTo>
                  <a:lnTo>
                    <a:pt x="124714" y="12700"/>
                  </a:lnTo>
                  <a:lnTo>
                    <a:pt x="124714" y="6350"/>
                  </a:lnTo>
                  <a:lnTo>
                    <a:pt x="124714" y="12700"/>
                  </a:lnTo>
                  <a:cubicBezTo>
                    <a:pt x="62865" y="12700"/>
                    <a:pt x="12700" y="62738"/>
                    <a:pt x="12700" y="124460"/>
                  </a:cubicBezTo>
                  <a:close/>
                </a:path>
              </a:pathLst>
            </a:custGeom>
            <a:solidFill>
              <a:srgbClr val="C3D4CC"/>
            </a:solidFill>
          </p:spPr>
        </p:sp>
      </p:grpSp>
      <p:sp>
        <p:nvSpPr>
          <p:cNvPr id="12" name="TextBox 12"/>
          <p:cNvSpPr txBox="1"/>
          <p:nvPr/>
        </p:nvSpPr>
        <p:spPr>
          <a:xfrm>
            <a:off x="1212504" y="3572466"/>
            <a:ext cx="2635891" cy="348405"/>
          </a:xfrm>
          <a:prstGeom prst="rect">
            <a:avLst/>
          </a:prstGeom>
        </p:spPr>
        <p:txBody>
          <a:bodyPr lIns="0" tIns="0" rIns="0" bIns="0" rtlCol="0" anchor="t">
            <a:spAutoFit/>
          </a:bodyPr>
          <a:lstStyle/>
          <a:p>
            <a:pPr algn="l">
              <a:lnSpc>
                <a:spcPts val="2562"/>
              </a:lnSpc>
            </a:pPr>
            <a:r>
              <a:rPr lang="en-US" sz="2062" b="1">
                <a:solidFill>
                  <a:srgbClr val="3B4E4E"/>
                </a:solidFill>
                <a:latin typeface="Arimo Bold"/>
                <a:ea typeface="Arimo Bold"/>
                <a:cs typeface="Arimo Bold"/>
                <a:sym typeface="Arimo Bold"/>
              </a:rPr>
              <a:t>200+ Car Models</a:t>
            </a:r>
          </a:p>
        </p:txBody>
      </p:sp>
      <p:sp>
        <p:nvSpPr>
          <p:cNvPr id="13" name="TextBox 13"/>
          <p:cNvSpPr txBox="1"/>
          <p:nvPr/>
        </p:nvSpPr>
        <p:spPr>
          <a:xfrm>
            <a:off x="1212504" y="4052440"/>
            <a:ext cx="3417094" cy="983904"/>
          </a:xfrm>
          <a:prstGeom prst="rect">
            <a:avLst/>
          </a:prstGeom>
        </p:spPr>
        <p:txBody>
          <a:bodyPr lIns="0" tIns="0" rIns="0" bIns="0" rtlCol="0" anchor="t">
            <a:spAutoFit/>
          </a:bodyPr>
          <a:lstStyle/>
          <a:p>
            <a:pPr algn="l">
              <a:lnSpc>
                <a:spcPts val="2437"/>
              </a:lnSpc>
            </a:pPr>
            <a:r>
              <a:rPr lang="en-US" sz="1625">
                <a:solidFill>
                  <a:srgbClr val="3B4E4E"/>
                </a:solidFill>
                <a:latin typeface="Overpass Light"/>
                <a:ea typeface="Overpass Light"/>
                <a:cs typeface="Overpass Light"/>
                <a:sym typeface="Overpass Light"/>
              </a:rPr>
              <a:t>Real-world dataset spanning multiple manufacturers, body styles, and market segments</a:t>
            </a:r>
          </a:p>
        </p:txBody>
      </p:sp>
      <p:grpSp>
        <p:nvGrpSpPr>
          <p:cNvPr id="14" name="Group 14"/>
          <p:cNvGrpSpPr/>
          <p:nvPr/>
        </p:nvGrpSpPr>
        <p:grpSpPr>
          <a:xfrm>
            <a:off x="5024285" y="3366497"/>
            <a:ext cx="3867302" cy="1894884"/>
            <a:chOff x="0" y="0"/>
            <a:chExt cx="5156403" cy="2526513"/>
          </a:xfrm>
        </p:grpSpPr>
        <p:sp>
          <p:nvSpPr>
            <p:cNvPr id="15" name="Freeform 15"/>
            <p:cNvSpPr/>
            <p:nvPr/>
          </p:nvSpPr>
          <p:spPr>
            <a:xfrm>
              <a:off x="6350" y="6350"/>
              <a:ext cx="5143627" cy="2513838"/>
            </a:xfrm>
            <a:custGeom>
              <a:avLst/>
              <a:gdLst/>
              <a:ahLst/>
              <a:cxnLst/>
              <a:rect l="l" t="t" r="r" b="b"/>
              <a:pathLst>
                <a:path w="5143627" h="2513838">
                  <a:moveTo>
                    <a:pt x="0" y="118110"/>
                  </a:moveTo>
                  <a:cubicBezTo>
                    <a:pt x="0" y="52832"/>
                    <a:pt x="52959" y="0"/>
                    <a:pt x="118364" y="0"/>
                  </a:cubicBezTo>
                  <a:lnTo>
                    <a:pt x="5025263" y="0"/>
                  </a:lnTo>
                  <a:cubicBezTo>
                    <a:pt x="5090668" y="0"/>
                    <a:pt x="5143627" y="52832"/>
                    <a:pt x="5143627" y="118110"/>
                  </a:cubicBezTo>
                  <a:lnTo>
                    <a:pt x="5143627" y="2395728"/>
                  </a:lnTo>
                  <a:cubicBezTo>
                    <a:pt x="5143627" y="2461006"/>
                    <a:pt x="5090668" y="2513838"/>
                    <a:pt x="5025263" y="2513838"/>
                  </a:cubicBezTo>
                  <a:lnTo>
                    <a:pt x="118364" y="2513838"/>
                  </a:lnTo>
                  <a:cubicBezTo>
                    <a:pt x="52959" y="2513838"/>
                    <a:pt x="0" y="2461006"/>
                    <a:pt x="0" y="2395728"/>
                  </a:cubicBezTo>
                  <a:close/>
                </a:path>
              </a:pathLst>
            </a:custGeom>
            <a:solidFill>
              <a:srgbClr val="DDEEE6"/>
            </a:solidFill>
          </p:spPr>
        </p:sp>
        <p:sp>
          <p:nvSpPr>
            <p:cNvPr id="16" name="Freeform 16"/>
            <p:cNvSpPr/>
            <p:nvPr/>
          </p:nvSpPr>
          <p:spPr>
            <a:xfrm>
              <a:off x="0" y="0"/>
              <a:ext cx="5156327" cy="2526538"/>
            </a:xfrm>
            <a:custGeom>
              <a:avLst/>
              <a:gdLst/>
              <a:ahLst/>
              <a:cxnLst/>
              <a:rect l="l" t="t" r="r" b="b"/>
              <a:pathLst>
                <a:path w="5156327" h="2526538">
                  <a:moveTo>
                    <a:pt x="0" y="124460"/>
                  </a:moveTo>
                  <a:cubicBezTo>
                    <a:pt x="0" y="55753"/>
                    <a:pt x="55880" y="0"/>
                    <a:pt x="124714" y="0"/>
                  </a:cubicBezTo>
                  <a:lnTo>
                    <a:pt x="5031613" y="0"/>
                  </a:lnTo>
                  <a:lnTo>
                    <a:pt x="5031613" y="6350"/>
                  </a:lnTo>
                  <a:lnTo>
                    <a:pt x="5031613" y="0"/>
                  </a:lnTo>
                  <a:cubicBezTo>
                    <a:pt x="5100447" y="0"/>
                    <a:pt x="5156327" y="55753"/>
                    <a:pt x="5156327" y="124460"/>
                  </a:cubicBezTo>
                  <a:lnTo>
                    <a:pt x="5149977" y="124460"/>
                  </a:lnTo>
                  <a:lnTo>
                    <a:pt x="5156327" y="124460"/>
                  </a:lnTo>
                  <a:lnTo>
                    <a:pt x="5156327" y="2402078"/>
                  </a:lnTo>
                  <a:lnTo>
                    <a:pt x="5149977" y="2402078"/>
                  </a:lnTo>
                  <a:lnTo>
                    <a:pt x="5156327" y="2402078"/>
                  </a:lnTo>
                  <a:cubicBezTo>
                    <a:pt x="5156327" y="2470785"/>
                    <a:pt x="5100447" y="2526538"/>
                    <a:pt x="5031613" y="2526538"/>
                  </a:cubicBezTo>
                  <a:lnTo>
                    <a:pt x="5031613" y="2520188"/>
                  </a:lnTo>
                  <a:lnTo>
                    <a:pt x="5031613" y="2526538"/>
                  </a:lnTo>
                  <a:lnTo>
                    <a:pt x="124714" y="2526538"/>
                  </a:lnTo>
                  <a:lnTo>
                    <a:pt x="124714" y="2520188"/>
                  </a:lnTo>
                  <a:lnTo>
                    <a:pt x="124714" y="2526538"/>
                  </a:lnTo>
                  <a:cubicBezTo>
                    <a:pt x="55880" y="2526538"/>
                    <a:pt x="0" y="2470785"/>
                    <a:pt x="0" y="2402078"/>
                  </a:cubicBezTo>
                  <a:lnTo>
                    <a:pt x="0" y="124460"/>
                  </a:lnTo>
                  <a:lnTo>
                    <a:pt x="6350" y="124460"/>
                  </a:lnTo>
                  <a:lnTo>
                    <a:pt x="0" y="124460"/>
                  </a:lnTo>
                  <a:moveTo>
                    <a:pt x="12700" y="124460"/>
                  </a:moveTo>
                  <a:lnTo>
                    <a:pt x="12700" y="2402078"/>
                  </a:lnTo>
                  <a:lnTo>
                    <a:pt x="6350" y="2402078"/>
                  </a:lnTo>
                  <a:lnTo>
                    <a:pt x="12700" y="2402078"/>
                  </a:lnTo>
                  <a:cubicBezTo>
                    <a:pt x="12700" y="2463800"/>
                    <a:pt x="62865" y="2513838"/>
                    <a:pt x="124714" y="2513838"/>
                  </a:cubicBezTo>
                  <a:lnTo>
                    <a:pt x="5031613" y="2513838"/>
                  </a:lnTo>
                  <a:cubicBezTo>
                    <a:pt x="5093462" y="2513838"/>
                    <a:pt x="5143627" y="2463800"/>
                    <a:pt x="5143627" y="2402078"/>
                  </a:cubicBezTo>
                  <a:lnTo>
                    <a:pt x="5143627" y="124460"/>
                  </a:lnTo>
                  <a:cubicBezTo>
                    <a:pt x="5143627" y="62738"/>
                    <a:pt x="5093462" y="12700"/>
                    <a:pt x="5031613" y="12700"/>
                  </a:cubicBezTo>
                  <a:lnTo>
                    <a:pt x="124714" y="12700"/>
                  </a:lnTo>
                  <a:lnTo>
                    <a:pt x="124714" y="6350"/>
                  </a:lnTo>
                  <a:lnTo>
                    <a:pt x="124714" y="12700"/>
                  </a:lnTo>
                  <a:cubicBezTo>
                    <a:pt x="62865" y="12700"/>
                    <a:pt x="12700" y="62738"/>
                    <a:pt x="12700" y="124460"/>
                  </a:cubicBezTo>
                  <a:close/>
                </a:path>
              </a:pathLst>
            </a:custGeom>
            <a:solidFill>
              <a:srgbClr val="C3D4CC"/>
            </a:solidFill>
          </p:spPr>
        </p:sp>
      </p:grpSp>
      <p:sp>
        <p:nvSpPr>
          <p:cNvPr id="17" name="TextBox 17"/>
          <p:cNvSpPr txBox="1"/>
          <p:nvPr/>
        </p:nvSpPr>
        <p:spPr>
          <a:xfrm>
            <a:off x="5249313" y="3572466"/>
            <a:ext cx="2635891" cy="348405"/>
          </a:xfrm>
          <a:prstGeom prst="rect">
            <a:avLst/>
          </a:prstGeom>
        </p:spPr>
        <p:txBody>
          <a:bodyPr lIns="0" tIns="0" rIns="0" bIns="0" rtlCol="0" anchor="t">
            <a:spAutoFit/>
          </a:bodyPr>
          <a:lstStyle/>
          <a:p>
            <a:pPr algn="l">
              <a:lnSpc>
                <a:spcPts val="2562"/>
              </a:lnSpc>
            </a:pPr>
            <a:r>
              <a:rPr lang="en-US" sz="2062" b="1">
                <a:solidFill>
                  <a:srgbClr val="3B4E4E"/>
                </a:solidFill>
                <a:latin typeface="Arimo Bold"/>
                <a:ea typeface="Arimo Bold"/>
                <a:cs typeface="Arimo Bold"/>
                <a:sym typeface="Arimo Bold"/>
              </a:rPr>
              <a:t>26 Features</a:t>
            </a:r>
          </a:p>
        </p:txBody>
      </p:sp>
      <p:sp>
        <p:nvSpPr>
          <p:cNvPr id="18" name="TextBox 18"/>
          <p:cNvSpPr txBox="1"/>
          <p:nvPr/>
        </p:nvSpPr>
        <p:spPr>
          <a:xfrm>
            <a:off x="5249313" y="4052440"/>
            <a:ext cx="3417246" cy="983904"/>
          </a:xfrm>
          <a:prstGeom prst="rect">
            <a:avLst/>
          </a:prstGeom>
        </p:spPr>
        <p:txBody>
          <a:bodyPr lIns="0" tIns="0" rIns="0" bIns="0" rtlCol="0" anchor="t">
            <a:spAutoFit/>
          </a:bodyPr>
          <a:lstStyle/>
          <a:p>
            <a:pPr algn="l">
              <a:lnSpc>
                <a:spcPts val="2437"/>
              </a:lnSpc>
            </a:pPr>
            <a:r>
              <a:rPr lang="en-US" sz="1625">
                <a:solidFill>
                  <a:srgbClr val="3B4E4E"/>
                </a:solidFill>
                <a:latin typeface="Overpass Light"/>
                <a:ea typeface="Overpass Light"/>
                <a:cs typeface="Overpass Light"/>
                <a:sym typeface="Overpass Light"/>
              </a:rPr>
              <a:t>Engine size, horsepower, fuel type, car body, wheelbase, curb weight, and more</a:t>
            </a:r>
          </a:p>
        </p:txBody>
      </p:sp>
      <p:grpSp>
        <p:nvGrpSpPr>
          <p:cNvPr id="19" name="Group 19"/>
          <p:cNvGrpSpPr/>
          <p:nvPr/>
        </p:nvGrpSpPr>
        <p:grpSpPr>
          <a:xfrm>
            <a:off x="987476" y="5431041"/>
            <a:ext cx="7904112" cy="1270692"/>
            <a:chOff x="0" y="0"/>
            <a:chExt cx="10538816" cy="1694256"/>
          </a:xfrm>
        </p:grpSpPr>
        <p:sp>
          <p:nvSpPr>
            <p:cNvPr id="20" name="Freeform 20"/>
            <p:cNvSpPr/>
            <p:nvPr/>
          </p:nvSpPr>
          <p:spPr>
            <a:xfrm>
              <a:off x="6350" y="6350"/>
              <a:ext cx="10526140" cy="1681607"/>
            </a:xfrm>
            <a:custGeom>
              <a:avLst/>
              <a:gdLst/>
              <a:ahLst/>
              <a:cxnLst/>
              <a:rect l="l" t="t" r="r" b="b"/>
              <a:pathLst>
                <a:path w="10526140" h="1681607">
                  <a:moveTo>
                    <a:pt x="0" y="118110"/>
                  </a:moveTo>
                  <a:cubicBezTo>
                    <a:pt x="0" y="52832"/>
                    <a:pt x="53213" y="0"/>
                    <a:pt x="118872" y="0"/>
                  </a:cubicBezTo>
                  <a:lnTo>
                    <a:pt x="10407269" y="0"/>
                  </a:lnTo>
                  <a:cubicBezTo>
                    <a:pt x="10472927" y="0"/>
                    <a:pt x="10526140" y="52832"/>
                    <a:pt x="10526140" y="118110"/>
                  </a:cubicBezTo>
                  <a:lnTo>
                    <a:pt x="10526140" y="1563497"/>
                  </a:lnTo>
                  <a:cubicBezTo>
                    <a:pt x="10526140" y="1628775"/>
                    <a:pt x="10472927" y="1681607"/>
                    <a:pt x="10407269" y="1681607"/>
                  </a:cubicBezTo>
                  <a:lnTo>
                    <a:pt x="118872" y="1681607"/>
                  </a:lnTo>
                  <a:cubicBezTo>
                    <a:pt x="53213" y="1681607"/>
                    <a:pt x="0" y="1628775"/>
                    <a:pt x="0" y="1563497"/>
                  </a:cubicBezTo>
                  <a:close/>
                </a:path>
              </a:pathLst>
            </a:custGeom>
            <a:solidFill>
              <a:srgbClr val="DDEEE6"/>
            </a:solidFill>
          </p:spPr>
        </p:sp>
        <p:sp>
          <p:nvSpPr>
            <p:cNvPr id="21" name="Freeform 21"/>
            <p:cNvSpPr/>
            <p:nvPr/>
          </p:nvSpPr>
          <p:spPr>
            <a:xfrm>
              <a:off x="0" y="0"/>
              <a:ext cx="10538840" cy="1694307"/>
            </a:xfrm>
            <a:custGeom>
              <a:avLst/>
              <a:gdLst/>
              <a:ahLst/>
              <a:cxnLst/>
              <a:rect l="l" t="t" r="r" b="b"/>
              <a:pathLst>
                <a:path w="10538840" h="1694307">
                  <a:moveTo>
                    <a:pt x="0" y="124460"/>
                  </a:moveTo>
                  <a:cubicBezTo>
                    <a:pt x="0" y="55626"/>
                    <a:pt x="56134" y="0"/>
                    <a:pt x="125222" y="0"/>
                  </a:cubicBezTo>
                  <a:lnTo>
                    <a:pt x="10413619" y="0"/>
                  </a:lnTo>
                  <a:lnTo>
                    <a:pt x="10413619" y="6350"/>
                  </a:lnTo>
                  <a:lnTo>
                    <a:pt x="10413619" y="0"/>
                  </a:lnTo>
                  <a:cubicBezTo>
                    <a:pt x="10482707" y="0"/>
                    <a:pt x="10538840" y="55626"/>
                    <a:pt x="10538840" y="124460"/>
                  </a:cubicBezTo>
                  <a:lnTo>
                    <a:pt x="10532490" y="124460"/>
                  </a:lnTo>
                  <a:lnTo>
                    <a:pt x="10538840" y="124460"/>
                  </a:lnTo>
                  <a:lnTo>
                    <a:pt x="10538840" y="1569847"/>
                  </a:lnTo>
                  <a:lnTo>
                    <a:pt x="10532490" y="1569847"/>
                  </a:lnTo>
                  <a:lnTo>
                    <a:pt x="10538840" y="1569847"/>
                  </a:lnTo>
                  <a:cubicBezTo>
                    <a:pt x="10538840" y="1638554"/>
                    <a:pt x="10482707" y="1694307"/>
                    <a:pt x="10413619" y="1694307"/>
                  </a:cubicBezTo>
                  <a:lnTo>
                    <a:pt x="10413619" y="1687957"/>
                  </a:lnTo>
                  <a:lnTo>
                    <a:pt x="10413619" y="1694307"/>
                  </a:lnTo>
                  <a:lnTo>
                    <a:pt x="125222" y="1694307"/>
                  </a:lnTo>
                  <a:lnTo>
                    <a:pt x="125222" y="1687957"/>
                  </a:lnTo>
                  <a:lnTo>
                    <a:pt x="125222" y="1694307"/>
                  </a:lnTo>
                  <a:cubicBezTo>
                    <a:pt x="56134" y="1694307"/>
                    <a:pt x="0" y="1638681"/>
                    <a:pt x="0" y="1569847"/>
                  </a:cubicBezTo>
                  <a:lnTo>
                    <a:pt x="0" y="124460"/>
                  </a:lnTo>
                  <a:lnTo>
                    <a:pt x="6350" y="124460"/>
                  </a:lnTo>
                  <a:lnTo>
                    <a:pt x="0" y="124460"/>
                  </a:lnTo>
                  <a:moveTo>
                    <a:pt x="12700" y="124460"/>
                  </a:moveTo>
                  <a:lnTo>
                    <a:pt x="12700" y="1569847"/>
                  </a:lnTo>
                  <a:lnTo>
                    <a:pt x="6350" y="1569847"/>
                  </a:lnTo>
                  <a:lnTo>
                    <a:pt x="12700" y="1569847"/>
                  </a:lnTo>
                  <a:cubicBezTo>
                    <a:pt x="12700" y="1631569"/>
                    <a:pt x="62992" y="1681607"/>
                    <a:pt x="125222" y="1681607"/>
                  </a:cubicBezTo>
                  <a:lnTo>
                    <a:pt x="10413619" y="1681607"/>
                  </a:lnTo>
                  <a:cubicBezTo>
                    <a:pt x="10475849" y="1681607"/>
                    <a:pt x="10526140" y="1631569"/>
                    <a:pt x="10526140" y="1569847"/>
                  </a:cubicBezTo>
                  <a:lnTo>
                    <a:pt x="10526140" y="124460"/>
                  </a:lnTo>
                  <a:cubicBezTo>
                    <a:pt x="10526140" y="62738"/>
                    <a:pt x="10475849" y="12700"/>
                    <a:pt x="10413619" y="12700"/>
                  </a:cubicBezTo>
                  <a:lnTo>
                    <a:pt x="125222" y="12700"/>
                  </a:lnTo>
                  <a:lnTo>
                    <a:pt x="125222" y="6350"/>
                  </a:lnTo>
                  <a:lnTo>
                    <a:pt x="125222" y="12700"/>
                  </a:lnTo>
                  <a:cubicBezTo>
                    <a:pt x="62992" y="12700"/>
                    <a:pt x="12700" y="62738"/>
                    <a:pt x="12700" y="124460"/>
                  </a:cubicBezTo>
                  <a:close/>
                </a:path>
              </a:pathLst>
            </a:custGeom>
            <a:solidFill>
              <a:srgbClr val="C3D4CC"/>
            </a:solidFill>
          </p:spPr>
        </p:sp>
      </p:grpSp>
      <p:sp>
        <p:nvSpPr>
          <p:cNvPr id="22" name="TextBox 22"/>
          <p:cNvSpPr txBox="1"/>
          <p:nvPr/>
        </p:nvSpPr>
        <p:spPr>
          <a:xfrm>
            <a:off x="1212504" y="5637009"/>
            <a:ext cx="2635891" cy="348405"/>
          </a:xfrm>
          <a:prstGeom prst="rect">
            <a:avLst/>
          </a:prstGeom>
        </p:spPr>
        <p:txBody>
          <a:bodyPr lIns="0" tIns="0" rIns="0" bIns="0" rtlCol="0" anchor="t">
            <a:spAutoFit/>
          </a:bodyPr>
          <a:lstStyle/>
          <a:p>
            <a:pPr algn="l">
              <a:lnSpc>
                <a:spcPts val="2562"/>
              </a:lnSpc>
            </a:pPr>
            <a:r>
              <a:rPr lang="en-US" sz="2062" b="1">
                <a:solidFill>
                  <a:srgbClr val="3B4E4E"/>
                </a:solidFill>
                <a:latin typeface="Arimo Bold"/>
                <a:ea typeface="Arimo Bold"/>
                <a:cs typeface="Arimo Bold"/>
                <a:sym typeface="Arimo Bold"/>
              </a:rPr>
              <a:t>Target: Price</a:t>
            </a:r>
          </a:p>
        </p:txBody>
      </p:sp>
      <p:sp>
        <p:nvSpPr>
          <p:cNvPr id="23" name="TextBox 23"/>
          <p:cNvSpPr txBox="1"/>
          <p:nvPr/>
        </p:nvSpPr>
        <p:spPr>
          <a:xfrm>
            <a:off x="1212504" y="6116984"/>
            <a:ext cx="7454055" cy="359721"/>
          </a:xfrm>
          <a:prstGeom prst="rect">
            <a:avLst/>
          </a:prstGeom>
        </p:spPr>
        <p:txBody>
          <a:bodyPr lIns="0" tIns="0" rIns="0" bIns="0" rtlCol="0" anchor="t">
            <a:spAutoFit/>
          </a:bodyPr>
          <a:lstStyle/>
          <a:p>
            <a:pPr algn="l">
              <a:lnSpc>
                <a:spcPts val="2437"/>
              </a:lnSpc>
            </a:pPr>
            <a:r>
              <a:rPr lang="en-US" sz="1625">
                <a:solidFill>
                  <a:srgbClr val="3B4E4E"/>
                </a:solidFill>
                <a:latin typeface="Overpass Light"/>
                <a:ea typeface="Overpass Light"/>
                <a:cs typeface="Overpass Light"/>
                <a:sym typeface="Overpass Light"/>
              </a:rPr>
              <a:t>Continuous numerical variable representing the car's market price</a:t>
            </a:r>
          </a:p>
        </p:txBody>
      </p:sp>
      <p:sp>
        <p:nvSpPr>
          <p:cNvPr id="24" name="TextBox 24"/>
          <p:cNvSpPr txBox="1"/>
          <p:nvPr/>
        </p:nvSpPr>
        <p:spPr>
          <a:xfrm>
            <a:off x="992238" y="6850856"/>
            <a:ext cx="7894587" cy="1041054"/>
          </a:xfrm>
          <a:prstGeom prst="rect">
            <a:avLst/>
          </a:prstGeom>
        </p:spPr>
        <p:txBody>
          <a:bodyPr lIns="0" tIns="0" rIns="0" bIns="0" rtlCol="0" anchor="t">
            <a:spAutoFit/>
          </a:bodyPr>
          <a:lstStyle/>
          <a:p>
            <a:pPr algn="l">
              <a:lnSpc>
                <a:spcPts val="2437"/>
              </a:lnSpc>
            </a:pPr>
            <a:r>
              <a:rPr lang="en-US" sz="1625">
                <a:solidFill>
                  <a:srgbClr val="3B4E4E"/>
                </a:solidFill>
                <a:latin typeface="Overpass Light"/>
                <a:ea typeface="Overpass Light"/>
                <a:cs typeface="Overpass Light"/>
                <a:sym typeface="Overpass Light"/>
              </a:rPr>
              <a:t>The dataset is loaded from </a:t>
            </a:r>
            <a:r>
              <a:rPr lang="en-US" sz="1625">
                <a:solidFill>
                  <a:srgbClr val="3B4E4E"/>
                </a:solidFill>
                <a:latin typeface="Overpass"/>
                <a:ea typeface="Overpass"/>
                <a:cs typeface="Overpass"/>
                <a:sym typeface="Overpass"/>
              </a:rPr>
              <a:t>CarPrice_Assignment.csv</a:t>
            </a:r>
            <a:r>
              <a:rPr lang="en-US" sz="1625">
                <a:solidFill>
                  <a:srgbClr val="3B4E4E"/>
                </a:solidFill>
                <a:latin typeface="Overpass Light"/>
                <a:ea typeface="Overpass Light"/>
                <a:cs typeface="Overpass Light"/>
                <a:sym typeface="Overpass Light"/>
              </a:rPr>
              <a:t> into a Pandas DataFrame. A quick </a:t>
            </a:r>
            <a:r>
              <a:rPr lang="en-US" sz="1625">
                <a:solidFill>
                  <a:srgbClr val="3B4E4E"/>
                </a:solidFill>
                <a:latin typeface="Overpass"/>
                <a:ea typeface="Overpass"/>
                <a:cs typeface="Overpass"/>
                <a:sym typeface="Overpass"/>
              </a:rPr>
              <a:t>df.head()</a:t>
            </a:r>
            <a:r>
              <a:rPr lang="en-US" sz="1625">
                <a:solidFill>
                  <a:srgbClr val="3B4E4E"/>
                </a:solidFill>
                <a:latin typeface="Overpass Light"/>
                <a:ea typeface="Overpass Light"/>
                <a:cs typeface="Overpass Light"/>
                <a:sym typeface="Overpass Light"/>
              </a:rPr>
              <a:t> snapshot reveals column names, data types, and initial value ranges — the first step in understanding what we're working with.</a:t>
            </a:r>
          </a:p>
        </p:txBody>
      </p:sp>
      <p:sp>
        <p:nvSpPr>
          <p:cNvPr id="25" name="TextBox 25"/>
          <p:cNvSpPr txBox="1"/>
          <p:nvPr/>
        </p:nvSpPr>
        <p:spPr>
          <a:xfrm>
            <a:off x="9410700" y="2821334"/>
            <a:ext cx="3080595" cy="348405"/>
          </a:xfrm>
          <a:prstGeom prst="rect">
            <a:avLst/>
          </a:prstGeom>
        </p:spPr>
        <p:txBody>
          <a:bodyPr lIns="0" tIns="0" rIns="0" bIns="0" rtlCol="0" anchor="t">
            <a:spAutoFit/>
          </a:bodyPr>
          <a:lstStyle/>
          <a:p>
            <a:pPr algn="l">
              <a:lnSpc>
                <a:spcPts val="2562"/>
              </a:lnSpc>
            </a:pPr>
            <a:r>
              <a:rPr lang="en-US" sz="2062" b="1">
                <a:solidFill>
                  <a:srgbClr val="233939"/>
                </a:solidFill>
                <a:latin typeface="Arimo Bold"/>
                <a:ea typeface="Arimo Bold"/>
                <a:cs typeface="Arimo Bold"/>
                <a:sym typeface="Arimo Bold"/>
              </a:rPr>
              <a:t>The Python ML Stack</a:t>
            </a:r>
          </a:p>
        </p:txBody>
      </p:sp>
      <p:sp>
        <p:nvSpPr>
          <p:cNvPr id="26" name="Freeform 26" descr="preencoded.png"/>
          <p:cNvSpPr/>
          <p:nvPr/>
        </p:nvSpPr>
        <p:spPr>
          <a:xfrm>
            <a:off x="9410700" y="3371259"/>
            <a:ext cx="421634" cy="421634"/>
          </a:xfrm>
          <a:custGeom>
            <a:avLst/>
            <a:gdLst/>
            <a:ahLst/>
            <a:cxnLst/>
            <a:rect l="l" t="t" r="r" b="b"/>
            <a:pathLst>
              <a:path w="421634" h="421634">
                <a:moveTo>
                  <a:pt x="0" y="0"/>
                </a:moveTo>
                <a:lnTo>
                  <a:pt x="421634" y="0"/>
                </a:lnTo>
                <a:lnTo>
                  <a:pt x="421634" y="421634"/>
                </a:lnTo>
                <a:lnTo>
                  <a:pt x="0" y="421634"/>
                </a:lnTo>
                <a:lnTo>
                  <a:pt x="0" y="0"/>
                </a:lnTo>
                <a:close/>
              </a:path>
            </a:pathLst>
          </a:custGeom>
          <a:blipFill>
            <a:blip>
              <a:extLst>
                <a:ext uri="{96DAC541-7B7A-43D3-8B79-37D633B846F1}">
                  <asvg:svgBlip xmlns:asvg="http://schemas.microsoft.com/office/drawing/2016/SVG/main" r:embed="rId2"/>
                </a:ext>
              </a:extLst>
            </a:blip>
            <a:stretch>
              <a:fillRect l="-5555" r="-5555"/>
            </a:stretch>
          </a:blipFill>
        </p:spPr>
      </p:sp>
      <p:sp>
        <p:nvSpPr>
          <p:cNvPr id="27" name="TextBox 27"/>
          <p:cNvSpPr txBox="1"/>
          <p:nvPr/>
        </p:nvSpPr>
        <p:spPr>
          <a:xfrm>
            <a:off x="10056314" y="3424685"/>
            <a:ext cx="2635891" cy="348405"/>
          </a:xfrm>
          <a:prstGeom prst="rect">
            <a:avLst/>
          </a:prstGeom>
        </p:spPr>
        <p:txBody>
          <a:bodyPr lIns="0" tIns="0" rIns="0" bIns="0" rtlCol="0" anchor="t">
            <a:spAutoFit/>
          </a:bodyPr>
          <a:lstStyle/>
          <a:p>
            <a:pPr algn="l">
              <a:lnSpc>
                <a:spcPts val="2562"/>
              </a:lnSpc>
            </a:pPr>
            <a:r>
              <a:rPr lang="en-US" sz="2062" b="1">
                <a:solidFill>
                  <a:srgbClr val="3B4E4E"/>
                </a:solidFill>
                <a:latin typeface="Arimo Bold"/>
                <a:ea typeface="Arimo Bold"/>
                <a:cs typeface="Arimo Bold"/>
                <a:sym typeface="Arimo Bold"/>
              </a:rPr>
              <a:t>Pandas</a:t>
            </a:r>
          </a:p>
        </p:txBody>
      </p:sp>
      <p:sp>
        <p:nvSpPr>
          <p:cNvPr id="28" name="TextBox 28"/>
          <p:cNvSpPr txBox="1"/>
          <p:nvPr/>
        </p:nvSpPr>
        <p:spPr>
          <a:xfrm>
            <a:off x="10056314" y="3904659"/>
            <a:ext cx="7248973" cy="671808"/>
          </a:xfrm>
          <a:prstGeom prst="rect">
            <a:avLst/>
          </a:prstGeom>
        </p:spPr>
        <p:txBody>
          <a:bodyPr lIns="0" tIns="0" rIns="0" bIns="0" rtlCol="0" anchor="t">
            <a:spAutoFit/>
          </a:bodyPr>
          <a:lstStyle/>
          <a:p>
            <a:pPr algn="l">
              <a:lnSpc>
                <a:spcPts val="2437"/>
              </a:lnSpc>
            </a:pPr>
            <a:r>
              <a:rPr lang="en-US" sz="1625">
                <a:solidFill>
                  <a:srgbClr val="3B4E4E"/>
                </a:solidFill>
                <a:latin typeface="Overpass Light"/>
                <a:ea typeface="Overpass Light"/>
                <a:cs typeface="Overpass Light"/>
                <a:sym typeface="Overpass Light"/>
              </a:rPr>
              <a:t>Data manipulation, loading CSVs, filtering, grouping, and transforming tabular data. The backbone of data preparation.</a:t>
            </a:r>
          </a:p>
        </p:txBody>
      </p:sp>
      <p:sp>
        <p:nvSpPr>
          <p:cNvPr id="29" name="Freeform 29" descr="preencoded.png"/>
          <p:cNvSpPr/>
          <p:nvPr/>
        </p:nvSpPr>
        <p:spPr>
          <a:xfrm>
            <a:off x="9410700" y="4934845"/>
            <a:ext cx="421634" cy="421634"/>
          </a:xfrm>
          <a:custGeom>
            <a:avLst/>
            <a:gdLst/>
            <a:ahLst/>
            <a:cxnLst/>
            <a:rect l="l" t="t" r="r" b="b"/>
            <a:pathLst>
              <a:path w="421634" h="421634">
                <a:moveTo>
                  <a:pt x="0" y="0"/>
                </a:moveTo>
                <a:lnTo>
                  <a:pt x="421634" y="0"/>
                </a:lnTo>
                <a:lnTo>
                  <a:pt x="421634" y="421634"/>
                </a:lnTo>
                <a:lnTo>
                  <a:pt x="0" y="421634"/>
                </a:lnTo>
                <a:lnTo>
                  <a:pt x="0" y="0"/>
                </a:lnTo>
                <a:close/>
              </a:path>
            </a:pathLst>
          </a:custGeom>
          <a:blipFill>
            <a:blip>
              <a:extLst>
                <a:ext uri="{96DAC541-7B7A-43D3-8B79-37D633B846F1}">
                  <asvg:svgBlip xmlns:asvg="http://schemas.microsoft.com/office/drawing/2016/SVG/main" r:embed="rId3"/>
                </a:ext>
              </a:extLst>
            </a:blip>
            <a:stretch>
              <a:fillRect t="-8889" b="-8887"/>
            </a:stretch>
          </a:blipFill>
        </p:spPr>
      </p:sp>
      <p:sp>
        <p:nvSpPr>
          <p:cNvPr id="30" name="TextBox 30"/>
          <p:cNvSpPr txBox="1"/>
          <p:nvPr/>
        </p:nvSpPr>
        <p:spPr>
          <a:xfrm>
            <a:off x="10056314" y="4988271"/>
            <a:ext cx="2635891" cy="348405"/>
          </a:xfrm>
          <a:prstGeom prst="rect">
            <a:avLst/>
          </a:prstGeom>
        </p:spPr>
        <p:txBody>
          <a:bodyPr lIns="0" tIns="0" rIns="0" bIns="0" rtlCol="0" anchor="t">
            <a:spAutoFit/>
          </a:bodyPr>
          <a:lstStyle/>
          <a:p>
            <a:pPr algn="l">
              <a:lnSpc>
                <a:spcPts val="2562"/>
              </a:lnSpc>
            </a:pPr>
            <a:r>
              <a:rPr lang="en-US" sz="2062" b="1">
                <a:solidFill>
                  <a:srgbClr val="3B4E4E"/>
                </a:solidFill>
                <a:latin typeface="Arimo Bold"/>
                <a:ea typeface="Arimo Bold"/>
                <a:cs typeface="Arimo Bold"/>
                <a:sym typeface="Arimo Bold"/>
              </a:rPr>
              <a:t>NumPy</a:t>
            </a:r>
          </a:p>
        </p:txBody>
      </p:sp>
      <p:sp>
        <p:nvSpPr>
          <p:cNvPr id="31" name="TextBox 31"/>
          <p:cNvSpPr txBox="1"/>
          <p:nvPr/>
        </p:nvSpPr>
        <p:spPr>
          <a:xfrm>
            <a:off x="10056314" y="5468245"/>
            <a:ext cx="7248973" cy="671808"/>
          </a:xfrm>
          <a:prstGeom prst="rect">
            <a:avLst/>
          </a:prstGeom>
        </p:spPr>
        <p:txBody>
          <a:bodyPr lIns="0" tIns="0" rIns="0" bIns="0" rtlCol="0" anchor="t">
            <a:spAutoFit/>
          </a:bodyPr>
          <a:lstStyle/>
          <a:p>
            <a:pPr algn="l">
              <a:lnSpc>
                <a:spcPts val="2437"/>
              </a:lnSpc>
            </a:pPr>
            <a:r>
              <a:rPr lang="en-US" sz="1625">
                <a:solidFill>
                  <a:srgbClr val="3B4E4E"/>
                </a:solidFill>
                <a:latin typeface="Overpass Light"/>
                <a:ea typeface="Overpass Light"/>
                <a:cs typeface="Overpass Light"/>
                <a:sym typeface="Overpass Light"/>
              </a:rPr>
              <a:t>Efficient numerical computations, array operations, and mathematical functions underpinning all ML algorithms.</a:t>
            </a:r>
          </a:p>
        </p:txBody>
      </p:sp>
      <p:sp>
        <p:nvSpPr>
          <p:cNvPr id="32" name="Freeform 32" descr="preencoded.png"/>
          <p:cNvSpPr/>
          <p:nvPr/>
        </p:nvSpPr>
        <p:spPr>
          <a:xfrm>
            <a:off x="9410700" y="6498431"/>
            <a:ext cx="421634" cy="421634"/>
          </a:xfrm>
          <a:custGeom>
            <a:avLst/>
            <a:gdLst/>
            <a:ahLst/>
            <a:cxnLst/>
            <a:rect l="l" t="t" r="r" b="b"/>
            <a:pathLst>
              <a:path w="421634" h="421634">
                <a:moveTo>
                  <a:pt x="0" y="0"/>
                </a:moveTo>
                <a:lnTo>
                  <a:pt x="421634" y="0"/>
                </a:lnTo>
                <a:lnTo>
                  <a:pt x="421634" y="421634"/>
                </a:lnTo>
                <a:lnTo>
                  <a:pt x="0" y="421634"/>
                </a:lnTo>
                <a:lnTo>
                  <a:pt x="0" y="0"/>
                </a:lnTo>
                <a:close/>
              </a:path>
            </a:pathLst>
          </a:custGeom>
          <a:blipFill>
            <a:blip>
              <a:extLst>
                <a:ext uri="{96DAC541-7B7A-43D3-8B79-37D633B846F1}">
                  <asvg:svgBlip xmlns:asvg="http://schemas.microsoft.com/office/drawing/2016/SVG/main" r:embed="rId4"/>
                </a:ext>
              </a:extLst>
            </a:blip>
            <a:stretch>
              <a:fillRect l="-4443" r="-4443"/>
            </a:stretch>
          </a:blipFill>
        </p:spPr>
      </p:sp>
      <p:sp>
        <p:nvSpPr>
          <p:cNvPr id="33" name="TextBox 33"/>
          <p:cNvSpPr txBox="1"/>
          <p:nvPr/>
        </p:nvSpPr>
        <p:spPr>
          <a:xfrm>
            <a:off x="10056314" y="6551857"/>
            <a:ext cx="3043390" cy="348405"/>
          </a:xfrm>
          <a:prstGeom prst="rect">
            <a:avLst/>
          </a:prstGeom>
        </p:spPr>
        <p:txBody>
          <a:bodyPr lIns="0" tIns="0" rIns="0" bIns="0" rtlCol="0" anchor="t">
            <a:spAutoFit/>
          </a:bodyPr>
          <a:lstStyle/>
          <a:p>
            <a:pPr algn="l">
              <a:lnSpc>
                <a:spcPts val="2562"/>
              </a:lnSpc>
            </a:pPr>
            <a:r>
              <a:rPr lang="en-US" sz="2062" b="1">
                <a:solidFill>
                  <a:srgbClr val="3B4E4E"/>
                </a:solidFill>
                <a:latin typeface="Arimo Bold"/>
                <a:ea typeface="Arimo Bold"/>
                <a:cs typeface="Arimo Bold"/>
                <a:sym typeface="Arimo Bold"/>
              </a:rPr>
              <a:t>Matplotlib &amp; Seaborn</a:t>
            </a:r>
          </a:p>
        </p:txBody>
      </p:sp>
      <p:sp>
        <p:nvSpPr>
          <p:cNvPr id="34" name="TextBox 34"/>
          <p:cNvSpPr txBox="1"/>
          <p:nvPr/>
        </p:nvSpPr>
        <p:spPr>
          <a:xfrm>
            <a:off x="10056314" y="7031831"/>
            <a:ext cx="7248973" cy="671808"/>
          </a:xfrm>
          <a:prstGeom prst="rect">
            <a:avLst/>
          </a:prstGeom>
        </p:spPr>
        <p:txBody>
          <a:bodyPr lIns="0" tIns="0" rIns="0" bIns="0" rtlCol="0" anchor="t">
            <a:spAutoFit/>
          </a:bodyPr>
          <a:lstStyle/>
          <a:p>
            <a:pPr algn="l">
              <a:lnSpc>
                <a:spcPts val="2437"/>
              </a:lnSpc>
            </a:pPr>
            <a:r>
              <a:rPr lang="en-US" sz="1625">
                <a:solidFill>
                  <a:srgbClr val="3B4E4E"/>
                </a:solidFill>
                <a:latin typeface="Overpass Light"/>
                <a:ea typeface="Overpass Light"/>
                <a:cs typeface="Overpass Light"/>
                <a:sym typeface="Overpass Light"/>
              </a:rPr>
              <a:t>Visualization libraries for EDA — histograms, heatmaps, box plots, and scatter plots that reveal data patterns.</a:t>
            </a:r>
          </a:p>
        </p:txBody>
      </p:sp>
      <p:sp>
        <p:nvSpPr>
          <p:cNvPr id="35" name="Freeform 35" descr="preencoded.png"/>
          <p:cNvSpPr/>
          <p:nvPr/>
        </p:nvSpPr>
        <p:spPr>
          <a:xfrm>
            <a:off x="9410700" y="8062017"/>
            <a:ext cx="421634" cy="421634"/>
          </a:xfrm>
          <a:custGeom>
            <a:avLst/>
            <a:gdLst/>
            <a:ahLst/>
            <a:cxnLst/>
            <a:rect l="l" t="t" r="r" b="b"/>
            <a:pathLst>
              <a:path w="421634" h="421634">
                <a:moveTo>
                  <a:pt x="0" y="0"/>
                </a:moveTo>
                <a:lnTo>
                  <a:pt x="421634" y="0"/>
                </a:lnTo>
                <a:lnTo>
                  <a:pt x="421634" y="421634"/>
                </a:lnTo>
                <a:lnTo>
                  <a:pt x="0" y="421634"/>
                </a:lnTo>
                <a:lnTo>
                  <a:pt x="0" y="0"/>
                </a:lnTo>
                <a:close/>
              </a:path>
            </a:pathLst>
          </a:custGeom>
          <a:blipFill>
            <a:blip>
              <a:extLst>
                <a:ext uri="{96DAC541-7B7A-43D3-8B79-37D633B846F1}">
                  <asvg:svgBlip xmlns:asvg="http://schemas.microsoft.com/office/drawing/2016/SVG/main" r:embed="rId5"/>
                </a:ext>
              </a:extLst>
            </a:blip>
            <a:stretch>
              <a:fillRect t="-3334" b="-3332"/>
            </a:stretch>
          </a:blipFill>
        </p:spPr>
      </p:sp>
      <p:sp>
        <p:nvSpPr>
          <p:cNvPr id="36" name="TextBox 36"/>
          <p:cNvSpPr txBox="1"/>
          <p:nvPr/>
        </p:nvSpPr>
        <p:spPr>
          <a:xfrm>
            <a:off x="10056314" y="8115452"/>
            <a:ext cx="2635891" cy="348405"/>
          </a:xfrm>
          <a:prstGeom prst="rect">
            <a:avLst/>
          </a:prstGeom>
        </p:spPr>
        <p:txBody>
          <a:bodyPr lIns="0" tIns="0" rIns="0" bIns="0" rtlCol="0" anchor="t">
            <a:spAutoFit/>
          </a:bodyPr>
          <a:lstStyle/>
          <a:p>
            <a:pPr algn="l">
              <a:lnSpc>
                <a:spcPts val="2562"/>
              </a:lnSpc>
            </a:pPr>
            <a:r>
              <a:rPr lang="en-US" sz="2062" b="1">
                <a:solidFill>
                  <a:srgbClr val="3B4E4E"/>
                </a:solidFill>
                <a:latin typeface="Arimo Bold"/>
                <a:ea typeface="Arimo Bold"/>
                <a:cs typeface="Arimo Bold"/>
                <a:sym typeface="Arimo Bold"/>
              </a:rPr>
              <a:t>Scikit-Learn</a:t>
            </a:r>
          </a:p>
        </p:txBody>
      </p:sp>
      <p:sp>
        <p:nvSpPr>
          <p:cNvPr id="37" name="TextBox 37"/>
          <p:cNvSpPr txBox="1"/>
          <p:nvPr/>
        </p:nvSpPr>
        <p:spPr>
          <a:xfrm>
            <a:off x="10056314" y="8595417"/>
            <a:ext cx="7248973" cy="671808"/>
          </a:xfrm>
          <a:prstGeom prst="rect">
            <a:avLst/>
          </a:prstGeom>
        </p:spPr>
        <p:txBody>
          <a:bodyPr lIns="0" tIns="0" rIns="0" bIns="0" rtlCol="0" anchor="t">
            <a:spAutoFit/>
          </a:bodyPr>
          <a:lstStyle/>
          <a:p>
            <a:pPr algn="l">
              <a:lnSpc>
                <a:spcPts val="2437"/>
              </a:lnSpc>
            </a:pPr>
            <a:r>
              <a:rPr lang="en-US" sz="1625">
                <a:solidFill>
                  <a:srgbClr val="3B4E4E"/>
                </a:solidFill>
                <a:latin typeface="Overpass Light"/>
                <a:ea typeface="Overpass Light"/>
                <a:cs typeface="Overpass Light"/>
                <a:sym typeface="Overpass Light"/>
              </a:rPr>
              <a:t>The gold-standard library for model training, evaluation metrics, train-test splitting, and preprocessing pipelines.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9F4BE"/>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DE6"/>
            </a:solidFill>
          </p:spPr>
        </p:sp>
      </p:grpSp>
      <p:sp>
        <p:nvSpPr>
          <p:cNvPr id="6" name="TextBox 6"/>
          <p:cNvSpPr txBox="1"/>
          <p:nvPr/>
        </p:nvSpPr>
        <p:spPr>
          <a:xfrm>
            <a:off x="992238" y="1370562"/>
            <a:ext cx="13429212" cy="813197"/>
          </a:xfrm>
          <a:prstGeom prst="rect">
            <a:avLst/>
          </a:prstGeom>
        </p:spPr>
        <p:txBody>
          <a:bodyPr lIns="0" tIns="0" rIns="0" bIns="0" rtlCol="0" anchor="t">
            <a:spAutoFit/>
          </a:bodyPr>
          <a:lstStyle/>
          <a:p>
            <a:pPr algn="l">
              <a:lnSpc>
                <a:spcPts val="6062"/>
              </a:lnSpc>
            </a:pPr>
            <a:r>
              <a:rPr lang="en-US" sz="4875" b="1">
                <a:solidFill>
                  <a:srgbClr val="233939"/>
                </a:solidFill>
                <a:latin typeface="Arimo Bold"/>
                <a:ea typeface="Arimo Bold"/>
                <a:cs typeface="Arimo Bold"/>
                <a:sym typeface="Arimo Bold"/>
              </a:rPr>
              <a:t>Data Integrity: Duplicates, Nulls &amp; Errors</a:t>
            </a:r>
          </a:p>
        </p:txBody>
      </p:sp>
      <p:sp>
        <p:nvSpPr>
          <p:cNvPr id="7" name="TextBox 7"/>
          <p:cNvSpPr txBox="1"/>
          <p:nvPr/>
        </p:nvSpPr>
        <p:spPr>
          <a:xfrm>
            <a:off x="992238" y="2603602"/>
            <a:ext cx="16303523" cy="870052"/>
          </a:xfrm>
          <a:prstGeom prst="rect">
            <a:avLst/>
          </a:prstGeom>
        </p:spPr>
        <p:txBody>
          <a:bodyPr lIns="0" tIns="0" rIns="0" bIns="0" rtlCol="0" anchor="t">
            <a:spAutoFit/>
          </a:bodyPr>
          <a:lstStyle/>
          <a:p>
            <a:pPr algn="l">
              <a:lnSpc>
                <a:spcPts val="3125"/>
              </a:lnSpc>
            </a:pPr>
            <a:r>
              <a:rPr lang="en-US" sz="1937">
                <a:solidFill>
                  <a:srgbClr val="3B4E4E"/>
                </a:solidFill>
                <a:latin typeface="Overpass Light"/>
                <a:ea typeface="Overpass Light"/>
                <a:cs typeface="Overpass Light"/>
                <a:sym typeface="Overpass Light"/>
              </a:rPr>
              <a:t>Raw data is rarely clean. Before any modeling, we must audit the dataset for issues that could silently corrupt our results. Three categories of data quality problems must be identified and resolved: duplicate entries, missing values, and logical inconsistencies.</a:t>
            </a:r>
          </a:p>
        </p:txBody>
      </p:sp>
      <p:grpSp>
        <p:nvGrpSpPr>
          <p:cNvPr id="8" name="Group 8"/>
          <p:cNvGrpSpPr/>
          <p:nvPr/>
        </p:nvGrpSpPr>
        <p:grpSpPr>
          <a:xfrm>
            <a:off x="977951" y="3738410"/>
            <a:ext cx="5297691" cy="5154063"/>
            <a:chOff x="0" y="0"/>
            <a:chExt cx="7063588" cy="6872084"/>
          </a:xfrm>
        </p:grpSpPr>
        <p:sp>
          <p:nvSpPr>
            <p:cNvPr id="9" name="Freeform 9"/>
            <p:cNvSpPr/>
            <p:nvPr/>
          </p:nvSpPr>
          <p:spPr>
            <a:xfrm>
              <a:off x="19050" y="19050"/>
              <a:ext cx="7025513" cy="6833998"/>
            </a:xfrm>
            <a:custGeom>
              <a:avLst/>
              <a:gdLst/>
              <a:ahLst/>
              <a:cxnLst/>
              <a:rect l="l" t="t" r="r" b="b"/>
              <a:pathLst>
                <a:path w="7025513" h="6833998">
                  <a:moveTo>
                    <a:pt x="0" y="182880"/>
                  </a:moveTo>
                  <a:cubicBezTo>
                    <a:pt x="0" y="81915"/>
                    <a:pt x="81915" y="0"/>
                    <a:pt x="182880" y="0"/>
                  </a:cubicBezTo>
                  <a:lnTo>
                    <a:pt x="6842633" y="0"/>
                  </a:lnTo>
                  <a:cubicBezTo>
                    <a:pt x="6943598" y="0"/>
                    <a:pt x="7025513" y="81915"/>
                    <a:pt x="7025513" y="182880"/>
                  </a:cubicBezTo>
                  <a:lnTo>
                    <a:pt x="7025513" y="6651117"/>
                  </a:lnTo>
                  <a:cubicBezTo>
                    <a:pt x="7025513" y="6752082"/>
                    <a:pt x="6943598" y="6833998"/>
                    <a:pt x="6842633" y="6833998"/>
                  </a:cubicBezTo>
                  <a:lnTo>
                    <a:pt x="182880" y="6833998"/>
                  </a:lnTo>
                  <a:cubicBezTo>
                    <a:pt x="81915" y="6833998"/>
                    <a:pt x="0" y="6752082"/>
                    <a:pt x="0" y="6651117"/>
                  </a:cubicBezTo>
                  <a:close/>
                </a:path>
              </a:pathLst>
            </a:custGeom>
            <a:solidFill>
              <a:srgbClr val="FFFDE6"/>
            </a:solidFill>
          </p:spPr>
        </p:sp>
        <p:sp>
          <p:nvSpPr>
            <p:cNvPr id="10" name="Freeform 10"/>
            <p:cNvSpPr/>
            <p:nvPr/>
          </p:nvSpPr>
          <p:spPr>
            <a:xfrm>
              <a:off x="0" y="0"/>
              <a:ext cx="7063613" cy="6872098"/>
            </a:xfrm>
            <a:custGeom>
              <a:avLst/>
              <a:gdLst/>
              <a:ahLst/>
              <a:cxnLst/>
              <a:rect l="l" t="t" r="r" b="b"/>
              <a:pathLst>
                <a:path w="7063613" h="6872098">
                  <a:moveTo>
                    <a:pt x="0" y="201930"/>
                  </a:moveTo>
                  <a:cubicBezTo>
                    <a:pt x="0" y="90424"/>
                    <a:pt x="90424" y="0"/>
                    <a:pt x="201930" y="0"/>
                  </a:cubicBezTo>
                  <a:lnTo>
                    <a:pt x="6861683" y="0"/>
                  </a:lnTo>
                  <a:lnTo>
                    <a:pt x="6861683" y="19050"/>
                  </a:lnTo>
                  <a:lnTo>
                    <a:pt x="6861683" y="0"/>
                  </a:lnTo>
                  <a:cubicBezTo>
                    <a:pt x="6973189" y="0"/>
                    <a:pt x="7063613" y="90424"/>
                    <a:pt x="7063613" y="201930"/>
                  </a:cubicBezTo>
                  <a:lnTo>
                    <a:pt x="7044563" y="201930"/>
                  </a:lnTo>
                  <a:lnTo>
                    <a:pt x="7063613" y="201930"/>
                  </a:lnTo>
                  <a:lnTo>
                    <a:pt x="7063613" y="6670167"/>
                  </a:lnTo>
                  <a:lnTo>
                    <a:pt x="7044563" y="6670167"/>
                  </a:lnTo>
                  <a:lnTo>
                    <a:pt x="7063613" y="6670167"/>
                  </a:lnTo>
                  <a:cubicBezTo>
                    <a:pt x="7063613" y="6781674"/>
                    <a:pt x="6973189" y="6872098"/>
                    <a:pt x="6861683" y="6872098"/>
                  </a:cubicBezTo>
                  <a:lnTo>
                    <a:pt x="6861683" y="6853048"/>
                  </a:lnTo>
                  <a:lnTo>
                    <a:pt x="6861683" y="6872098"/>
                  </a:lnTo>
                  <a:lnTo>
                    <a:pt x="201930" y="6872098"/>
                  </a:lnTo>
                  <a:lnTo>
                    <a:pt x="201930" y="6853048"/>
                  </a:lnTo>
                  <a:lnTo>
                    <a:pt x="201930" y="6872098"/>
                  </a:lnTo>
                  <a:cubicBezTo>
                    <a:pt x="90424" y="6872098"/>
                    <a:pt x="0" y="6781674"/>
                    <a:pt x="0" y="6670167"/>
                  </a:cubicBezTo>
                  <a:lnTo>
                    <a:pt x="0" y="201930"/>
                  </a:lnTo>
                  <a:lnTo>
                    <a:pt x="19050" y="201930"/>
                  </a:lnTo>
                  <a:lnTo>
                    <a:pt x="0" y="201930"/>
                  </a:lnTo>
                  <a:moveTo>
                    <a:pt x="38100" y="201930"/>
                  </a:moveTo>
                  <a:lnTo>
                    <a:pt x="38100" y="6670167"/>
                  </a:lnTo>
                  <a:lnTo>
                    <a:pt x="19050" y="6670167"/>
                  </a:lnTo>
                  <a:lnTo>
                    <a:pt x="38100" y="6670167"/>
                  </a:lnTo>
                  <a:cubicBezTo>
                    <a:pt x="38100" y="6760591"/>
                    <a:pt x="111506" y="6833998"/>
                    <a:pt x="201930" y="6833998"/>
                  </a:cubicBezTo>
                  <a:lnTo>
                    <a:pt x="6861683" y="6833998"/>
                  </a:lnTo>
                  <a:cubicBezTo>
                    <a:pt x="6952234" y="6833998"/>
                    <a:pt x="7025513" y="6760591"/>
                    <a:pt x="7025513" y="6670167"/>
                  </a:cubicBezTo>
                  <a:lnTo>
                    <a:pt x="7025513" y="201930"/>
                  </a:lnTo>
                  <a:cubicBezTo>
                    <a:pt x="7025513" y="111506"/>
                    <a:pt x="6952107" y="38100"/>
                    <a:pt x="6861683" y="38100"/>
                  </a:cubicBezTo>
                  <a:lnTo>
                    <a:pt x="201930" y="38100"/>
                  </a:lnTo>
                  <a:lnTo>
                    <a:pt x="201930" y="19050"/>
                  </a:lnTo>
                  <a:lnTo>
                    <a:pt x="201930" y="38100"/>
                  </a:lnTo>
                  <a:cubicBezTo>
                    <a:pt x="111506" y="38100"/>
                    <a:pt x="38100" y="111506"/>
                    <a:pt x="38100" y="201930"/>
                  </a:cubicBezTo>
                  <a:close/>
                </a:path>
              </a:pathLst>
            </a:custGeom>
            <a:solidFill>
              <a:srgbClr val="C3D4CC"/>
            </a:solidFill>
          </p:spPr>
        </p:sp>
      </p:grpSp>
      <p:grpSp>
        <p:nvGrpSpPr>
          <p:cNvPr id="11" name="Group 11"/>
          <p:cNvGrpSpPr/>
          <p:nvPr/>
        </p:nvGrpSpPr>
        <p:grpSpPr>
          <a:xfrm>
            <a:off x="963663" y="3752698"/>
            <a:ext cx="114300" cy="5125488"/>
            <a:chOff x="0" y="0"/>
            <a:chExt cx="152400" cy="6833984"/>
          </a:xfrm>
        </p:grpSpPr>
        <p:sp>
          <p:nvSpPr>
            <p:cNvPr id="12" name="Freeform 12"/>
            <p:cNvSpPr/>
            <p:nvPr/>
          </p:nvSpPr>
          <p:spPr>
            <a:xfrm>
              <a:off x="0" y="0"/>
              <a:ext cx="152400" cy="6833997"/>
            </a:xfrm>
            <a:custGeom>
              <a:avLst/>
              <a:gdLst/>
              <a:ahLst/>
              <a:cxnLst/>
              <a:rect l="l" t="t" r="r" b="b"/>
              <a:pathLst>
                <a:path w="152400" h="6833997">
                  <a:moveTo>
                    <a:pt x="0" y="76200"/>
                  </a:moveTo>
                  <a:cubicBezTo>
                    <a:pt x="0" y="34163"/>
                    <a:pt x="34163" y="0"/>
                    <a:pt x="76200" y="0"/>
                  </a:cubicBezTo>
                  <a:cubicBezTo>
                    <a:pt x="118237" y="0"/>
                    <a:pt x="152400" y="34163"/>
                    <a:pt x="152400" y="76200"/>
                  </a:cubicBezTo>
                  <a:lnTo>
                    <a:pt x="152400" y="6757797"/>
                  </a:lnTo>
                  <a:cubicBezTo>
                    <a:pt x="152400" y="6799834"/>
                    <a:pt x="118237" y="6833997"/>
                    <a:pt x="76200" y="6833997"/>
                  </a:cubicBezTo>
                  <a:cubicBezTo>
                    <a:pt x="34163" y="6833997"/>
                    <a:pt x="0" y="6799834"/>
                    <a:pt x="0" y="6757797"/>
                  </a:cubicBezTo>
                  <a:close/>
                </a:path>
              </a:pathLst>
            </a:custGeom>
            <a:solidFill>
              <a:srgbClr val="224435"/>
            </a:solidFill>
          </p:spPr>
        </p:sp>
      </p:grpSp>
      <p:sp>
        <p:nvSpPr>
          <p:cNvPr id="13" name="TextBox 13"/>
          <p:cNvSpPr txBox="1"/>
          <p:nvPr/>
        </p:nvSpPr>
        <p:spPr>
          <a:xfrm>
            <a:off x="1354484" y="4019702"/>
            <a:ext cx="3880247" cy="406746"/>
          </a:xfrm>
          <a:prstGeom prst="rect">
            <a:avLst/>
          </a:prstGeom>
        </p:spPr>
        <p:txBody>
          <a:bodyPr lIns="0" tIns="0" rIns="0" bIns="0" rtlCol="0" anchor="t">
            <a:spAutoFit/>
          </a:bodyPr>
          <a:lstStyle/>
          <a:p>
            <a:pPr algn="l">
              <a:lnSpc>
                <a:spcPts val="2999"/>
              </a:lnSpc>
            </a:pPr>
            <a:r>
              <a:rPr lang="en-US" sz="2437" b="1">
                <a:solidFill>
                  <a:srgbClr val="000000"/>
                </a:solidFill>
                <a:latin typeface="Arimo Bold"/>
                <a:ea typeface="Arimo Bold"/>
                <a:cs typeface="Arimo Bold"/>
                <a:sym typeface="Arimo Bold"/>
              </a:rPr>
              <a:t>🔍</a:t>
            </a:r>
            <a:r>
              <a:rPr lang="en-US" sz="2437" b="1">
                <a:solidFill>
                  <a:srgbClr val="3B4E4E"/>
                </a:solidFill>
                <a:latin typeface="Arimo Bold"/>
                <a:ea typeface="Arimo Bold"/>
                <a:cs typeface="Arimo Bold"/>
                <a:sym typeface="Arimo Bold"/>
              </a:rPr>
              <a:t> Duplicate Detection</a:t>
            </a:r>
          </a:p>
        </p:txBody>
      </p:sp>
      <p:sp>
        <p:nvSpPr>
          <p:cNvPr id="14" name="TextBox 14"/>
          <p:cNvSpPr txBox="1"/>
          <p:nvPr/>
        </p:nvSpPr>
        <p:spPr>
          <a:xfrm>
            <a:off x="1354484" y="4499077"/>
            <a:ext cx="4630341" cy="3705673"/>
          </a:xfrm>
          <a:prstGeom prst="rect">
            <a:avLst/>
          </a:prstGeom>
        </p:spPr>
        <p:txBody>
          <a:bodyPr lIns="0" tIns="0" rIns="0" bIns="0" rtlCol="0" anchor="t">
            <a:spAutoFit/>
          </a:bodyPr>
          <a:lstStyle/>
          <a:p>
            <a:pPr algn="l">
              <a:lnSpc>
                <a:spcPts val="3125"/>
              </a:lnSpc>
            </a:pPr>
            <a:r>
              <a:rPr lang="en-US" sz="1937">
                <a:solidFill>
                  <a:srgbClr val="3B4E4E"/>
                </a:solidFill>
                <a:latin typeface="Overpass Light"/>
                <a:ea typeface="Overpass Light"/>
                <a:cs typeface="Overpass Light"/>
                <a:sym typeface="Overpass Light"/>
              </a:rPr>
              <a:t>Duplicate rows artificially inflate the weight of certain observations, biasing the model toward overrepresented samples. We check with </a:t>
            </a:r>
            <a:r>
              <a:rPr lang="en-US" sz="1937">
                <a:solidFill>
                  <a:srgbClr val="3B4E4E"/>
                </a:solidFill>
                <a:latin typeface="Overpass"/>
                <a:ea typeface="Overpass"/>
                <a:cs typeface="Overpass"/>
                <a:sym typeface="Overpass"/>
              </a:rPr>
              <a:t>df.duplicated().sum()</a:t>
            </a:r>
            <a:r>
              <a:rPr lang="en-US" sz="1937">
                <a:solidFill>
                  <a:srgbClr val="3B4E4E"/>
                </a:solidFill>
                <a:latin typeface="Overpass Light"/>
                <a:ea typeface="Overpass Light"/>
                <a:cs typeface="Overpass Light"/>
                <a:sym typeface="Overpass Light"/>
              </a:rPr>
              <a:t> and remove duplicates using </a:t>
            </a:r>
            <a:r>
              <a:rPr lang="en-US" sz="1937">
                <a:solidFill>
                  <a:srgbClr val="3B4E4E"/>
                </a:solidFill>
                <a:latin typeface="Overpass"/>
                <a:ea typeface="Overpass"/>
                <a:cs typeface="Overpass"/>
                <a:sym typeface="Overpass"/>
              </a:rPr>
              <a:t>df.drop_duplicates()</a:t>
            </a:r>
            <a:r>
              <a:rPr lang="en-US" sz="1937">
                <a:solidFill>
                  <a:srgbClr val="3B4E4E"/>
                </a:solidFill>
                <a:latin typeface="Overpass Light"/>
                <a:ea typeface="Overpass Light"/>
                <a:cs typeface="Overpass Light"/>
                <a:sym typeface="Overpass Light"/>
              </a:rPr>
              <a:t>. Even a small number of duplicates can skew regression coefficients and inflate performance metrics on training data.</a:t>
            </a:r>
          </a:p>
        </p:txBody>
      </p:sp>
      <p:grpSp>
        <p:nvGrpSpPr>
          <p:cNvPr id="15" name="Group 15"/>
          <p:cNvGrpSpPr/>
          <p:nvPr/>
        </p:nvGrpSpPr>
        <p:grpSpPr>
          <a:xfrm>
            <a:off x="6495012" y="3738410"/>
            <a:ext cx="5297834" cy="5154063"/>
            <a:chOff x="0" y="0"/>
            <a:chExt cx="7063778" cy="6872084"/>
          </a:xfrm>
        </p:grpSpPr>
        <p:sp>
          <p:nvSpPr>
            <p:cNvPr id="16" name="Freeform 16"/>
            <p:cNvSpPr/>
            <p:nvPr/>
          </p:nvSpPr>
          <p:spPr>
            <a:xfrm>
              <a:off x="19050" y="19050"/>
              <a:ext cx="7025640" cy="6833998"/>
            </a:xfrm>
            <a:custGeom>
              <a:avLst/>
              <a:gdLst/>
              <a:ahLst/>
              <a:cxnLst/>
              <a:rect l="l" t="t" r="r" b="b"/>
              <a:pathLst>
                <a:path w="7025640" h="6833998">
                  <a:moveTo>
                    <a:pt x="0" y="182880"/>
                  </a:moveTo>
                  <a:cubicBezTo>
                    <a:pt x="0" y="81915"/>
                    <a:pt x="81915" y="0"/>
                    <a:pt x="182880" y="0"/>
                  </a:cubicBezTo>
                  <a:lnTo>
                    <a:pt x="6842760" y="0"/>
                  </a:lnTo>
                  <a:cubicBezTo>
                    <a:pt x="6943725" y="0"/>
                    <a:pt x="7025640" y="81915"/>
                    <a:pt x="7025640" y="182880"/>
                  </a:cubicBezTo>
                  <a:lnTo>
                    <a:pt x="7025640" y="6651117"/>
                  </a:lnTo>
                  <a:cubicBezTo>
                    <a:pt x="7025640" y="6752082"/>
                    <a:pt x="6943725" y="6833998"/>
                    <a:pt x="6842760" y="6833998"/>
                  </a:cubicBezTo>
                  <a:lnTo>
                    <a:pt x="182880" y="6833998"/>
                  </a:lnTo>
                  <a:cubicBezTo>
                    <a:pt x="81915" y="6833998"/>
                    <a:pt x="0" y="6752082"/>
                    <a:pt x="0" y="6651117"/>
                  </a:cubicBezTo>
                  <a:close/>
                </a:path>
              </a:pathLst>
            </a:custGeom>
            <a:solidFill>
              <a:srgbClr val="FFFDE6"/>
            </a:solidFill>
          </p:spPr>
        </p:sp>
        <p:sp>
          <p:nvSpPr>
            <p:cNvPr id="17" name="Freeform 17"/>
            <p:cNvSpPr/>
            <p:nvPr/>
          </p:nvSpPr>
          <p:spPr>
            <a:xfrm>
              <a:off x="0" y="0"/>
              <a:ext cx="7063740" cy="6872098"/>
            </a:xfrm>
            <a:custGeom>
              <a:avLst/>
              <a:gdLst/>
              <a:ahLst/>
              <a:cxnLst/>
              <a:rect l="l" t="t" r="r" b="b"/>
              <a:pathLst>
                <a:path w="7063740" h="6872098">
                  <a:moveTo>
                    <a:pt x="0" y="201930"/>
                  </a:moveTo>
                  <a:cubicBezTo>
                    <a:pt x="0" y="90424"/>
                    <a:pt x="90424" y="0"/>
                    <a:pt x="201930" y="0"/>
                  </a:cubicBezTo>
                  <a:lnTo>
                    <a:pt x="6861810" y="0"/>
                  </a:lnTo>
                  <a:lnTo>
                    <a:pt x="6861810" y="19050"/>
                  </a:lnTo>
                  <a:lnTo>
                    <a:pt x="6861810" y="0"/>
                  </a:lnTo>
                  <a:cubicBezTo>
                    <a:pt x="6973316" y="0"/>
                    <a:pt x="7063740" y="90424"/>
                    <a:pt x="7063740" y="201930"/>
                  </a:cubicBezTo>
                  <a:lnTo>
                    <a:pt x="7044690" y="201930"/>
                  </a:lnTo>
                  <a:lnTo>
                    <a:pt x="7063740" y="201930"/>
                  </a:lnTo>
                  <a:lnTo>
                    <a:pt x="7063740" y="6670167"/>
                  </a:lnTo>
                  <a:lnTo>
                    <a:pt x="7044690" y="6670167"/>
                  </a:lnTo>
                  <a:lnTo>
                    <a:pt x="7063740" y="6670167"/>
                  </a:lnTo>
                  <a:cubicBezTo>
                    <a:pt x="7063740" y="6781674"/>
                    <a:pt x="6973316" y="6872098"/>
                    <a:pt x="6861810" y="6872098"/>
                  </a:cubicBezTo>
                  <a:lnTo>
                    <a:pt x="6861810" y="6853048"/>
                  </a:lnTo>
                  <a:lnTo>
                    <a:pt x="6861810" y="6872098"/>
                  </a:lnTo>
                  <a:lnTo>
                    <a:pt x="201930" y="6872098"/>
                  </a:lnTo>
                  <a:lnTo>
                    <a:pt x="201930" y="6853048"/>
                  </a:lnTo>
                  <a:lnTo>
                    <a:pt x="201930" y="6872098"/>
                  </a:lnTo>
                  <a:cubicBezTo>
                    <a:pt x="90424" y="6872098"/>
                    <a:pt x="0" y="6781674"/>
                    <a:pt x="0" y="6670167"/>
                  </a:cubicBezTo>
                  <a:lnTo>
                    <a:pt x="0" y="201930"/>
                  </a:lnTo>
                  <a:lnTo>
                    <a:pt x="19050" y="201930"/>
                  </a:lnTo>
                  <a:lnTo>
                    <a:pt x="0" y="201930"/>
                  </a:lnTo>
                  <a:moveTo>
                    <a:pt x="38100" y="201930"/>
                  </a:moveTo>
                  <a:lnTo>
                    <a:pt x="38100" y="6670167"/>
                  </a:lnTo>
                  <a:lnTo>
                    <a:pt x="19050" y="6670167"/>
                  </a:lnTo>
                  <a:lnTo>
                    <a:pt x="38100" y="6670167"/>
                  </a:lnTo>
                  <a:cubicBezTo>
                    <a:pt x="38100" y="6760591"/>
                    <a:pt x="111506" y="6833998"/>
                    <a:pt x="201930" y="6833998"/>
                  </a:cubicBezTo>
                  <a:lnTo>
                    <a:pt x="6861810" y="6833998"/>
                  </a:lnTo>
                  <a:cubicBezTo>
                    <a:pt x="6952361" y="6833998"/>
                    <a:pt x="7025640" y="6760591"/>
                    <a:pt x="7025640" y="6670167"/>
                  </a:cubicBezTo>
                  <a:lnTo>
                    <a:pt x="7025640" y="201930"/>
                  </a:lnTo>
                  <a:cubicBezTo>
                    <a:pt x="7025640" y="111506"/>
                    <a:pt x="6952234" y="38100"/>
                    <a:pt x="6861810" y="38100"/>
                  </a:cubicBezTo>
                  <a:lnTo>
                    <a:pt x="201930" y="38100"/>
                  </a:lnTo>
                  <a:lnTo>
                    <a:pt x="201930" y="19050"/>
                  </a:lnTo>
                  <a:lnTo>
                    <a:pt x="201930" y="38100"/>
                  </a:lnTo>
                  <a:cubicBezTo>
                    <a:pt x="111506" y="38100"/>
                    <a:pt x="38100" y="111506"/>
                    <a:pt x="38100" y="201930"/>
                  </a:cubicBezTo>
                  <a:close/>
                </a:path>
              </a:pathLst>
            </a:custGeom>
            <a:solidFill>
              <a:srgbClr val="C3D4CC"/>
            </a:solidFill>
          </p:spPr>
        </p:sp>
      </p:grpSp>
      <p:grpSp>
        <p:nvGrpSpPr>
          <p:cNvPr id="18" name="Group 18"/>
          <p:cNvGrpSpPr/>
          <p:nvPr/>
        </p:nvGrpSpPr>
        <p:grpSpPr>
          <a:xfrm>
            <a:off x="6480724" y="3752698"/>
            <a:ext cx="114300" cy="5125488"/>
            <a:chOff x="0" y="0"/>
            <a:chExt cx="152400" cy="6833984"/>
          </a:xfrm>
        </p:grpSpPr>
        <p:sp>
          <p:nvSpPr>
            <p:cNvPr id="19" name="Freeform 19"/>
            <p:cNvSpPr/>
            <p:nvPr/>
          </p:nvSpPr>
          <p:spPr>
            <a:xfrm>
              <a:off x="0" y="0"/>
              <a:ext cx="152400" cy="6833997"/>
            </a:xfrm>
            <a:custGeom>
              <a:avLst/>
              <a:gdLst/>
              <a:ahLst/>
              <a:cxnLst/>
              <a:rect l="l" t="t" r="r" b="b"/>
              <a:pathLst>
                <a:path w="152400" h="6833997">
                  <a:moveTo>
                    <a:pt x="0" y="76200"/>
                  </a:moveTo>
                  <a:cubicBezTo>
                    <a:pt x="0" y="34163"/>
                    <a:pt x="34163" y="0"/>
                    <a:pt x="76200" y="0"/>
                  </a:cubicBezTo>
                  <a:cubicBezTo>
                    <a:pt x="118237" y="0"/>
                    <a:pt x="152400" y="34163"/>
                    <a:pt x="152400" y="76200"/>
                  </a:cubicBezTo>
                  <a:lnTo>
                    <a:pt x="152400" y="6757797"/>
                  </a:lnTo>
                  <a:cubicBezTo>
                    <a:pt x="152400" y="6799834"/>
                    <a:pt x="118237" y="6833997"/>
                    <a:pt x="76200" y="6833997"/>
                  </a:cubicBezTo>
                  <a:cubicBezTo>
                    <a:pt x="34163" y="6833997"/>
                    <a:pt x="0" y="6799834"/>
                    <a:pt x="0" y="6757797"/>
                  </a:cubicBezTo>
                  <a:close/>
                </a:path>
              </a:pathLst>
            </a:custGeom>
            <a:solidFill>
              <a:srgbClr val="224435"/>
            </a:solidFill>
          </p:spPr>
        </p:sp>
      </p:grpSp>
      <p:sp>
        <p:nvSpPr>
          <p:cNvPr id="20" name="TextBox 20"/>
          <p:cNvSpPr txBox="1"/>
          <p:nvPr/>
        </p:nvSpPr>
        <p:spPr>
          <a:xfrm>
            <a:off x="6871545" y="4019702"/>
            <a:ext cx="3133430" cy="406746"/>
          </a:xfrm>
          <a:prstGeom prst="rect">
            <a:avLst/>
          </a:prstGeom>
        </p:spPr>
        <p:txBody>
          <a:bodyPr lIns="0" tIns="0" rIns="0" bIns="0" rtlCol="0" anchor="t">
            <a:spAutoFit/>
          </a:bodyPr>
          <a:lstStyle/>
          <a:p>
            <a:pPr algn="l">
              <a:lnSpc>
                <a:spcPts val="2999"/>
              </a:lnSpc>
            </a:pPr>
            <a:r>
              <a:rPr lang="en-US" sz="2437" b="1">
                <a:solidFill>
                  <a:srgbClr val="000000"/>
                </a:solidFill>
                <a:latin typeface="Arimo Bold"/>
                <a:ea typeface="Arimo Bold"/>
                <a:cs typeface="Arimo Bold"/>
                <a:sym typeface="Arimo Bold"/>
              </a:rPr>
              <a:t>🕳️</a:t>
            </a:r>
            <a:r>
              <a:rPr lang="en-US" sz="2437" b="1">
                <a:solidFill>
                  <a:srgbClr val="3B4E4E"/>
                </a:solidFill>
                <a:latin typeface="Arimo Bold"/>
                <a:ea typeface="Arimo Bold"/>
                <a:cs typeface="Arimo Bold"/>
                <a:sym typeface="Arimo Bold"/>
              </a:rPr>
              <a:t> Null Value Audit</a:t>
            </a:r>
          </a:p>
        </p:txBody>
      </p:sp>
      <p:sp>
        <p:nvSpPr>
          <p:cNvPr id="21" name="TextBox 21"/>
          <p:cNvSpPr txBox="1"/>
          <p:nvPr/>
        </p:nvSpPr>
        <p:spPr>
          <a:xfrm>
            <a:off x="6871545" y="4499077"/>
            <a:ext cx="4630493" cy="4102598"/>
          </a:xfrm>
          <a:prstGeom prst="rect">
            <a:avLst/>
          </a:prstGeom>
        </p:spPr>
        <p:txBody>
          <a:bodyPr lIns="0" tIns="0" rIns="0" bIns="0" rtlCol="0" anchor="t">
            <a:spAutoFit/>
          </a:bodyPr>
          <a:lstStyle/>
          <a:p>
            <a:pPr algn="l">
              <a:lnSpc>
                <a:spcPts val="3125"/>
              </a:lnSpc>
            </a:pPr>
            <a:r>
              <a:rPr lang="en-US" sz="1937">
                <a:solidFill>
                  <a:srgbClr val="3B4E4E"/>
                </a:solidFill>
                <a:latin typeface="Overpass Light"/>
                <a:ea typeface="Overpass Light"/>
                <a:cs typeface="Overpass Light"/>
                <a:sym typeface="Overpass Light"/>
              </a:rPr>
              <a:t>Missing values (</a:t>
            </a:r>
            <a:r>
              <a:rPr lang="en-US" sz="1937">
                <a:solidFill>
                  <a:srgbClr val="3B4E4E"/>
                </a:solidFill>
                <a:latin typeface="Overpass"/>
                <a:ea typeface="Overpass"/>
                <a:cs typeface="Overpass"/>
                <a:sym typeface="Overpass"/>
              </a:rPr>
              <a:t>NaN</a:t>
            </a:r>
            <a:r>
              <a:rPr lang="en-US" sz="1937">
                <a:solidFill>
                  <a:srgbClr val="3B4E4E"/>
                </a:solidFill>
                <a:latin typeface="Overpass Light"/>
                <a:ea typeface="Overpass Light"/>
                <a:cs typeface="Overpass Light"/>
                <a:sym typeface="Overpass Light"/>
              </a:rPr>
              <a:t>) must be identified with </a:t>
            </a:r>
            <a:r>
              <a:rPr lang="en-US" sz="1937">
                <a:solidFill>
                  <a:srgbClr val="3B4E4E"/>
                </a:solidFill>
                <a:latin typeface="Overpass"/>
                <a:ea typeface="Overpass"/>
                <a:cs typeface="Overpass"/>
                <a:sym typeface="Overpass"/>
              </a:rPr>
              <a:t>df.isnull().sum()</a:t>
            </a:r>
            <a:r>
              <a:rPr lang="en-US" sz="1937">
                <a:solidFill>
                  <a:srgbClr val="3B4E4E"/>
                </a:solidFill>
                <a:latin typeface="Overpass Light"/>
                <a:ea typeface="Overpass Light"/>
                <a:cs typeface="Overpass Light"/>
                <a:sym typeface="Overpass Light"/>
              </a:rPr>
              <a:t> and handled strategically. Options include: removing rows with excessive missingness, imputing with column means/medians for numerical features, or using the most frequent category for categorical features. The chosen strategy depends on the volume and pattern of missingness — random vs. systematic.</a:t>
            </a:r>
          </a:p>
        </p:txBody>
      </p:sp>
      <p:grpSp>
        <p:nvGrpSpPr>
          <p:cNvPr id="22" name="Group 22"/>
          <p:cNvGrpSpPr/>
          <p:nvPr/>
        </p:nvGrpSpPr>
        <p:grpSpPr>
          <a:xfrm>
            <a:off x="12012216" y="3738410"/>
            <a:ext cx="5297691" cy="5154063"/>
            <a:chOff x="0" y="0"/>
            <a:chExt cx="7063588" cy="6872084"/>
          </a:xfrm>
        </p:grpSpPr>
        <p:sp>
          <p:nvSpPr>
            <p:cNvPr id="23" name="Freeform 23"/>
            <p:cNvSpPr/>
            <p:nvPr/>
          </p:nvSpPr>
          <p:spPr>
            <a:xfrm>
              <a:off x="19050" y="19050"/>
              <a:ext cx="7025513" cy="6833998"/>
            </a:xfrm>
            <a:custGeom>
              <a:avLst/>
              <a:gdLst/>
              <a:ahLst/>
              <a:cxnLst/>
              <a:rect l="l" t="t" r="r" b="b"/>
              <a:pathLst>
                <a:path w="7025513" h="6833998">
                  <a:moveTo>
                    <a:pt x="0" y="182880"/>
                  </a:moveTo>
                  <a:cubicBezTo>
                    <a:pt x="0" y="81915"/>
                    <a:pt x="81915" y="0"/>
                    <a:pt x="182880" y="0"/>
                  </a:cubicBezTo>
                  <a:lnTo>
                    <a:pt x="6842633" y="0"/>
                  </a:lnTo>
                  <a:cubicBezTo>
                    <a:pt x="6943598" y="0"/>
                    <a:pt x="7025513" y="81915"/>
                    <a:pt x="7025513" y="182880"/>
                  </a:cubicBezTo>
                  <a:lnTo>
                    <a:pt x="7025513" y="6651117"/>
                  </a:lnTo>
                  <a:cubicBezTo>
                    <a:pt x="7025513" y="6752082"/>
                    <a:pt x="6943598" y="6833998"/>
                    <a:pt x="6842633" y="6833998"/>
                  </a:cubicBezTo>
                  <a:lnTo>
                    <a:pt x="182880" y="6833998"/>
                  </a:lnTo>
                  <a:cubicBezTo>
                    <a:pt x="81915" y="6833998"/>
                    <a:pt x="0" y="6752082"/>
                    <a:pt x="0" y="6651117"/>
                  </a:cubicBezTo>
                  <a:close/>
                </a:path>
              </a:pathLst>
            </a:custGeom>
            <a:solidFill>
              <a:srgbClr val="FFFDE6"/>
            </a:solidFill>
          </p:spPr>
        </p:sp>
        <p:sp>
          <p:nvSpPr>
            <p:cNvPr id="24" name="Freeform 24"/>
            <p:cNvSpPr/>
            <p:nvPr/>
          </p:nvSpPr>
          <p:spPr>
            <a:xfrm>
              <a:off x="0" y="0"/>
              <a:ext cx="7063613" cy="6872098"/>
            </a:xfrm>
            <a:custGeom>
              <a:avLst/>
              <a:gdLst/>
              <a:ahLst/>
              <a:cxnLst/>
              <a:rect l="l" t="t" r="r" b="b"/>
              <a:pathLst>
                <a:path w="7063613" h="6872098">
                  <a:moveTo>
                    <a:pt x="0" y="201930"/>
                  </a:moveTo>
                  <a:cubicBezTo>
                    <a:pt x="0" y="90424"/>
                    <a:pt x="90424" y="0"/>
                    <a:pt x="201930" y="0"/>
                  </a:cubicBezTo>
                  <a:lnTo>
                    <a:pt x="6861683" y="0"/>
                  </a:lnTo>
                  <a:lnTo>
                    <a:pt x="6861683" y="19050"/>
                  </a:lnTo>
                  <a:lnTo>
                    <a:pt x="6861683" y="0"/>
                  </a:lnTo>
                  <a:cubicBezTo>
                    <a:pt x="6973189" y="0"/>
                    <a:pt x="7063613" y="90424"/>
                    <a:pt x="7063613" y="201930"/>
                  </a:cubicBezTo>
                  <a:lnTo>
                    <a:pt x="7044563" y="201930"/>
                  </a:lnTo>
                  <a:lnTo>
                    <a:pt x="7063613" y="201930"/>
                  </a:lnTo>
                  <a:lnTo>
                    <a:pt x="7063613" y="6670167"/>
                  </a:lnTo>
                  <a:lnTo>
                    <a:pt x="7044563" y="6670167"/>
                  </a:lnTo>
                  <a:lnTo>
                    <a:pt x="7063613" y="6670167"/>
                  </a:lnTo>
                  <a:cubicBezTo>
                    <a:pt x="7063613" y="6781674"/>
                    <a:pt x="6973189" y="6872098"/>
                    <a:pt x="6861683" y="6872098"/>
                  </a:cubicBezTo>
                  <a:lnTo>
                    <a:pt x="6861683" y="6853048"/>
                  </a:lnTo>
                  <a:lnTo>
                    <a:pt x="6861683" y="6872098"/>
                  </a:lnTo>
                  <a:lnTo>
                    <a:pt x="201930" y="6872098"/>
                  </a:lnTo>
                  <a:lnTo>
                    <a:pt x="201930" y="6853048"/>
                  </a:lnTo>
                  <a:lnTo>
                    <a:pt x="201930" y="6872098"/>
                  </a:lnTo>
                  <a:cubicBezTo>
                    <a:pt x="90424" y="6872098"/>
                    <a:pt x="0" y="6781674"/>
                    <a:pt x="0" y="6670167"/>
                  </a:cubicBezTo>
                  <a:lnTo>
                    <a:pt x="0" y="201930"/>
                  </a:lnTo>
                  <a:lnTo>
                    <a:pt x="19050" y="201930"/>
                  </a:lnTo>
                  <a:lnTo>
                    <a:pt x="0" y="201930"/>
                  </a:lnTo>
                  <a:moveTo>
                    <a:pt x="38100" y="201930"/>
                  </a:moveTo>
                  <a:lnTo>
                    <a:pt x="38100" y="6670167"/>
                  </a:lnTo>
                  <a:lnTo>
                    <a:pt x="19050" y="6670167"/>
                  </a:lnTo>
                  <a:lnTo>
                    <a:pt x="38100" y="6670167"/>
                  </a:lnTo>
                  <a:cubicBezTo>
                    <a:pt x="38100" y="6760591"/>
                    <a:pt x="111506" y="6833998"/>
                    <a:pt x="201930" y="6833998"/>
                  </a:cubicBezTo>
                  <a:lnTo>
                    <a:pt x="6861683" y="6833998"/>
                  </a:lnTo>
                  <a:cubicBezTo>
                    <a:pt x="6952234" y="6833998"/>
                    <a:pt x="7025513" y="6760591"/>
                    <a:pt x="7025513" y="6670167"/>
                  </a:cubicBezTo>
                  <a:lnTo>
                    <a:pt x="7025513" y="201930"/>
                  </a:lnTo>
                  <a:cubicBezTo>
                    <a:pt x="7025513" y="111506"/>
                    <a:pt x="6952107" y="38100"/>
                    <a:pt x="6861683" y="38100"/>
                  </a:cubicBezTo>
                  <a:lnTo>
                    <a:pt x="201930" y="38100"/>
                  </a:lnTo>
                  <a:lnTo>
                    <a:pt x="201930" y="19050"/>
                  </a:lnTo>
                  <a:lnTo>
                    <a:pt x="201930" y="38100"/>
                  </a:lnTo>
                  <a:cubicBezTo>
                    <a:pt x="111506" y="38100"/>
                    <a:pt x="38100" y="111506"/>
                    <a:pt x="38100" y="201930"/>
                  </a:cubicBezTo>
                  <a:close/>
                </a:path>
              </a:pathLst>
            </a:custGeom>
            <a:solidFill>
              <a:srgbClr val="C3D4CC"/>
            </a:solidFill>
          </p:spPr>
        </p:sp>
      </p:grpSp>
      <p:grpSp>
        <p:nvGrpSpPr>
          <p:cNvPr id="25" name="Group 25"/>
          <p:cNvGrpSpPr/>
          <p:nvPr/>
        </p:nvGrpSpPr>
        <p:grpSpPr>
          <a:xfrm>
            <a:off x="11997928" y="3752698"/>
            <a:ext cx="114300" cy="5125488"/>
            <a:chOff x="0" y="0"/>
            <a:chExt cx="152400" cy="6833984"/>
          </a:xfrm>
        </p:grpSpPr>
        <p:sp>
          <p:nvSpPr>
            <p:cNvPr id="26" name="Freeform 26"/>
            <p:cNvSpPr/>
            <p:nvPr/>
          </p:nvSpPr>
          <p:spPr>
            <a:xfrm>
              <a:off x="0" y="0"/>
              <a:ext cx="152400" cy="6833997"/>
            </a:xfrm>
            <a:custGeom>
              <a:avLst/>
              <a:gdLst/>
              <a:ahLst/>
              <a:cxnLst/>
              <a:rect l="l" t="t" r="r" b="b"/>
              <a:pathLst>
                <a:path w="152400" h="6833997">
                  <a:moveTo>
                    <a:pt x="0" y="76200"/>
                  </a:moveTo>
                  <a:cubicBezTo>
                    <a:pt x="0" y="34163"/>
                    <a:pt x="34163" y="0"/>
                    <a:pt x="76200" y="0"/>
                  </a:cubicBezTo>
                  <a:cubicBezTo>
                    <a:pt x="118237" y="0"/>
                    <a:pt x="152400" y="34163"/>
                    <a:pt x="152400" y="76200"/>
                  </a:cubicBezTo>
                  <a:lnTo>
                    <a:pt x="152400" y="6757797"/>
                  </a:lnTo>
                  <a:cubicBezTo>
                    <a:pt x="152400" y="6799834"/>
                    <a:pt x="118237" y="6833997"/>
                    <a:pt x="76200" y="6833997"/>
                  </a:cubicBezTo>
                  <a:cubicBezTo>
                    <a:pt x="34163" y="6833997"/>
                    <a:pt x="0" y="6799834"/>
                    <a:pt x="0" y="6757797"/>
                  </a:cubicBezTo>
                  <a:close/>
                </a:path>
              </a:pathLst>
            </a:custGeom>
            <a:solidFill>
              <a:srgbClr val="224435"/>
            </a:solidFill>
          </p:spPr>
        </p:sp>
      </p:grpSp>
      <p:sp>
        <p:nvSpPr>
          <p:cNvPr id="27" name="TextBox 27"/>
          <p:cNvSpPr txBox="1"/>
          <p:nvPr/>
        </p:nvSpPr>
        <p:spPr>
          <a:xfrm>
            <a:off x="12388748" y="4019702"/>
            <a:ext cx="4264371" cy="406746"/>
          </a:xfrm>
          <a:prstGeom prst="rect">
            <a:avLst/>
          </a:prstGeom>
        </p:spPr>
        <p:txBody>
          <a:bodyPr lIns="0" tIns="0" rIns="0" bIns="0" rtlCol="0" anchor="t">
            <a:spAutoFit/>
          </a:bodyPr>
          <a:lstStyle/>
          <a:p>
            <a:pPr algn="l">
              <a:lnSpc>
                <a:spcPts val="2999"/>
              </a:lnSpc>
            </a:pPr>
            <a:r>
              <a:rPr lang="en-US" sz="2437" b="1">
                <a:solidFill>
                  <a:srgbClr val="000000"/>
                </a:solidFill>
                <a:latin typeface="Arimo Bold"/>
                <a:ea typeface="Arimo Bold"/>
                <a:cs typeface="Arimo Bold"/>
                <a:sym typeface="Arimo Bold"/>
              </a:rPr>
              <a:t>⚠️</a:t>
            </a:r>
            <a:r>
              <a:rPr lang="en-US" sz="2437" b="1">
                <a:solidFill>
                  <a:srgbClr val="3B4E4E"/>
                </a:solidFill>
                <a:latin typeface="Arimo Bold"/>
                <a:ea typeface="Arimo Bold"/>
                <a:cs typeface="Arimo Bold"/>
                <a:sym typeface="Arimo Bold"/>
              </a:rPr>
              <a:t> Logical Error Scanning</a:t>
            </a:r>
          </a:p>
        </p:txBody>
      </p:sp>
      <p:sp>
        <p:nvSpPr>
          <p:cNvPr id="28" name="TextBox 28"/>
          <p:cNvSpPr txBox="1"/>
          <p:nvPr/>
        </p:nvSpPr>
        <p:spPr>
          <a:xfrm>
            <a:off x="12388748" y="4499077"/>
            <a:ext cx="4630341" cy="3648523"/>
          </a:xfrm>
          <a:prstGeom prst="rect">
            <a:avLst/>
          </a:prstGeom>
        </p:spPr>
        <p:txBody>
          <a:bodyPr lIns="0" tIns="0" rIns="0" bIns="0" rtlCol="0" anchor="t">
            <a:spAutoFit/>
          </a:bodyPr>
          <a:lstStyle/>
          <a:p>
            <a:pPr algn="l">
              <a:lnSpc>
                <a:spcPts val="3125"/>
              </a:lnSpc>
            </a:pPr>
            <a:r>
              <a:rPr lang="en-US" sz="1937">
                <a:solidFill>
                  <a:srgbClr val="3B4E4E"/>
                </a:solidFill>
                <a:latin typeface="Overpass Light"/>
                <a:ea typeface="Overpass Light"/>
                <a:cs typeface="Overpass Light"/>
                <a:sym typeface="Overpass Light"/>
              </a:rPr>
              <a:t>Beyond missing data, we scan for values that are technically present but logically impossible — such as </a:t>
            </a:r>
            <a:r>
              <a:rPr lang="en-US" sz="1937" b="1">
                <a:solidFill>
                  <a:srgbClr val="3B4E4E"/>
                </a:solidFill>
                <a:latin typeface="Overpass Bold"/>
                <a:ea typeface="Overpass Bold"/>
                <a:cs typeface="Overpass Bold"/>
                <a:sym typeface="Overpass Bold"/>
              </a:rPr>
              <a:t>negative prices</a:t>
            </a:r>
            <a:r>
              <a:rPr lang="en-US" sz="1937">
                <a:solidFill>
                  <a:srgbClr val="3B4E4E"/>
                </a:solidFill>
                <a:latin typeface="Overpass Light"/>
                <a:ea typeface="Overpass Light"/>
                <a:cs typeface="Overpass Light"/>
                <a:sym typeface="Overpass Light"/>
              </a:rPr>
              <a:t>, </a:t>
            </a:r>
            <a:r>
              <a:rPr lang="en-US" sz="1937" b="1">
                <a:solidFill>
                  <a:srgbClr val="3B4E4E"/>
                </a:solidFill>
                <a:latin typeface="Overpass Bold"/>
                <a:ea typeface="Overpass Bold"/>
                <a:cs typeface="Overpass Bold"/>
                <a:sym typeface="Overpass Bold"/>
              </a:rPr>
              <a:t>zero engine sizes</a:t>
            </a:r>
            <a:r>
              <a:rPr lang="en-US" sz="1937">
                <a:solidFill>
                  <a:srgbClr val="3B4E4E"/>
                </a:solidFill>
                <a:latin typeface="Overpass Light"/>
                <a:ea typeface="Overpass Light"/>
                <a:cs typeface="Overpass Light"/>
                <a:sym typeface="Overpass Light"/>
              </a:rPr>
              <a:t>, or </a:t>
            </a:r>
            <a:r>
              <a:rPr lang="en-US" sz="1937" b="1">
                <a:solidFill>
                  <a:srgbClr val="3B4E4E"/>
                </a:solidFill>
                <a:latin typeface="Overpass Bold"/>
                <a:ea typeface="Overpass Bold"/>
                <a:cs typeface="Overpass Bold"/>
                <a:sym typeface="Overpass Bold"/>
              </a:rPr>
              <a:t>horsepower values outside realistic ranges</a:t>
            </a:r>
            <a:r>
              <a:rPr lang="en-US" sz="1937">
                <a:solidFill>
                  <a:srgbClr val="3B4E4E"/>
                </a:solidFill>
                <a:latin typeface="Overpass Light"/>
                <a:ea typeface="Overpass Light"/>
                <a:cs typeface="Overpass Light"/>
                <a:sym typeface="Overpass Light"/>
              </a:rPr>
              <a:t>. These outliers can dramatically distort model training. Domain knowledge is critical here: a 5000 cc engine is plausible; a −50 cc engine is not.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9F4BE"/>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DE6"/>
            </a:solidFill>
          </p:spPr>
        </p:sp>
      </p:grpSp>
      <p:sp>
        <p:nvSpPr>
          <p:cNvPr id="6" name="TextBox 6"/>
          <p:cNvSpPr txBox="1"/>
          <p:nvPr/>
        </p:nvSpPr>
        <p:spPr>
          <a:xfrm>
            <a:off x="992238" y="1010098"/>
            <a:ext cx="8127054" cy="542030"/>
          </a:xfrm>
          <a:prstGeom prst="rect">
            <a:avLst/>
          </a:prstGeom>
        </p:spPr>
        <p:txBody>
          <a:bodyPr lIns="0" tIns="0" rIns="0" bIns="0" rtlCol="0" anchor="t">
            <a:spAutoFit/>
          </a:bodyPr>
          <a:lstStyle/>
          <a:p>
            <a:pPr algn="l">
              <a:lnSpc>
                <a:spcPts val="3937"/>
              </a:lnSpc>
            </a:pPr>
            <a:r>
              <a:rPr lang="en-US" sz="3125" b="1">
                <a:solidFill>
                  <a:srgbClr val="233939"/>
                </a:solidFill>
                <a:latin typeface="Arimo Bold"/>
                <a:ea typeface="Arimo Bold"/>
                <a:cs typeface="Arimo Bold"/>
                <a:sym typeface="Arimo Bold"/>
              </a:rPr>
              <a:t>Data Cleaning &amp; Feature Engineering</a:t>
            </a:r>
          </a:p>
        </p:txBody>
      </p:sp>
      <p:sp>
        <p:nvSpPr>
          <p:cNvPr id="7" name="TextBox 7"/>
          <p:cNvSpPr txBox="1"/>
          <p:nvPr/>
        </p:nvSpPr>
        <p:spPr>
          <a:xfrm>
            <a:off x="992238" y="1752152"/>
            <a:ext cx="16303523" cy="435178"/>
          </a:xfrm>
          <a:prstGeom prst="rect">
            <a:avLst/>
          </a:prstGeom>
        </p:spPr>
        <p:txBody>
          <a:bodyPr lIns="0" tIns="0" rIns="0" bIns="0" rtlCol="0" anchor="t">
            <a:spAutoFit/>
          </a:bodyPr>
          <a:lstStyle/>
          <a:p>
            <a:pPr algn="l">
              <a:lnSpc>
                <a:spcPts val="1625"/>
              </a:lnSpc>
            </a:pPr>
            <a:r>
              <a:rPr lang="en-US" sz="1249">
                <a:solidFill>
                  <a:srgbClr val="3B4E4E"/>
                </a:solidFill>
                <a:latin typeface="Overpass Light"/>
                <a:ea typeface="Overpass Light"/>
                <a:cs typeface="Overpass Light"/>
                <a:sym typeface="Overpass Light"/>
              </a:rPr>
              <a:t>Once data quality issues are resolved, we move to feature engineering — the art of shaping raw attributes into inputs that help the model learn more effectively. This phase removes noise, corrects data types, and prepares the feature space for encoding and modeling.</a:t>
            </a:r>
          </a:p>
        </p:txBody>
      </p:sp>
      <p:grpSp>
        <p:nvGrpSpPr>
          <p:cNvPr id="8" name="Group 8"/>
          <p:cNvGrpSpPr/>
          <p:nvPr/>
        </p:nvGrpSpPr>
        <p:grpSpPr>
          <a:xfrm>
            <a:off x="876148" y="2305202"/>
            <a:ext cx="8187328" cy="2790825"/>
            <a:chOff x="0" y="0"/>
            <a:chExt cx="10916437" cy="3721100"/>
          </a:xfrm>
        </p:grpSpPr>
        <p:sp>
          <p:nvSpPr>
            <p:cNvPr id="9" name="Freeform 9"/>
            <p:cNvSpPr/>
            <p:nvPr/>
          </p:nvSpPr>
          <p:spPr>
            <a:xfrm>
              <a:off x="0" y="0"/>
              <a:ext cx="10916412" cy="3721100"/>
            </a:xfrm>
            <a:custGeom>
              <a:avLst/>
              <a:gdLst/>
              <a:ahLst/>
              <a:cxnLst/>
              <a:rect l="l" t="t" r="r" b="b"/>
              <a:pathLst>
                <a:path w="10916412" h="3721100">
                  <a:moveTo>
                    <a:pt x="0" y="154813"/>
                  </a:moveTo>
                  <a:cubicBezTo>
                    <a:pt x="0" y="69342"/>
                    <a:pt x="69342" y="0"/>
                    <a:pt x="154813" y="0"/>
                  </a:cubicBezTo>
                  <a:lnTo>
                    <a:pt x="10761599" y="0"/>
                  </a:lnTo>
                  <a:cubicBezTo>
                    <a:pt x="10847070" y="0"/>
                    <a:pt x="10916412" y="69342"/>
                    <a:pt x="10916412" y="154813"/>
                  </a:cubicBezTo>
                  <a:lnTo>
                    <a:pt x="10916412" y="3566287"/>
                  </a:lnTo>
                  <a:cubicBezTo>
                    <a:pt x="10916412" y="3651758"/>
                    <a:pt x="10847070" y="3721100"/>
                    <a:pt x="10761599" y="3721100"/>
                  </a:cubicBezTo>
                  <a:lnTo>
                    <a:pt x="154813" y="3721100"/>
                  </a:lnTo>
                  <a:cubicBezTo>
                    <a:pt x="69342" y="3721100"/>
                    <a:pt x="0" y="3651758"/>
                    <a:pt x="0" y="3566287"/>
                  </a:cubicBezTo>
                  <a:close/>
                </a:path>
              </a:pathLst>
            </a:custGeom>
            <a:solidFill>
              <a:srgbClr val="224435"/>
            </a:solidFill>
          </p:spPr>
        </p:sp>
      </p:grpSp>
      <p:sp>
        <p:nvSpPr>
          <p:cNvPr id="10" name="TextBox 10"/>
          <p:cNvSpPr txBox="1"/>
          <p:nvPr/>
        </p:nvSpPr>
        <p:spPr>
          <a:xfrm>
            <a:off x="1037330" y="2390927"/>
            <a:ext cx="2015728" cy="270872"/>
          </a:xfrm>
          <a:prstGeom prst="rect">
            <a:avLst/>
          </a:prstGeom>
        </p:spPr>
        <p:txBody>
          <a:bodyPr lIns="0" tIns="0" rIns="0" bIns="0" rtlCol="0" anchor="t">
            <a:spAutoFit/>
          </a:bodyPr>
          <a:lstStyle/>
          <a:p>
            <a:pPr algn="l">
              <a:lnSpc>
                <a:spcPts val="1937"/>
              </a:lnSpc>
            </a:pPr>
            <a:r>
              <a:rPr lang="en-US" sz="1562" b="1">
                <a:solidFill>
                  <a:srgbClr val="FFFFFF"/>
                </a:solidFill>
                <a:latin typeface="Arimo Bold"/>
                <a:ea typeface="Arimo Bold"/>
                <a:cs typeface="Arimo Bold"/>
                <a:sym typeface="Arimo Bold"/>
              </a:rPr>
              <a:t>Column Removal</a:t>
            </a:r>
          </a:p>
        </p:txBody>
      </p:sp>
      <p:sp>
        <p:nvSpPr>
          <p:cNvPr id="11" name="TextBox 11"/>
          <p:cNvSpPr txBox="1"/>
          <p:nvPr/>
        </p:nvSpPr>
        <p:spPr>
          <a:xfrm>
            <a:off x="1037330" y="2757040"/>
            <a:ext cx="7864973" cy="686095"/>
          </a:xfrm>
          <a:prstGeom prst="rect">
            <a:avLst/>
          </a:prstGeom>
        </p:spPr>
        <p:txBody>
          <a:bodyPr lIns="0" tIns="0" rIns="0" bIns="0" rtlCol="0" anchor="t">
            <a:spAutoFit/>
          </a:bodyPr>
          <a:lstStyle/>
          <a:p>
            <a:pPr algn="l">
              <a:lnSpc>
                <a:spcPts val="1625"/>
              </a:lnSpc>
            </a:pPr>
            <a:r>
              <a:rPr lang="en-US" sz="1249">
                <a:solidFill>
                  <a:srgbClr val="FFFFFF"/>
                </a:solidFill>
                <a:latin typeface="Overpass Light"/>
                <a:ea typeface="Overpass Light"/>
                <a:cs typeface="Overpass Light"/>
                <a:sym typeface="Overpass Light"/>
              </a:rPr>
              <a:t>Not all columns in a dataset are useful for prediction. The </a:t>
            </a:r>
            <a:r>
              <a:rPr lang="en-US" sz="1249">
                <a:solidFill>
                  <a:srgbClr val="FFFFFF"/>
                </a:solidFill>
                <a:latin typeface="Overpass"/>
                <a:ea typeface="Overpass"/>
                <a:cs typeface="Overpass"/>
                <a:sym typeface="Overpass"/>
              </a:rPr>
              <a:t>car_ID</a:t>
            </a:r>
            <a:r>
              <a:rPr lang="en-US" sz="1249">
                <a:solidFill>
                  <a:srgbClr val="FFFFFF"/>
                </a:solidFill>
                <a:latin typeface="Overpass Light"/>
                <a:ea typeface="Overpass Light"/>
                <a:cs typeface="Overpass Light"/>
                <a:sym typeface="Overpass Light"/>
              </a:rPr>
              <a:t> column, for example, is a unique identifier with no predictive power — every value is distinct, so it cannot generalize to new data. Including such columns introduces noise and can cause overfitting. We drop these with </a:t>
            </a:r>
            <a:r>
              <a:rPr lang="en-US" sz="1249">
                <a:solidFill>
                  <a:srgbClr val="FFFFFF"/>
                </a:solidFill>
                <a:latin typeface="Overpass"/>
                <a:ea typeface="Overpass"/>
                <a:cs typeface="Overpass"/>
                <a:sym typeface="Overpass"/>
              </a:rPr>
              <a:t>df.drop(['car_ID'], axis=1)</a:t>
            </a:r>
            <a:r>
              <a:rPr lang="en-US" sz="1249">
                <a:solidFill>
                  <a:srgbClr val="FFFFFF"/>
                </a:solidFill>
                <a:latin typeface="Overpass Light"/>
                <a:ea typeface="Overpass Light"/>
                <a:cs typeface="Overpass Light"/>
                <a:sym typeface="Overpass Light"/>
              </a:rPr>
              <a:t>.</a:t>
            </a:r>
          </a:p>
        </p:txBody>
      </p:sp>
      <p:sp>
        <p:nvSpPr>
          <p:cNvPr id="12" name="TextBox 12"/>
          <p:cNvSpPr txBox="1"/>
          <p:nvPr/>
        </p:nvSpPr>
        <p:spPr>
          <a:xfrm>
            <a:off x="1037330" y="3527822"/>
            <a:ext cx="7864973" cy="435178"/>
          </a:xfrm>
          <a:prstGeom prst="rect">
            <a:avLst/>
          </a:prstGeom>
        </p:spPr>
        <p:txBody>
          <a:bodyPr lIns="0" tIns="0" rIns="0" bIns="0" rtlCol="0" anchor="t">
            <a:spAutoFit/>
          </a:bodyPr>
          <a:lstStyle/>
          <a:p>
            <a:pPr algn="l">
              <a:lnSpc>
                <a:spcPts val="1625"/>
              </a:lnSpc>
            </a:pPr>
            <a:r>
              <a:rPr lang="en-US" sz="1249">
                <a:solidFill>
                  <a:srgbClr val="FFFFFF"/>
                </a:solidFill>
                <a:latin typeface="Overpass Light"/>
                <a:ea typeface="Overpass Light"/>
                <a:cs typeface="Overpass Light"/>
                <a:sym typeface="Overpass Light"/>
              </a:rPr>
              <a:t>Other candidates for removal may include columns with near-zero variance (almost all values are the same) or columns that leak future information not available at prediction time.</a:t>
            </a:r>
          </a:p>
        </p:txBody>
      </p:sp>
      <p:sp>
        <p:nvSpPr>
          <p:cNvPr id="13" name="TextBox 13"/>
          <p:cNvSpPr txBox="1"/>
          <p:nvPr/>
        </p:nvSpPr>
        <p:spPr>
          <a:xfrm>
            <a:off x="9350131" y="2390927"/>
            <a:ext cx="3747640" cy="270872"/>
          </a:xfrm>
          <a:prstGeom prst="rect">
            <a:avLst/>
          </a:prstGeom>
        </p:spPr>
        <p:txBody>
          <a:bodyPr lIns="0" tIns="0" rIns="0" bIns="0" rtlCol="0" anchor="t">
            <a:spAutoFit/>
          </a:bodyPr>
          <a:lstStyle/>
          <a:p>
            <a:pPr algn="l">
              <a:lnSpc>
                <a:spcPts val="1937"/>
              </a:lnSpc>
            </a:pPr>
            <a:r>
              <a:rPr lang="en-US" sz="1562" b="1">
                <a:solidFill>
                  <a:srgbClr val="233939"/>
                </a:solidFill>
                <a:latin typeface="Arimo Bold"/>
                <a:ea typeface="Arimo Bold"/>
                <a:cs typeface="Arimo Bold"/>
                <a:sym typeface="Arimo Bold"/>
              </a:rPr>
              <a:t>Format Correction &amp; Type Casting</a:t>
            </a:r>
          </a:p>
        </p:txBody>
      </p:sp>
      <p:sp>
        <p:nvSpPr>
          <p:cNvPr id="14" name="TextBox 14"/>
          <p:cNvSpPr txBox="1"/>
          <p:nvPr/>
        </p:nvSpPr>
        <p:spPr>
          <a:xfrm>
            <a:off x="9350131" y="2757040"/>
            <a:ext cx="7955166" cy="879872"/>
          </a:xfrm>
          <a:prstGeom prst="rect">
            <a:avLst/>
          </a:prstGeom>
        </p:spPr>
        <p:txBody>
          <a:bodyPr lIns="0" tIns="0" rIns="0" bIns="0" rtlCol="0" anchor="t">
            <a:spAutoFit/>
          </a:bodyPr>
          <a:lstStyle/>
          <a:p>
            <a:pPr algn="l">
              <a:lnSpc>
                <a:spcPts val="1625"/>
              </a:lnSpc>
            </a:pPr>
            <a:r>
              <a:rPr lang="en-US" sz="1249">
                <a:solidFill>
                  <a:srgbClr val="3B4E4E"/>
                </a:solidFill>
                <a:latin typeface="Overpass Light"/>
                <a:ea typeface="Overpass Light"/>
                <a:cs typeface="Overpass Light"/>
                <a:sym typeface="Overpass Light"/>
              </a:rPr>
              <a:t>Before encoding categorical variables, we ensure all such columns are properly typed as </a:t>
            </a:r>
            <a:r>
              <a:rPr lang="en-US" sz="1249">
                <a:solidFill>
                  <a:srgbClr val="3B4E4E"/>
                </a:solidFill>
                <a:latin typeface="Overpass"/>
                <a:ea typeface="Overpass"/>
                <a:cs typeface="Overpass"/>
                <a:sym typeface="Overpass"/>
              </a:rPr>
              <a:t>object</a:t>
            </a:r>
            <a:r>
              <a:rPr lang="en-US" sz="1249">
                <a:solidFill>
                  <a:srgbClr val="3B4E4E"/>
                </a:solidFill>
                <a:latin typeface="Overpass Light"/>
                <a:ea typeface="Overpass Light"/>
                <a:cs typeface="Overpass Light"/>
                <a:sym typeface="Overpass Light"/>
              </a:rPr>
              <a:t> or </a:t>
            </a:r>
            <a:r>
              <a:rPr lang="en-US" sz="1249">
                <a:solidFill>
                  <a:srgbClr val="3B4E4E"/>
                </a:solidFill>
                <a:latin typeface="Overpass"/>
                <a:ea typeface="Overpass"/>
                <a:cs typeface="Overpass"/>
                <a:sym typeface="Overpass"/>
              </a:rPr>
              <a:t>category</a:t>
            </a:r>
            <a:r>
              <a:rPr lang="en-US" sz="1249">
                <a:solidFill>
                  <a:srgbClr val="3B4E4E"/>
                </a:solidFill>
                <a:latin typeface="Overpass Light"/>
                <a:ea typeface="Overpass Light"/>
                <a:cs typeface="Overpass Light"/>
                <a:sym typeface="Overpass Light"/>
              </a:rPr>
              <a:t> in Pandas. Sometimes numeric-looking columns (e.g., a "0/1" flag stored as int) are actually categorical and should be recast. Conversely, columns stored as objects that contain numeric data (e.g., "1200" stored as a string) must be converted to integers or floats.</a:t>
            </a:r>
          </a:p>
        </p:txBody>
      </p:sp>
      <p:sp>
        <p:nvSpPr>
          <p:cNvPr id="15" name="TextBox 15"/>
          <p:cNvSpPr txBox="1"/>
          <p:nvPr/>
        </p:nvSpPr>
        <p:spPr>
          <a:xfrm>
            <a:off x="9350131" y="3722637"/>
            <a:ext cx="3784844" cy="270872"/>
          </a:xfrm>
          <a:prstGeom prst="rect">
            <a:avLst/>
          </a:prstGeom>
        </p:spPr>
        <p:txBody>
          <a:bodyPr lIns="0" tIns="0" rIns="0" bIns="0" rtlCol="0" anchor="t">
            <a:spAutoFit/>
          </a:bodyPr>
          <a:lstStyle/>
          <a:p>
            <a:pPr algn="l">
              <a:lnSpc>
                <a:spcPts val="1937"/>
              </a:lnSpc>
            </a:pPr>
            <a:r>
              <a:rPr lang="en-US" sz="1562" b="1">
                <a:solidFill>
                  <a:srgbClr val="233939"/>
                </a:solidFill>
                <a:latin typeface="Arimo Bold"/>
                <a:ea typeface="Arimo Bold"/>
                <a:cs typeface="Arimo Bold"/>
                <a:sym typeface="Arimo Bold"/>
              </a:rPr>
              <a:t>Feature Engineering Opportunities</a:t>
            </a:r>
          </a:p>
        </p:txBody>
      </p:sp>
      <p:sp>
        <p:nvSpPr>
          <p:cNvPr id="16" name="TextBox 16"/>
          <p:cNvSpPr txBox="1"/>
          <p:nvPr/>
        </p:nvSpPr>
        <p:spPr>
          <a:xfrm>
            <a:off x="9350131" y="4088759"/>
            <a:ext cx="7955166" cy="970655"/>
          </a:xfrm>
          <a:prstGeom prst="rect">
            <a:avLst/>
          </a:prstGeom>
        </p:spPr>
        <p:txBody>
          <a:bodyPr lIns="0" tIns="0" rIns="0" bIns="0" rtlCol="0" anchor="t">
            <a:spAutoFit/>
          </a:bodyPr>
          <a:lstStyle/>
          <a:p>
            <a:pPr marL="188516" lvl="1" indent="-94258" algn="l">
              <a:lnSpc>
                <a:spcPts val="1625"/>
              </a:lnSpc>
              <a:buFont typeface="Arial"/>
              <a:buChar char="•"/>
            </a:pPr>
            <a:r>
              <a:rPr lang="en-US" sz="1249" b="1">
                <a:solidFill>
                  <a:srgbClr val="3B4E4E"/>
                </a:solidFill>
                <a:latin typeface="Overpass Bold"/>
                <a:ea typeface="Overpass Bold"/>
                <a:cs typeface="Overpass Bold"/>
                <a:sym typeface="Overpass Bold"/>
              </a:rPr>
              <a:t>Ratios:</a:t>
            </a:r>
            <a:r>
              <a:rPr lang="en-US" sz="1249">
                <a:solidFill>
                  <a:srgbClr val="3B4E4E"/>
                </a:solidFill>
                <a:latin typeface="Overpass Light"/>
                <a:ea typeface="Overpass Light"/>
                <a:cs typeface="Overpass Light"/>
                <a:sym typeface="Overpass Light"/>
              </a:rPr>
              <a:t> Horsepower-to-weight ratio as a proxy for performance</a:t>
            </a:r>
          </a:p>
          <a:p>
            <a:pPr marL="188516" lvl="1" indent="-94258" algn="l">
              <a:lnSpc>
                <a:spcPts val="1625"/>
              </a:lnSpc>
              <a:buFont typeface="Arial"/>
              <a:buChar char="•"/>
            </a:pPr>
            <a:r>
              <a:rPr lang="en-US" sz="1249" b="1">
                <a:solidFill>
                  <a:srgbClr val="3B4E4E"/>
                </a:solidFill>
                <a:latin typeface="Overpass Bold"/>
                <a:ea typeface="Overpass Bold"/>
                <a:cs typeface="Overpass Bold"/>
                <a:sym typeface="Overpass Bold"/>
              </a:rPr>
              <a:t>Binning:</a:t>
            </a:r>
            <a:r>
              <a:rPr lang="en-US" sz="1249">
                <a:solidFill>
                  <a:srgbClr val="3B4E4E"/>
                </a:solidFill>
                <a:latin typeface="Overpass Light"/>
                <a:ea typeface="Overpass Light"/>
                <a:cs typeface="Overpass Light"/>
                <a:sym typeface="Overpass Light"/>
              </a:rPr>
              <a:t> Grouping engine sizes into "small," "medium," "large" categories</a:t>
            </a:r>
          </a:p>
          <a:p>
            <a:pPr marL="188516" lvl="1" indent="-94258" algn="l">
              <a:lnSpc>
                <a:spcPts val="1625"/>
              </a:lnSpc>
              <a:buFont typeface="Arial"/>
              <a:buChar char="•"/>
            </a:pPr>
            <a:r>
              <a:rPr lang="en-US" sz="1249" b="1">
                <a:solidFill>
                  <a:srgbClr val="3B4E4E"/>
                </a:solidFill>
                <a:latin typeface="Overpass Bold"/>
                <a:ea typeface="Overpass Bold"/>
                <a:cs typeface="Overpass Bold"/>
                <a:sym typeface="Overpass Bold"/>
              </a:rPr>
              <a:t>Interactions:</a:t>
            </a:r>
            <a:r>
              <a:rPr lang="en-US" sz="1249">
                <a:solidFill>
                  <a:srgbClr val="3B4E4E"/>
                </a:solidFill>
                <a:latin typeface="Overpass Light"/>
                <a:ea typeface="Overpass Light"/>
                <a:cs typeface="Overpass Light"/>
                <a:sym typeface="Overpass Light"/>
              </a:rPr>
              <a:t> Combining fuel type with aspiration (turbo vs. standard)</a:t>
            </a:r>
          </a:p>
          <a:p>
            <a:pPr marL="188516" lvl="1" indent="-94258" algn="l">
              <a:lnSpc>
                <a:spcPts val="1625"/>
              </a:lnSpc>
              <a:buFont typeface="Arial"/>
              <a:buChar char="•"/>
            </a:pPr>
            <a:r>
              <a:rPr lang="en-US" sz="1249" b="1">
                <a:solidFill>
                  <a:srgbClr val="3B4E4E"/>
                </a:solidFill>
                <a:latin typeface="Overpass Bold"/>
                <a:ea typeface="Overpass Bold"/>
                <a:cs typeface="Overpass Bold"/>
                <a:sym typeface="Overpass Bold"/>
              </a:rPr>
              <a:t>Derived features:</a:t>
            </a:r>
            <a:r>
              <a:rPr lang="en-US" sz="1249">
                <a:solidFill>
                  <a:srgbClr val="3B4E4E"/>
                </a:solidFill>
                <a:latin typeface="Overpass Light"/>
                <a:ea typeface="Overpass Light"/>
                <a:cs typeface="Overpass Light"/>
                <a:sym typeface="Overpass Light"/>
              </a:rPr>
              <a:t> Age of car model if a year column exists</a:t>
            </a:r>
          </a:p>
        </p:txBody>
      </p:sp>
      <p:grpSp>
        <p:nvGrpSpPr>
          <p:cNvPr id="17" name="Group 17"/>
          <p:cNvGrpSpPr/>
          <p:nvPr/>
        </p:nvGrpSpPr>
        <p:grpSpPr>
          <a:xfrm>
            <a:off x="6031859" y="5213899"/>
            <a:ext cx="6224140" cy="3694062"/>
            <a:chOff x="0" y="0"/>
            <a:chExt cx="8298853" cy="4925416"/>
          </a:xfrm>
        </p:grpSpPr>
        <p:sp>
          <p:nvSpPr>
            <p:cNvPr id="18" name="Freeform 18" descr="preencoded.png"/>
            <p:cNvSpPr/>
            <p:nvPr/>
          </p:nvSpPr>
          <p:spPr>
            <a:xfrm>
              <a:off x="0" y="0"/>
              <a:ext cx="8298815" cy="4925441"/>
            </a:xfrm>
            <a:custGeom>
              <a:avLst/>
              <a:gdLst/>
              <a:ahLst/>
              <a:cxnLst/>
              <a:rect l="l" t="t" r="r" b="b"/>
              <a:pathLst>
                <a:path w="8298815" h="4925441">
                  <a:moveTo>
                    <a:pt x="0" y="0"/>
                  </a:moveTo>
                  <a:lnTo>
                    <a:pt x="8298815" y="0"/>
                  </a:lnTo>
                  <a:lnTo>
                    <a:pt x="8298815" y="4925441"/>
                  </a:lnTo>
                  <a:lnTo>
                    <a:pt x="0" y="4925441"/>
                  </a:lnTo>
                  <a:lnTo>
                    <a:pt x="0" y="0"/>
                  </a:lnTo>
                  <a:close/>
                </a:path>
              </a:pathLst>
            </a:custGeom>
            <a:blipFill>
              <a:blip r:embed="rId2"/>
              <a:stretch>
                <a:fillRect t="-56" b="-56"/>
              </a:stretch>
            </a:blipFill>
          </p:spPr>
        </p:sp>
      </p:grpSp>
      <p:sp>
        <p:nvSpPr>
          <p:cNvPr id="19" name="Freeform 19" descr="preencoded.png"/>
          <p:cNvSpPr/>
          <p:nvPr/>
        </p:nvSpPr>
        <p:spPr>
          <a:xfrm>
            <a:off x="10836031" y="6116784"/>
            <a:ext cx="529857" cy="529857"/>
          </a:xfrm>
          <a:custGeom>
            <a:avLst/>
            <a:gdLst/>
            <a:ahLst/>
            <a:cxnLst/>
            <a:rect l="l" t="t" r="r" b="b"/>
            <a:pathLst>
              <a:path w="529857" h="529857">
                <a:moveTo>
                  <a:pt x="0" y="0"/>
                </a:moveTo>
                <a:lnTo>
                  <a:pt x="529856" y="0"/>
                </a:lnTo>
                <a:lnTo>
                  <a:pt x="529856" y="529856"/>
                </a:lnTo>
                <a:lnTo>
                  <a:pt x="0" y="529856"/>
                </a:lnTo>
                <a:lnTo>
                  <a:pt x="0" y="0"/>
                </a:lnTo>
                <a:close/>
              </a:path>
            </a:pathLst>
          </a:custGeom>
          <a:blipFill>
            <a:blip>
              <a:extLst>
                <a:ext uri="{96DAC541-7B7A-43D3-8B79-37D633B846F1}">
                  <asvg:svgBlip xmlns:asvg="http://schemas.microsoft.com/office/drawing/2016/SVG/main" r:embed="rId3"/>
                </a:ext>
              </a:extLst>
            </a:blip>
            <a:stretch>
              <a:fillRect t="-9820" b="-9822"/>
            </a:stretch>
          </a:blipFill>
        </p:spPr>
      </p:sp>
      <p:sp>
        <p:nvSpPr>
          <p:cNvPr id="20" name="TextBox 20"/>
          <p:cNvSpPr txBox="1"/>
          <p:nvPr/>
        </p:nvSpPr>
        <p:spPr>
          <a:xfrm>
            <a:off x="10363952" y="8013001"/>
            <a:ext cx="1547184" cy="336147"/>
          </a:xfrm>
          <a:prstGeom prst="rect">
            <a:avLst/>
          </a:prstGeom>
        </p:spPr>
        <p:txBody>
          <a:bodyPr lIns="0" tIns="0" rIns="0" bIns="0" rtlCol="0" anchor="t">
            <a:spAutoFit/>
          </a:bodyPr>
          <a:lstStyle/>
          <a:p>
            <a:pPr algn="ctr">
              <a:lnSpc>
                <a:spcPts val="2312"/>
              </a:lnSpc>
            </a:pPr>
            <a:r>
              <a:rPr lang="en-US" sz="1874" b="1">
                <a:solidFill>
                  <a:srgbClr val="3B4E4E"/>
                </a:solidFill>
                <a:latin typeface="Arimo Bold"/>
                <a:ea typeface="Arimo Bold"/>
                <a:cs typeface="Arimo Bold"/>
                <a:sym typeface="Arimo Bold"/>
              </a:rPr>
              <a:t>Encode</a:t>
            </a:r>
          </a:p>
        </p:txBody>
      </p:sp>
      <p:sp>
        <p:nvSpPr>
          <p:cNvPr id="21" name="Freeform 21" descr="preencoded.png"/>
          <p:cNvSpPr/>
          <p:nvPr/>
        </p:nvSpPr>
        <p:spPr>
          <a:xfrm>
            <a:off x="8896245" y="6117784"/>
            <a:ext cx="529857" cy="529857"/>
          </a:xfrm>
          <a:custGeom>
            <a:avLst/>
            <a:gdLst/>
            <a:ahLst/>
            <a:cxnLst/>
            <a:rect l="l" t="t" r="r" b="b"/>
            <a:pathLst>
              <a:path w="529857" h="529857">
                <a:moveTo>
                  <a:pt x="0" y="0"/>
                </a:moveTo>
                <a:lnTo>
                  <a:pt x="529857" y="0"/>
                </a:lnTo>
                <a:lnTo>
                  <a:pt x="529857" y="529856"/>
                </a:lnTo>
                <a:lnTo>
                  <a:pt x="0" y="529856"/>
                </a:lnTo>
                <a:lnTo>
                  <a:pt x="0" y="0"/>
                </a:lnTo>
                <a:close/>
              </a:path>
            </a:pathLst>
          </a:custGeom>
          <a:blipFill>
            <a:blip>
              <a:extLst>
                <a:ext uri="{96DAC541-7B7A-43D3-8B79-37D633B846F1}">
                  <asvg:svgBlip xmlns:asvg="http://schemas.microsoft.com/office/drawing/2016/SVG/main" r:embed="rId4"/>
                </a:ext>
              </a:extLst>
            </a:blip>
            <a:stretch>
              <a:fillRect t="-893" b="-893"/>
            </a:stretch>
          </a:blipFill>
        </p:spPr>
      </p:sp>
      <p:sp>
        <p:nvSpPr>
          <p:cNvPr id="22" name="TextBox 22"/>
          <p:cNvSpPr txBox="1"/>
          <p:nvPr/>
        </p:nvSpPr>
        <p:spPr>
          <a:xfrm>
            <a:off x="8414080" y="8013001"/>
            <a:ext cx="1547184" cy="336147"/>
          </a:xfrm>
          <a:prstGeom prst="rect">
            <a:avLst/>
          </a:prstGeom>
        </p:spPr>
        <p:txBody>
          <a:bodyPr lIns="0" tIns="0" rIns="0" bIns="0" rtlCol="0" anchor="t">
            <a:spAutoFit/>
          </a:bodyPr>
          <a:lstStyle/>
          <a:p>
            <a:pPr algn="ctr">
              <a:lnSpc>
                <a:spcPts val="2312"/>
              </a:lnSpc>
            </a:pPr>
            <a:r>
              <a:rPr lang="en-US" sz="1874" b="1">
                <a:solidFill>
                  <a:srgbClr val="3B4E4E"/>
                </a:solidFill>
                <a:latin typeface="Arimo Bold"/>
                <a:ea typeface="Arimo Bold"/>
                <a:cs typeface="Arimo Bold"/>
                <a:sym typeface="Arimo Bold"/>
              </a:rPr>
              <a:t>Engineer</a:t>
            </a:r>
          </a:p>
        </p:txBody>
      </p:sp>
      <p:sp>
        <p:nvSpPr>
          <p:cNvPr id="23" name="Freeform 23" descr="preencoded.png"/>
          <p:cNvSpPr/>
          <p:nvPr/>
        </p:nvSpPr>
        <p:spPr>
          <a:xfrm>
            <a:off x="6946373" y="6117784"/>
            <a:ext cx="529857" cy="529857"/>
          </a:xfrm>
          <a:custGeom>
            <a:avLst/>
            <a:gdLst/>
            <a:ahLst/>
            <a:cxnLst/>
            <a:rect l="l" t="t" r="r" b="b"/>
            <a:pathLst>
              <a:path w="529857" h="529857">
                <a:moveTo>
                  <a:pt x="0" y="0"/>
                </a:moveTo>
                <a:lnTo>
                  <a:pt x="529857" y="0"/>
                </a:lnTo>
                <a:lnTo>
                  <a:pt x="529857" y="529856"/>
                </a:lnTo>
                <a:lnTo>
                  <a:pt x="0" y="529856"/>
                </a:lnTo>
                <a:lnTo>
                  <a:pt x="0" y="0"/>
                </a:lnTo>
                <a:close/>
              </a:path>
            </a:pathLst>
          </a:custGeom>
          <a:blipFill>
            <a:blip>
              <a:extLst>
                <a:ext uri="{96DAC541-7B7A-43D3-8B79-37D633B846F1}">
                  <asvg:svgBlip xmlns:asvg="http://schemas.microsoft.com/office/drawing/2016/SVG/main" r:embed="rId5"/>
                </a:ext>
              </a:extLst>
            </a:blip>
            <a:stretch>
              <a:fillRect t="-33928" b="-33928"/>
            </a:stretch>
          </a:blipFill>
        </p:spPr>
      </p:sp>
      <p:sp>
        <p:nvSpPr>
          <p:cNvPr id="24" name="TextBox 24"/>
          <p:cNvSpPr txBox="1"/>
          <p:nvPr/>
        </p:nvSpPr>
        <p:spPr>
          <a:xfrm>
            <a:off x="6432404" y="8013001"/>
            <a:ext cx="1547184" cy="336147"/>
          </a:xfrm>
          <a:prstGeom prst="rect">
            <a:avLst/>
          </a:prstGeom>
        </p:spPr>
        <p:txBody>
          <a:bodyPr lIns="0" tIns="0" rIns="0" bIns="0" rtlCol="0" anchor="t">
            <a:spAutoFit/>
          </a:bodyPr>
          <a:lstStyle/>
          <a:p>
            <a:pPr algn="ctr">
              <a:lnSpc>
                <a:spcPts val="2312"/>
              </a:lnSpc>
            </a:pPr>
            <a:r>
              <a:rPr lang="en-US" sz="1874" b="1">
                <a:solidFill>
                  <a:srgbClr val="3B4E4E"/>
                </a:solidFill>
                <a:latin typeface="Arimo Bold"/>
                <a:ea typeface="Arimo Bold"/>
                <a:cs typeface="Arimo Bold"/>
                <a:sym typeface="Arimo Bold"/>
              </a:rPr>
              <a:t>Clean</a:t>
            </a:r>
          </a:p>
        </p:txBody>
      </p:sp>
      <p:sp>
        <p:nvSpPr>
          <p:cNvPr id="25" name="TextBox 25"/>
          <p:cNvSpPr txBox="1"/>
          <p:nvPr/>
        </p:nvSpPr>
        <p:spPr>
          <a:xfrm>
            <a:off x="992238" y="9016308"/>
            <a:ext cx="16303523" cy="222352"/>
          </a:xfrm>
          <a:prstGeom prst="rect">
            <a:avLst/>
          </a:prstGeom>
        </p:spPr>
        <p:txBody>
          <a:bodyPr lIns="0" tIns="0" rIns="0" bIns="0" rtlCol="0" anchor="t">
            <a:spAutoFit/>
          </a:bodyPr>
          <a:lstStyle/>
          <a:p>
            <a:pPr algn="l">
              <a:lnSpc>
                <a:spcPts val="1625"/>
              </a:lnSpc>
            </a:pPr>
            <a:r>
              <a:rPr lang="en-US" sz="1249">
                <a:solidFill>
                  <a:srgbClr val="3B4E4E"/>
                </a:solidFill>
                <a:latin typeface="Overpass Light"/>
                <a:ea typeface="Overpass Light"/>
                <a:cs typeface="Overpass Light"/>
                <a:sym typeface="Overpass Light"/>
              </a:rPr>
              <a:t>This three-phase pipeline ensures the dataset transitions cleanly from raw and messy to structured and model-ready. Each step builds on the previous one — skipping or rushing any phase introduces risk downstream.</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9F4BE"/>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DE6"/>
            </a:solidFill>
          </p:spPr>
        </p:sp>
      </p:grpSp>
      <p:sp>
        <p:nvSpPr>
          <p:cNvPr id="6" name="TextBox 6"/>
          <p:cNvSpPr txBox="1"/>
          <p:nvPr/>
        </p:nvSpPr>
        <p:spPr>
          <a:xfrm>
            <a:off x="992238" y="890883"/>
            <a:ext cx="13448405" cy="813197"/>
          </a:xfrm>
          <a:prstGeom prst="rect">
            <a:avLst/>
          </a:prstGeom>
        </p:spPr>
        <p:txBody>
          <a:bodyPr lIns="0" tIns="0" rIns="0" bIns="0" rtlCol="0" anchor="t">
            <a:spAutoFit/>
          </a:bodyPr>
          <a:lstStyle/>
          <a:p>
            <a:pPr algn="l">
              <a:lnSpc>
                <a:spcPts val="6062"/>
              </a:lnSpc>
            </a:pPr>
            <a:r>
              <a:rPr lang="en-US" sz="4875" b="1">
                <a:solidFill>
                  <a:srgbClr val="233939"/>
                </a:solidFill>
                <a:latin typeface="Arimo Bold"/>
                <a:ea typeface="Arimo Bold"/>
                <a:cs typeface="Arimo Bold"/>
                <a:sym typeface="Arimo Bold"/>
              </a:rPr>
              <a:t>Exploratory Data Analysis: Visualization</a:t>
            </a:r>
          </a:p>
        </p:txBody>
      </p:sp>
      <p:sp>
        <p:nvSpPr>
          <p:cNvPr id="7" name="TextBox 7"/>
          <p:cNvSpPr txBox="1"/>
          <p:nvPr/>
        </p:nvSpPr>
        <p:spPr>
          <a:xfrm>
            <a:off x="992238" y="2123923"/>
            <a:ext cx="16303523" cy="870052"/>
          </a:xfrm>
          <a:prstGeom prst="rect">
            <a:avLst/>
          </a:prstGeom>
        </p:spPr>
        <p:txBody>
          <a:bodyPr lIns="0" tIns="0" rIns="0" bIns="0" rtlCol="0" anchor="t">
            <a:spAutoFit/>
          </a:bodyPr>
          <a:lstStyle/>
          <a:p>
            <a:pPr algn="l">
              <a:lnSpc>
                <a:spcPts val="3125"/>
              </a:lnSpc>
            </a:pPr>
            <a:r>
              <a:rPr lang="en-US" sz="1937">
                <a:solidFill>
                  <a:srgbClr val="3B4E4E"/>
                </a:solidFill>
                <a:latin typeface="Overpass Light"/>
                <a:ea typeface="Overpass Light"/>
                <a:cs typeface="Overpass Light"/>
                <a:sym typeface="Overpass Light"/>
              </a:rPr>
              <a:t>EDA is where the data tells its story. Before modeling, we use visualizations to understand distributions, detect patterns, identify correlations, and spot anomalies. This phase directly informs feature selection, transformation decisions, and model expectations.</a:t>
            </a:r>
          </a:p>
        </p:txBody>
      </p:sp>
      <p:sp>
        <p:nvSpPr>
          <p:cNvPr id="8" name="TextBox 8"/>
          <p:cNvSpPr txBox="1"/>
          <p:nvPr/>
        </p:nvSpPr>
        <p:spPr>
          <a:xfrm>
            <a:off x="992238" y="3511448"/>
            <a:ext cx="6833740" cy="406746"/>
          </a:xfrm>
          <a:prstGeom prst="rect">
            <a:avLst/>
          </a:prstGeom>
        </p:spPr>
        <p:txBody>
          <a:bodyPr lIns="0" tIns="0" rIns="0" bIns="0" rtlCol="0" anchor="t">
            <a:spAutoFit/>
          </a:bodyPr>
          <a:lstStyle/>
          <a:p>
            <a:pPr algn="l">
              <a:lnSpc>
                <a:spcPts val="2999"/>
              </a:lnSpc>
            </a:pPr>
            <a:r>
              <a:rPr lang="en-US" sz="2437" b="1">
                <a:solidFill>
                  <a:srgbClr val="000000"/>
                </a:solidFill>
                <a:latin typeface="Arimo Bold"/>
                <a:ea typeface="Arimo Bold"/>
                <a:cs typeface="Arimo Bold"/>
                <a:sym typeface="Arimo Bold"/>
              </a:rPr>
              <a:t>📊</a:t>
            </a:r>
            <a:r>
              <a:rPr lang="en-US" sz="2437" b="1">
                <a:solidFill>
                  <a:srgbClr val="233939"/>
                </a:solidFill>
                <a:latin typeface="Arimo Bold"/>
                <a:ea typeface="Arimo Bold"/>
                <a:cs typeface="Arimo Bold"/>
                <a:sym typeface="Arimo Bold"/>
              </a:rPr>
              <a:t> Distribution Plot: Understanding Price</a:t>
            </a:r>
          </a:p>
        </p:txBody>
      </p:sp>
      <p:sp>
        <p:nvSpPr>
          <p:cNvPr id="9" name="TextBox 9"/>
          <p:cNvSpPr txBox="1"/>
          <p:nvPr/>
        </p:nvSpPr>
        <p:spPr>
          <a:xfrm>
            <a:off x="992238" y="4089949"/>
            <a:ext cx="7849191" cy="2883246"/>
          </a:xfrm>
          <a:prstGeom prst="rect">
            <a:avLst/>
          </a:prstGeom>
        </p:spPr>
        <p:txBody>
          <a:bodyPr lIns="0" tIns="0" rIns="0" bIns="0" rtlCol="0" anchor="t">
            <a:spAutoFit/>
          </a:bodyPr>
          <a:lstStyle/>
          <a:p>
            <a:pPr algn="l">
              <a:lnSpc>
                <a:spcPts val="3125"/>
              </a:lnSpc>
            </a:pPr>
            <a:r>
              <a:rPr lang="en-US" sz="1937">
                <a:solidFill>
                  <a:srgbClr val="3B4E4E"/>
                </a:solidFill>
                <a:latin typeface="Overpass Light"/>
                <a:ea typeface="Overpass Light"/>
                <a:cs typeface="Overpass Light"/>
                <a:sym typeface="Overpass Light"/>
              </a:rPr>
              <a:t>A distribution plot (histogram or KDE plot) of the target variable </a:t>
            </a:r>
            <a:r>
              <a:rPr lang="en-US" sz="1937">
                <a:solidFill>
                  <a:srgbClr val="3B4E4E"/>
                </a:solidFill>
                <a:latin typeface="Overpass"/>
                <a:ea typeface="Overpass"/>
                <a:cs typeface="Overpass"/>
                <a:sym typeface="Overpass"/>
              </a:rPr>
              <a:t>price</a:t>
            </a:r>
            <a:r>
              <a:rPr lang="en-US" sz="1937">
                <a:solidFill>
                  <a:srgbClr val="3B4E4E"/>
                </a:solidFill>
                <a:latin typeface="Overpass Light"/>
                <a:ea typeface="Overpass Light"/>
                <a:cs typeface="Overpass Light"/>
                <a:sym typeface="Overpass Light"/>
              </a:rPr>
              <a:t> reveals whether the data is normally distributed, skewed, or multi-modal. In car pricing datasets, price is typically </a:t>
            </a:r>
            <a:r>
              <a:rPr lang="en-US" sz="1937" b="1">
                <a:solidFill>
                  <a:srgbClr val="3B4E4E"/>
                </a:solidFill>
                <a:latin typeface="Overpass Bold"/>
                <a:ea typeface="Overpass Bold"/>
                <a:cs typeface="Overpass Bold"/>
                <a:sym typeface="Overpass Bold"/>
              </a:rPr>
              <a:t>right-skewed</a:t>
            </a:r>
            <a:r>
              <a:rPr lang="en-US" sz="1937">
                <a:solidFill>
                  <a:srgbClr val="3B4E4E"/>
                </a:solidFill>
                <a:latin typeface="Overpass Light"/>
                <a:ea typeface="Overpass Light"/>
                <a:cs typeface="Overpass Light"/>
                <a:sym typeface="Overpass Light"/>
              </a:rPr>
              <a:t> — most cars cluster in the affordable range, with a long tail of luxury and exotic vehicles pulling the mean upward. This insight is critical: a skewed target may benefit from a log transformation before regression, improving model fit and residual normality.</a:t>
            </a:r>
          </a:p>
        </p:txBody>
      </p:sp>
      <p:grpSp>
        <p:nvGrpSpPr>
          <p:cNvPr id="10" name="Group 10"/>
          <p:cNvGrpSpPr/>
          <p:nvPr/>
        </p:nvGrpSpPr>
        <p:grpSpPr>
          <a:xfrm>
            <a:off x="963663" y="7223674"/>
            <a:ext cx="57150" cy="1486643"/>
            <a:chOff x="0" y="0"/>
            <a:chExt cx="76200" cy="1982191"/>
          </a:xfrm>
        </p:grpSpPr>
        <p:sp>
          <p:nvSpPr>
            <p:cNvPr id="11" name="Freeform 11"/>
            <p:cNvSpPr/>
            <p:nvPr/>
          </p:nvSpPr>
          <p:spPr>
            <a:xfrm>
              <a:off x="0" y="0"/>
              <a:ext cx="76200" cy="1982216"/>
            </a:xfrm>
            <a:custGeom>
              <a:avLst/>
              <a:gdLst/>
              <a:ahLst/>
              <a:cxnLst/>
              <a:rect l="l" t="t" r="r" b="b"/>
              <a:pathLst>
                <a:path w="76200" h="1982216">
                  <a:moveTo>
                    <a:pt x="0" y="0"/>
                  </a:moveTo>
                  <a:lnTo>
                    <a:pt x="76200" y="0"/>
                  </a:lnTo>
                  <a:lnTo>
                    <a:pt x="76200" y="1982216"/>
                  </a:lnTo>
                  <a:lnTo>
                    <a:pt x="0" y="1982216"/>
                  </a:lnTo>
                  <a:close/>
                </a:path>
              </a:pathLst>
            </a:custGeom>
            <a:solidFill>
              <a:srgbClr val="224435"/>
            </a:solidFill>
          </p:spPr>
        </p:sp>
      </p:grpSp>
      <p:sp>
        <p:nvSpPr>
          <p:cNvPr id="12" name="TextBox 12"/>
          <p:cNvSpPr txBox="1"/>
          <p:nvPr/>
        </p:nvSpPr>
        <p:spPr>
          <a:xfrm>
            <a:off x="1297334" y="7242724"/>
            <a:ext cx="4197553" cy="397221"/>
          </a:xfrm>
          <a:prstGeom prst="rect">
            <a:avLst/>
          </a:prstGeom>
        </p:spPr>
        <p:txBody>
          <a:bodyPr lIns="0" tIns="0" rIns="0" bIns="0" rtlCol="0" anchor="t">
            <a:spAutoFit/>
          </a:bodyPr>
          <a:lstStyle/>
          <a:p>
            <a:pPr algn="l">
              <a:lnSpc>
                <a:spcPts val="2999"/>
              </a:lnSpc>
            </a:pPr>
            <a:r>
              <a:rPr lang="en-US" sz="2437" b="1">
                <a:solidFill>
                  <a:srgbClr val="3B4E4E"/>
                </a:solidFill>
                <a:latin typeface="Arimo Bold"/>
                <a:ea typeface="Arimo Bold"/>
                <a:cs typeface="Arimo Bold"/>
                <a:sym typeface="Arimo Bold"/>
              </a:rPr>
              <a:t>Key Questions Answered</a:t>
            </a:r>
          </a:p>
        </p:txBody>
      </p:sp>
      <p:sp>
        <p:nvSpPr>
          <p:cNvPr id="13" name="TextBox 13"/>
          <p:cNvSpPr txBox="1"/>
          <p:nvPr/>
        </p:nvSpPr>
        <p:spPr>
          <a:xfrm>
            <a:off x="1297334" y="7811691"/>
            <a:ext cx="7544095" cy="870052"/>
          </a:xfrm>
          <a:prstGeom prst="rect">
            <a:avLst/>
          </a:prstGeom>
        </p:spPr>
        <p:txBody>
          <a:bodyPr lIns="0" tIns="0" rIns="0" bIns="0" rtlCol="0" anchor="t">
            <a:spAutoFit/>
          </a:bodyPr>
          <a:lstStyle/>
          <a:p>
            <a:pPr algn="l">
              <a:lnSpc>
                <a:spcPts val="3125"/>
              </a:lnSpc>
            </a:pPr>
            <a:r>
              <a:rPr lang="en-US" sz="1937">
                <a:solidFill>
                  <a:srgbClr val="3B4E4E"/>
                </a:solidFill>
                <a:latin typeface="Overpass Light"/>
                <a:ea typeface="Overpass Light"/>
                <a:cs typeface="Overpass Light"/>
                <a:sym typeface="Overpass Light"/>
              </a:rPr>
              <a:t>Are most cars affordable or high-end? Is there a natural price segmentation? Are there outliers requiring treatment?</a:t>
            </a:r>
          </a:p>
        </p:txBody>
      </p:sp>
      <p:sp>
        <p:nvSpPr>
          <p:cNvPr id="14" name="TextBox 14"/>
          <p:cNvSpPr txBox="1"/>
          <p:nvPr/>
        </p:nvSpPr>
        <p:spPr>
          <a:xfrm>
            <a:off x="9456096" y="3511448"/>
            <a:ext cx="7849191" cy="794442"/>
          </a:xfrm>
          <a:prstGeom prst="rect">
            <a:avLst/>
          </a:prstGeom>
        </p:spPr>
        <p:txBody>
          <a:bodyPr lIns="0" tIns="0" rIns="0" bIns="0" rtlCol="0" anchor="t">
            <a:spAutoFit/>
          </a:bodyPr>
          <a:lstStyle/>
          <a:p>
            <a:pPr algn="l">
              <a:lnSpc>
                <a:spcPts val="2999"/>
              </a:lnSpc>
            </a:pPr>
            <a:r>
              <a:rPr lang="en-US" sz="2437" b="1">
                <a:solidFill>
                  <a:srgbClr val="000000"/>
                </a:solidFill>
                <a:latin typeface="Arimo Bold"/>
                <a:ea typeface="Arimo Bold"/>
                <a:cs typeface="Arimo Bold"/>
                <a:sym typeface="Arimo Bold"/>
              </a:rPr>
              <a:t>🔥</a:t>
            </a:r>
            <a:r>
              <a:rPr lang="en-US" sz="2437" b="1">
                <a:solidFill>
                  <a:srgbClr val="233939"/>
                </a:solidFill>
                <a:latin typeface="Arimo Bold"/>
                <a:ea typeface="Arimo Bold"/>
                <a:cs typeface="Arimo Bold"/>
                <a:sym typeface="Arimo Bold"/>
              </a:rPr>
              <a:t> Correlation Heatmap: Feature Relationships</a:t>
            </a:r>
          </a:p>
        </p:txBody>
      </p:sp>
      <p:sp>
        <p:nvSpPr>
          <p:cNvPr id="15" name="TextBox 15"/>
          <p:cNvSpPr txBox="1"/>
          <p:nvPr/>
        </p:nvSpPr>
        <p:spPr>
          <a:xfrm>
            <a:off x="9456096" y="4477645"/>
            <a:ext cx="7849191" cy="2854671"/>
          </a:xfrm>
          <a:prstGeom prst="rect">
            <a:avLst/>
          </a:prstGeom>
        </p:spPr>
        <p:txBody>
          <a:bodyPr lIns="0" tIns="0" rIns="0" bIns="0" rtlCol="0" anchor="t">
            <a:spAutoFit/>
          </a:bodyPr>
          <a:lstStyle/>
          <a:p>
            <a:pPr algn="l">
              <a:lnSpc>
                <a:spcPts val="3125"/>
              </a:lnSpc>
            </a:pPr>
            <a:r>
              <a:rPr lang="en-US" sz="1937">
                <a:solidFill>
                  <a:srgbClr val="3B4E4E"/>
                </a:solidFill>
                <a:latin typeface="Overpass Light"/>
                <a:ea typeface="Overpass Light"/>
                <a:cs typeface="Overpass Light"/>
                <a:sym typeface="Overpass Light"/>
              </a:rPr>
              <a:t>A heatmap of the correlation matrix reveals which features are most strongly associated with price — and which features are correlated with each other (multicollinearity). In car datasets, </a:t>
            </a:r>
            <a:r>
              <a:rPr lang="en-US" sz="1937" b="1">
                <a:solidFill>
                  <a:srgbClr val="3B4E4E"/>
                </a:solidFill>
                <a:latin typeface="Overpass Bold"/>
                <a:ea typeface="Overpass Bold"/>
                <a:cs typeface="Overpass Bold"/>
                <a:sym typeface="Overpass Bold"/>
              </a:rPr>
              <a:t>engine size</a:t>
            </a:r>
            <a:r>
              <a:rPr lang="en-US" sz="1937">
                <a:solidFill>
                  <a:srgbClr val="3B4E4E"/>
                </a:solidFill>
                <a:latin typeface="Overpass Light"/>
                <a:ea typeface="Overpass Light"/>
                <a:cs typeface="Overpass Light"/>
                <a:sym typeface="Overpass Light"/>
              </a:rPr>
              <a:t> and </a:t>
            </a:r>
            <a:r>
              <a:rPr lang="en-US" sz="1937" b="1">
                <a:solidFill>
                  <a:srgbClr val="3B4E4E"/>
                </a:solidFill>
                <a:latin typeface="Overpass Bold"/>
                <a:ea typeface="Overpass Bold"/>
                <a:cs typeface="Overpass Bold"/>
                <a:sym typeface="Overpass Bold"/>
              </a:rPr>
              <a:t>horsepower</a:t>
            </a:r>
            <a:r>
              <a:rPr lang="en-US" sz="1937">
                <a:solidFill>
                  <a:srgbClr val="3B4E4E"/>
                </a:solidFill>
                <a:latin typeface="Overpass Light"/>
                <a:ea typeface="Overpass Light"/>
                <a:cs typeface="Overpass Light"/>
                <a:sym typeface="Overpass Light"/>
              </a:rPr>
              <a:t> typically show strong positive correlations with price. Meanwhile, engine size and horsepower are also highly correlated with each other, which may require dimensionality reduction or careful feature selection to avoid inflating variance in linear models.</a:t>
            </a:r>
          </a:p>
        </p:txBody>
      </p:sp>
      <p:grpSp>
        <p:nvGrpSpPr>
          <p:cNvPr id="16" name="Group 16"/>
          <p:cNvGrpSpPr/>
          <p:nvPr/>
        </p:nvGrpSpPr>
        <p:grpSpPr>
          <a:xfrm>
            <a:off x="9427521" y="7582795"/>
            <a:ext cx="57150" cy="1524743"/>
            <a:chOff x="0" y="0"/>
            <a:chExt cx="76200" cy="2032991"/>
          </a:xfrm>
        </p:grpSpPr>
        <p:sp>
          <p:nvSpPr>
            <p:cNvPr id="17" name="Freeform 17"/>
            <p:cNvSpPr/>
            <p:nvPr/>
          </p:nvSpPr>
          <p:spPr>
            <a:xfrm>
              <a:off x="0" y="0"/>
              <a:ext cx="76200" cy="2033016"/>
            </a:xfrm>
            <a:custGeom>
              <a:avLst/>
              <a:gdLst/>
              <a:ahLst/>
              <a:cxnLst/>
              <a:rect l="l" t="t" r="r" b="b"/>
              <a:pathLst>
                <a:path w="76200" h="2033016">
                  <a:moveTo>
                    <a:pt x="0" y="0"/>
                  </a:moveTo>
                  <a:lnTo>
                    <a:pt x="76200" y="0"/>
                  </a:lnTo>
                  <a:lnTo>
                    <a:pt x="76200" y="2033016"/>
                  </a:lnTo>
                  <a:lnTo>
                    <a:pt x="0" y="2033016"/>
                  </a:lnTo>
                  <a:close/>
                </a:path>
              </a:pathLst>
            </a:custGeom>
            <a:solidFill>
              <a:srgbClr val="224435"/>
            </a:solidFill>
          </p:spPr>
        </p:sp>
      </p:grpSp>
      <p:sp>
        <p:nvSpPr>
          <p:cNvPr id="18" name="TextBox 18"/>
          <p:cNvSpPr txBox="1"/>
          <p:nvPr/>
        </p:nvSpPr>
        <p:spPr>
          <a:xfrm>
            <a:off x="9761191" y="7601845"/>
            <a:ext cx="4585097" cy="397221"/>
          </a:xfrm>
          <a:prstGeom prst="rect">
            <a:avLst/>
          </a:prstGeom>
        </p:spPr>
        <p:txBody>
          <a:bodyPr lIns="0" tIns="0" rIns="0" bIns="0" rtlCol="0" anchor="t">
            <a:spAutoFit/>
          </a:bodyPr>
          <a:lstStyle/>
          <a:p>
            <a:pPr algn="l">
              <a:lnSpc>
                <a:spcPts val="2999"/>
              </a:lnSpc>
            </a:pPr>
            <a:r>
              <a:rPr lang="en-US" sz="2437" b="1">
                <a:solidFill>
                  <a:srgbClr val="3B4E4E"/>
                </a:solidFill>
                <a:latin typeface="Arimo Bold"/>
                <a:ea typeface="Arimo Bold"/>
                <a:cs typeface="Arimo Bold"/>
                <a:sym typeface="Arimo Bold"/>
              </a:rPr>
              <a:t>Typical Strong Correlations</a:t>
            </a:r>
          </a:p>
        </p:txBody>
      </p:sp>
      <p:sp>
        <p:nvSpPr>
          <p:cNvPr id="19" name="TextBox 19"/>
          <p:cNvSpPr txBox="1"/>
          <p:nvPr/>
        </p:nvSpPr>
        <p:spPr>
          <a:xfrm>
            <a:off x="9761191" y="8170812"/>
            <a:ext cx="7544095" cy="908152"/>
          </a:xfrm>
          <a:prstGeom prst="rect">
            <a:avLst/>
          </a:prstGeom>
        </p:spPr>
        <p:txBody>
          <a:bodyPr lIns="0" tIns="0" rIns="0" bIns="0" rtlCol="0" anchor="t">
            <a:spAutoFit/>
          </a:bodyPr>
          <a:lstStyle/>
          <a:p>
            <a:pPr algn="l">
              <a:lnSpc>
                <a:spcPts val="3125"/>
              </a:lnSpc>
            </a:pPr>
            <a:r>
              <a:rPr lang="en-US" sz="1937">
                <a:solidFill>
                  <a:srgbClr val="3B4E4E"/>
                </a:solidFill>
                <a:latin typeface="Overpass Light"/>
                <a:ea typeface="Overpass Light"/>
                <a:cs typeface="Overpass Light"/>
                <a:sym typeface="Overpass Light"/>
              </a:rPr>
              <a:t>Engine size </a:t>
            </a:r>
            <a:r>
              <a:rPr lang="en-US" sz="1937">
                <a:solidFill>
                  <a:srgbClr val="000000"/>
                </a:solidFill>
                <a:latin typeface="Overpass Light"/>
                <a:ea typeface="Overpass Light"/>
                <a:cs typeface="Overpass Light"/>
                <a:sym typeface="Overpass Light"/>
              </a:rPr>
              <a:t>↔</a:t>
            </a:r>
            <a:r>
              <a:rPr lang="en-US" sz="1937">
                <a:solidFill>
                  <a:srgbClr val="3B4E4E"/>
                </a:solidFill>
                <a:latin typeface="Overpass Light"/>
                <a:ea typeface="Overpass Light"/>
                <a:cs typeface="Overpass Light"/>
                <a:sym typeface="Overpass Light"/>
              </a:rPr>
              <a:t> Price (+), Horsepower </a:t>
            </a:r>
            <a:r>
              <a:rPr lang="en-US" sz="1937">
                <a:solidFill>
                  <a:srgbClr val="000000"/>
                </a:solidFill>
                <a:latin typeface="Overpass Light"/>
                <a:ea typeface="Overpass Light"/>
                <a:cs typeface="Overpass Light"/>
                <a:sym typeface="Overpass Light"/>
              </a:rPr>
              <a:t>↔</a:t>
            </a:r>
            <a:r>
              <a:rPr lang="en-US" sz="1937">
                <a:solidFill>
                  <a:srgbClr val="3B4E4E"/>
                </a:solidFill>
                <a:latin typeface="Overpass Light"/>
                <a:ea typeface="Overpass Light"/>
                <a:cs typeface="Overpass Light"/>
                <a:sym typeface="Overpass Light"/>
              </a:rPr>
              <a:t> Price (+), Curb weight </a:t>
            </a:r>
            <a:r>
              <a:rPr lang="en-US" sz="1937">
                <a:solidFill>
                  <a:srgbClr val="000000"/>
                </a:solidFill>
                <a:latin typeface="Overpass Light"/>
                <a:ea typeface="Overpass Light"/>
                <a:cs typeface="Overpass Light"/>
                <a:sym typeface="Overpass Light"/>
              </a:rPr>
              <a:t>↔</a:t>
            </a:r>
            <a:r>
              <a:rPr lang="en-US" sz="1937">
                <a:solidFill>
                  <a:srgbClr val="3B4E4E"/>
                </a:solidFill>
                <a:latin typeface="Overpass Light"/>
                <a:ea typeface="Overpass Light"/>
                <a:cs typeface="Overpass Light"/>
                <a:sym typeface="Overpass Light"/>
              </a:rPr>
              <a:t> Price (+), Wheelbase </a:t>
            </a:r>
            <a:r>
              <a:rPr lang="en-US" sz="1937">
                <a:solidFill>
                  <a:srgbClr val="000000"/>
                </a:solidFill>
                <a:latin typeface="Overpass Light"/>
                <a:ea typeface="Overpass Light"/>
                <a:cs typeface="Overpass Light"/>
                <a:sym typeface="Overpass Light"/>
              </a:rPr>
              <a:t>↔</a:t>
            </a:r>
            <a:r>
              <a:rPr lang="en-US" sz="1937">
                <a:solidFill>
                  <a:srgbClr val="3B4E4E"/>
                </a:solidFill>
                <a:latin typeface="Overpass Light"/>
                <a:ea typeface="Overpass Light"/>
                <a:cs typeface="Overpass Light"/>
                <a:sym typeface="Overpass Light"/>
              </a:rPr>
              <a:t> Price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9F4BE"/>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DE6"/>
            </a:solidFill>
          </p:spPr>
        </p:sp>
      </p:grpSp>
      <p:sp>
        <p:nvSpPr>
          <p:cNvPr id="6" name="TextBox 6"/>
          <p:cNvSpPr txBox="1"/>
          <p:nvPr/>
        </p:nvSpPr>
        <p:spPr>
          <a:xfrm>
            <a:off x="992238" y="1096566"/>
            <a:ext cx="8281397" cy="696963"/>
          </a:xfrm>
          <a:prstGeom prst="rect">
            <a:avLst/>
          </a:prstGeom>
        </p:spPr>
        <p:txBody>
          <a:bodyPr lIns="0" tIns="0" rIns="0" bIns="0" rtlCol="0" anchor="t">
            <a:spAutoFit/>
          </a:bodyPr>
          <a:lstStyle/>
          <a:p>
            <a:pPr algn="l">
              <a:lnSpc>
                <a:spcPts val="5187"/>
              </a:lnSpc>
            </a:pPr>
            <a:r>
              <a:rPr lang="en-US" sz="4124" b="1">
                <a:solidFill>
                  <a:srgbClr val="233939"/>
                </a:solidFill>
                <a:latin typeface="Arimo Bold"/>
                <a:ea typeface="Arimo Bold"/>
                <a:cs typeface="Arimo Bold"/>
                <a:sym typeface="Arimo Bold"/>
              </a:rPr>
              <a:t>EDA: Box Plots &amp; Count Plots</a:t>
            </a:r>
          </a:p>
        </p:txBody>
      </p:sp>
      <p:sp>
        <p:nvSpPr>
          <p:cNvPr id="7" name="TextBox 7"/>
          <p:cNvSpPr txBox="1"/>
          <p:nvPr/>
        </p:nvSpPr>
        <p:spPr>
          <a:xfrm>
            <a:off x="992238" y="2104282"/>
            <a:ext cx="16303523" cy="671808"/>
          </a:xfrm>
          <a:prstGeom prst="rect">
            <a:avLst/>
          </a:prstGeom>
        </p:spPr>
        <p:txBody>
          <a:bodyPr lIns="0" tIns="0" rIns="0" bIns="0" rtlCol="0" anchor="t">
            <a:spAutoFit/>
          </a:bodyPr>
          <a:lstStyle/>
          <a:p>
            <a:pPr algn="l">
              <a:lnSpc>
                <a:spcPts val="2437"/>
              </a:lnSpc>
            </a:pPr>
            <a:r>
              <a:rPr lang="en-US" sz="1625">
                <a:solidFill>
                  <a:srgbClr val="3B4E4E"/>
                </a:solidFill>
                <a:latin typeface="Overpass Light"/>
                <a:ea typeface="Overpass Light"/>
                <a:cs typeface="Overpass Light"/>
                <a:sym typeface="Overpass Light"/>
              </a:rPr>
              <a:t>Beyond numerical correlations, we explore how categorical variables relate to price and how the dataset is distributed across categories. Box plots and count plots are two of the most powerful tools for this analysis, revealing price variation by segment and potential class imbalances.</a:t>
            </a:r>
          </a:p>
        </p:txBody>
      </p:sp>
      <p:sp>
        <p:nvSpPr>
          <p:cNvPr id="8" name="TextBox 8"/>
          <p:cNvSpPr txBox="1"/>
          <p:nvPr/>
        </p:nvSpPr>
        <p:spPr>
          <a:xfrm>
            <a:off x="992238" y="3137745"/>
            <a:ext cx="4456214" cy="348405"/>
          </a:xfrm>
          <a:prstGeom prst="rect">
            <a:avLst/>
          </a:prstGeom>
        </p:spPr>
        <p:txBody>
          <a:bodyPr lIns="0" tIns="0" rIns="0" bIns="0" rtlCol="0" anchor="t">
            <a:spAutoFit/>
          </a:bodyPr>
          <a:lstStyle/>
          <a:p>
            <a:pPr algn="l">
              <a:lnSpc>
                <a:spcPts val="2562"/>
              </a:lnSpc>
            </a:pPr>
            <a:r>
              <a:rPr lang="en-US" sz="2062" b="1">
                <a:solidFill>
                  <a:srgbClr val="000000"/>
                </a:solidFill>
                <a:latin typeface="Arimo Bold"/>
                <a:ea typeface="Arimo Bold"/>
                <a:cs typeface="Arimo Bold"/>
                <a:sym typeface="Arimo Bold"/>
              </a:rPr>
              <a:t>📦</a:t>
            </a:r>
            <a:r>
              <a:rPr lang="en-US" sz="2062" b="1">
                <a:solidFill>
                  <a:srgbClr val="233939"/>
                </a:solidFill>
                <a:latin typeface="Arimo Bold"/>
                <a:ea typeface="Arimo Bold"/>
                <a:cs typeface="Arimo Bold"/>
                <a:sym typeface="Arimo Bold"/>
              </a:rPr>
              <a:t> Box Plots: Price by Category</a:t>
            </a:r>
          </a:p>
        </p:txBody>
      </p:sp>
      <p:sp>
        <p:nvSpPr>
          <p:cNvPr id="9" name="TextBox 9"/>
          <p:cNvSpPr txBox="1"/>
          <p:nvPr/>
        </p:nvSpPr>
        <p:spPr>
          <a:xfrm>
            <a:off x="992238" y="3617709"/>
            <a:ext cx="7894587" cy="1636662"/>
          </a:xfrm>
          <a:prstGeom prst="rect">
            <a:avLst/>
          </a:prstGeom>
        </p:spPr>
        <p:txBody>
          <a:bodyPr lIns="0" tIns="0" rIns="0" bIns="0" rtlCol="0" anchor="t">
            <a:spAutoFit/>
          </a:bodyPr>
          <a:lstStyle/>
          <a:p>
            <a:pPr algn="l">
              <a:lnSpc>
                <a:spcPts val="2437"/>
              </a:lnSpc>
            </a:pPr>
            <a:r>
              <a:rPr lang="en-US" sz="1625">
                <a:solidFill>
                  <a:srgbClr val="3B4E4E"/>
                </a:solidFill>
                <a:latin typeface="Overpass Light"/>
                <a:ea typeface="Overpass Light"/>
                <a:cs typeface="Overpass Light"/>
                <a:sym typeface="Overpass Light"/>
              </a:rPr>
              <a:t>Box plots display the distribution of price across categorical groups such as </a:t>
            </a:r>
            <a:r>
              <a:rPr lang="en-US" sz="1625">
                <a:solidFill>
                  <a:srgbClr val="3B4E4E"/>
                </a:solidFill>
                <a:latin typeface="Overpass"/>
                <a:ea typeface="Overpass"/>
                <a:cs typeface="Overpass"/>
                <a:sym typeface="Overpass"/>
              </a:rPr>
              <a:t>carbody</a:t>
            </a:r>
            <a:r>
              <a:rPr lang="en-US" sz="1625">
                <a:solidFill>
                  <a:srgbClr val="3B4E4E"/>
                </a:solidFill>
                <a:latin typeface="Overpass Light"/>
                <a:ea typeface="Overpass Light"/>
                <a:cs typeface="Overpass Light"/>
                <a:sym typeface="Overpass Light"/>
              </a:rPr>
              <a:t> (sedan, hatchback, convertible, wagon, etc.). Each box shows the median, interquartile range (IQR), whiskers, and individual outlier points. This visualization answers: </a:t>
            </a:r>
            <a:r>
              <a:rPr lang="en-US" sz="1625" i="1">
                <a:solidFill>
                  <a:srgbClr val="3B4E4E"/>
                </a:solidFill>
                <a:latin typeface="Overpass Light Italics"/>
                <a:ea typeface="Overpass Light Italics"/>
                <a:cs typeface="Overpass Light Italics"/>
                <a:sym typeface="Overpass Light Italics"/>
              </a:rPr>
              <a:t>Which body styles command premium prices? Are there significant price differences between categories?</a:t>
            </a:r>
          </a:p>
        </p:txBody>
      </p:sp>
      <p:sp>
        <p:nvSpPr>
          <p:cNvPr id="10" name="TextBox 10"/>
          <p:cNvSpPr txBox="1"/>
          <p:nvPr/>
        </p:nvSpPr>
        <p:spPr>
          <a:xfrm>
            <a:off x="992238" y="5367928"/>
            <a:ext cx="7894587" cy="1295991"/>
          </a:xfrm>
          <a:prstGeom prst="rect">
            <a:avLst/>
          </a:prstGeom>
        </p:spPr>
        <p:txBody>
          <a:bodyPr lIns="0" tIns="0" rIns="0" bIns="0" rtlCol="0" anchor="t">
            <a:spAutoFit/>
          </a:bodyPr>
          <a:lstStyle/>
          <a:p>
            <a:pPr algn="l">
              <a:lnSpc>
                <a:spcPts val="2437"/>
              </a:lnSpc>
            </a:pPr>
            <a:r>
              <a:rPr lang="en-US" sz="1625">
                <a:solidFill>
                  <a:srgbClr val="3B4E4E"/>
                </a:solidFill>
                <a:latin typeface="Overpass Light"/>
                <a:ea typeface="Overpass Light"/>
                <a:cs typeface="Overpass Light"/>
                <a:sym typeface="Overpass Light"/>
              </a:rPr>
              <a:t>For example, </a:t>
            </a:r>
            <a:r>
              <a:rPr lang="en-US" sz="1625" b="1">
                <a:solidFill>
                  <a:srgbClr val="3B4E4E"/>
                </a:solidFill>
                <a:latin typeface="Overpass Bold"/>
                <a:ea typeface="Overpass Bold"/>
                <a:cs typeface="Overpass Bold"/>
                <a:sym typeface="Overpass Bold"/>
              </a:rPr>
              <a:t>convertibles</a:t>
            </a:r>
            <a:r>
              <a:rPr lang="en-US" sz="1625">
                <a:solidFill>
                  <a:srgbClr val="3B4E4E"/>
                </a:solidFill>
                <a:latin typeface="Overpass Light"/>
                <a:ea typeface="Overpass Light"/>
                <a:cs typeface="Overpass Light"/>
                <a:sym typeface="Overpass Light"/>
              </a:rPr>
              <a:t> and </a:t>
            </a:r>
            <a:r>
              <a:rPr lang="en-US" sz="1625" b="1">
                <a:solidFill>
                  <a:srgbClr val="3B4E4E"/>
                </a:solidFill>
                <a:latin typeface="Overpass Bold"/>
                <a:ea typeface="Overpass Bold"/>
                <a:cs typeface="Overpass Bold"/>
                <a:sym typeface="Overpass Bold"/>
              </a:rPr>
              <a:t>hardtops</a:t>
            </a:r>
            <a:r>
              <a:rPr lang="en-US" sz="1625">
                <a:solidFill>
                  <a:srgbClr val="3B4E4E"/>
                </a:solidFill>
                <a:latin typeface="Overpass Light"/>
                <a:ea typeface="Overpass Light"/>
                <a:cs typeface="Overpass Light"/>
                <a:sym typeface="Overpass Light"/>
              </a:rPr>
              <a:t> often show higher median prices and wider IQRs compared to sedans, reflecting their positioning as premium or specialty vehicles. Outliers within a category may indicate rare high-performance variants or data entry errors worth investigating.</a:t>
            </a:r>
          </a:p>
        </p:txBody>
      </p:sp>
      <p:sp>
        <p:nvSpPr>
          <p:cNvPr id="11" name="TextBox 11"/>
          <p:cNvSpPr txBox="1"/>
          <p:nvPr/>
        </p:nvSpPr>
        <p:spPr>
          <a:xfrm>
            <a:off x="9410700" y="3137745"/>
            <a:ext cx="5419134" cy="348405"/>
          </a:xfrm>
          <a:prstGeom prst="rect">
            <a:avLst/>
          </a:prstGeom>
        </p:spPr>
        <p:txBody>
          <a:bodyPr lIns="0" tIns="0" rIns="0" bIns="0" rtlCol="0" anchor="t">
            <a:spAutoFit/>
          </a:bodyPr>
          <a:lstStyle/>
          <a:p>
            <a:pPr algn="l">
              <a:lnSpc>
                <a:spcPts val="2562"/>
              </a:lnSpc>
            </a:pPr>
            <a:r>
              <a:rPr lang="en-US" sz="2062" b="1">
                <a:solidFill>
                  <a:srgbClr val="000000"/>
                </a:solidFill>
                <a:latin typeface="Arimo Bold"/>
                <a:ea typeface="Arimo Bold"/>
                <a:cs typeface="Arimo Bold"/>
                <a:sym typeface="Arimo Bold"/>
              </a:rPr>
              <a:t>📈</a:t>
            </a:r>
            <a:r>
              <a:rPr lang="en-US" sz="2062" b="1">
                <a:solidFill>
                  <a:srgbClr val="233939"/>
                </a:solidFill>
                <a:latin typeface="Arimo Bold"/>
                <a:ea typeface="Arimo Bold"/>
                <a:cs typeface="Arimo Bold"/>
                <a:sym typeface="Arimo Bold"/>
              </a:rPr>
              <a:t> Count Plots: Category Frequencies</a:t>
            </a:r>
          </a:p>
        </p:txBody>
      </p:sp>
      <p:sp>
        <p:nvSpPr>
          <p:cNvPr id="12" name="TextBox 12"/>
          <p:cNvSpPr txBox="1"/>
          <p:nvPr/>
        </p:nvSpPr>
        <p:spPr>
          <a:xfrm>
            <a:off x="9410700" y="3617709"/>
            <a:ext cx="7894587" cy="1295991"/>
          </a:xfrm>
          <a:prstGeom prst="rect">
            <a:avLst/>
          </a:prstGeom>
        </p:spPr>
        <p:txBody>
          <a:bodyPr lIns="0" tIns="0" rIns="0" bIns="0" rtlCol="0" anchor="t">
            <a:spAutoFit/>
          </a:bodyPr>
          <a:lstStyle/>
          <a:p>
            <a:pPr algn="l">
              <a:lnSpc>
                <a:spcPts val="2437"/>
              </a:lnSpc>
            </a:pPr>
            <a:r>
              <a:rPr lang="en-US" sz="1625">
                <a:solidFill>
                  <a:srgbClr val="3B4E4E"/>
                </a:solidFill>
                <a:latin typeface="Overpass Light"/>
                <a:ea typeface="Overpass Light"/>
                <a:cs typeface="Overpass Light"/>
                <a:sym typeface="Overpass Light"/>
              </a:rPr>
              <a:t>Count plots show how many observations exist in each category — critical for detecting </a:t>
            </a:r>
            <a:r>
              <a:rPr lang="en-US" sz="1625" b="1">
                <a:solidFill>
                  <a:srgbClr val="3B4E4E"/>
                </a:solidFill>
                <a:latin typeface="Overpass Bold"/>
                <a:ea typeface="Overpass Bold"/>
                <a:cs typeface="Overpass Bold"/>
                <a:sym typeface="Overpass Bold"/>
              </a:rPr>
              <a:t>class imbalance</a:t>
            </a:r>
            <a:r>
              <a:rPr lang="en-US" sz="1625">
                <a:solidFill>
                  <a:srgbClr val="3B4E4E"/>
                </a:solidFill>
                <a:latin typeface="Overpass Light"/>
                <a:ea typeface="Overpass Light"/>
                <a:cs typeface="Overpass Light"/>
                <a:sym typeface="Overpass Light"/>
              </a:rPr>
              <a:t> in categorical features. For instance, the dataset may contain far more </a:t>
            </a:r>
            <a:r>
              <a:rPr lang="en-US" sz="1625" b="1">
                <a:solidFill>
                  <a:srgbClr val="3B4E4E"/>
                </a:solidFill>
                <a:latin typeface="Overpass Bold"/>
                <a:ea typeface="Overpass Bold"/>
                <a:cs typeface="Overpass Bold"/>
                <a:sym typeface="Overpass Bold"/>
              </a:rPr>
              <a:t>gas-powered</a:t>
            </a:r>
            <a:r>
              <a:rPr lang="en-US" sz="1625">
                <a:solidFill>
                  <a:srgbClr val="3B4E4E"/>
                </a:solidFill>
                <a:latin typeface="Overpass Light"/>
                <a:ea typeface="Overpass Light"/>
                <a:cs typeface="Overpass Light"/>
                <a:sym typeface="Overpass Light"/>
              </a:rPr>
              <a:t> cars than </a:t>
            </a:r>
            <a:r>
              <a:rPr lang="en-US" sz="1625" b="1">
                <a:solidFill>
                  <a:srgbClr val="3B4E4E"/>
                </a:solidFill>
                <a:latin typeface="Overpass Bold"/>
                <a:ea typeface="Overpass Bold"/>
                <a:cs typeface="Overpass Bold"/>
                <a:sym typeface="Overpass Bold"/>
              </a:rPr>
              <a:t>diesel</a:t>
            </a:r>
            <a:r>
              <a:rPr lang="en-US" sz="1625">
                <a:solidFill>
                  <a:srgbClr val="3B4E4E"/>
                </a:solidFill>
                <a:latin typeface="Overpass Light"/>
                <a:ea typeface="Overpass Light"/>
                <a:cs typeface="Overpass Light"/>
                <a:sym typeface="Overpass Light"/>
              </a:rPr>
              <a:t> cars, or far more sedans than convertibles.</a:t>
            </a:r>
          </a:p>
        </p:txBody>
      </p:sp>
      <p:sp>
        <p:nvSpPr>
          <p:cNvPr id="13" name="TextBox 13"/>
          <p:cNvSpPr txBox="1"/>
          <p:nvPr/>
        </p:nvSpPr>
        <p:spPr>
          <a:xfrm>
            <a:off x="9410700" y="5027266"/>
            <a:ext cx="7894587" cy="1608087"/>
          </a:xfrm>
          <a:prstGeom prst="rect">
            <a:avLst/>
          </a:prstGeom>
        </p:spPr>
        <p:txBody>
          <a:bodyPr lIns="0" tIns="0" rIns="0" bIns="0" rtlCol="0" anchor="t">
            <a:spAutoFit/>
          </a:bodyPr>
          <a:lstStyle/>
          <a:p>
            <a:pPr algn="l">
              <a:lnSpc>
                <a:spcPts val="2437"/>
              </a:lnSpc>
            </a:pPr>
            <a:r>
              <a:rPr lang="en-US" sz="1625">
                <a:solidFill>
                  <a:srgbClr val="3B4E4E"/>
                </a:solidFill>
                <a:latin typeface="Overpass Light"/>
                <a:ea typeface="Overpass Light"/>
                <a:cs typeface="Overpass Light"/>
                <a:sym typeface="Overpass Light"/>
              </a:rPr>
              <a:t>Imbalanced categories can affect model performance in two ways: (1) the model may be biased toward majority classes, and (2) rare categories may not have enough samples to learn reliable price patterns. This insight may prompt strategies like oversampling rare categories, combining infrequent categories into an "Other" group, or using regularization to prevent overfitting on small groups.</a:t>
            </a:r>
          </a:p>
        </p:txBody>
      </p:sp>
      <p:grpSp>
        <p:nvGrpSpPr>
          <p:cNvPr id="14" name="Group 14"/>
          <p:cNvGrpSpPr/>
          <p:nvPr/>
        </p:nvGrpSpPr>
        <p:grpSpPr>
          <a:xfrm>
            <a:off x="987476" y="7021859"/>
            <a:ext cx="5324475" cy="2135238"/>
            <a:chOff x="0" y="0"/>
            <a:chExt cx="7099300" cy="2846984"/>
          </a:xfrm>
        </p:grpSpPr>
        <p:sp>
          <p:nvSpPr>
            <p:cNvPr id="15" name="Freeform 15"/>
            <p:cNvSpPr/>
            <p:nvPr/>
          </p:nvSpPr>
          <p:spPr>
            <a:xfrm>
              <a:off x="6350" y="6350"/>
              <a:ext cx="7086600" cy="2834259"/>
            </a:xfrm>
            <a:custGeom>
              <a:avLst/>
              <a:gdLst/>
              <a:ahLst/>
              <a:cxnLst/>
              <a:rect l="l" t="t" r="r" b="b"/>
              <a:pathLst>
                <a:path w="7086600" h="2834259">
                  <a:moveTo>
                    <a:pt x="0" y="118110"/>
                  </a:moveTo>
                  <a:cubicBezTo>
                    <a:pt x="0" y="52832"/>
                    <a:pt x="52959" y="0"/>
                    <a:pt x="118364" y="0"/>
                  </a:cubicBezTo>
                  <a:lnTo>
                    <a:pt x="6968236" y="0"/>
                  </a:lnTo>
                  <a:cubicBezTo>
                    <a:pt x="7033641" y="0"/>
                    <a:pt x="7086600" y="52832"/>
                    <a:pt x="7086600" y="118110"/>
                  </a:cubicBezTo>
                  <a:lnTo>
                    <a:pt x="7086600" y="2716149"/>
                  </a:lnTo>
                  <a:cubicBezTo>
                    <a:pt x="7086600" y="2781427"/>
                    <a:pt x="7033641" y="2834259"/>
                    <a:pt x="6968236" y="2834259"/>
                  </a:cubicBezTo>
                  <a:lnTo>
                    <a:pt x="118364" y="2834259"/>
                  </a:lnTo>
                  <a:cubicBezTo>
                    <a:pt x="52959" y="2834259"/>
                    <a:pt x="0" y="2781427"/>
                    <a:pt x="0" y="2716149"/>
                  </a:cubicBezTo>
                  <a:close/>
                </a:path>
              </a:pathLst>
            </a:custGeom>
            <a:solidFill>
              <a:srgbClr val="DDEEE6"/>
            </a:solidFill>
          </p:spPr>
        </p:sp>
        <p:sp>
          <p:nvSpPr>
            <p:cNvPr id="16" name="Freeform 16"/>
            <p:cNvSpPr/>
            <p:nvPr/>
          </p:nvSpPr>
          <p:spPr>
            <a:xfrm>
              <a:off x="0" y="0"/>
              <a:ext cx="7099300" cy="2846959"/>
            </a:xfrm>
            <a:custGeom>
              <a:avLst/>
              <a:gdLst/>
              <a:ahLst/>
              <a:cxnLst/>
              <a:rect l="l" t="t" r="r" b="b"/>
              <a:pathLst>
                <a:path w="7099300" h="2846959">
                  <a:moveTo>
                    <a:pt x="0" y="124460"/>
                  </a:moveTo>
                  <a:cubicBezTo>
                    <a:pt x="0" y="55753"/>
                    <a:pt x="55880" y="0"/>
                    <a:pt x="124714" y="0"/>
                  </a:cubicBezTo>
                  <a:lnTo>
                    <a:pt x="6974586" y="0"/>
                  </a:lnTo>
                  <a:lnTo>
                    <a:pt x="6974586" y="6350"/>
                  </a:lnTo>
                  <a:lnTo>
                    <a:pt x="6974586" y="0"/>
                  </a:lnTo>
                  <a:cubicBezTo>
                    <a:pt x="7043420" y="0"/>
                    <a:pt x="7099300" y="55753"/>
                    <a:pt x="7099300" y="124460"/>
                  </a:cubicBezTo>
                  <a:lnTo>
                    <a:pt x="7092950" y="124460"/>
                  </a:lnTo>
                  <a:lnTo>
                    <a:pt x="7099300" y="124460"/>
                  </a:lnTo>
                  <a:lnTo>
                    <a:pt x="7099300" y="2722499"/>
                  </a:lnTo>
                  <a:lnTo>
                    <a:pt x="7092950" y="2722499"/>
                  </a:lnTo>
                  <a:lnTo>
                    <a:pt x="7099300" y="2722499"/>
                  </a:lnTo>
                  <a:cubicBezTo>
                    <a:pt x="7099300" y="2791206"/>
                    <a:pt x="7043420" y="2846959"/>
                    <a:pt x="6974586" y="2846959"/>
                  </a:cubicBezTo>
                  <a:lnTo>
                    <a:pt x="6974586" y="2840609"/>
                  </a:lnTo>
                  <a:lnTo>
                    <a:pt x="6974586" y="2846959"/>
                  </a:lnTo>
                  <a:lnTo>
                    <a:pt x="124714" y="2846959"/>
                  </a:lnTo>
                  <a:lnTo>
                    <a:pt x="124714" y="2840609"/>
                  </a:lnTo>
                  <a:lnTo>
                    <a:pt x="124714" y="2846959"/>
                  </a:lnTo>
                  <a:cubicBezTo>
                    <a:pt x="55880" y="2846959"/>
                    <a:pt x="0" y="2791206"/>
                    <a:pt x="0" y="2722499"/>
                  </a:cubicBezTo>
                  <a:lnTo>
                    <a:pt x="0" y="124460"/>
                  </a:lnTo>
                  <a:lnTo>
                    <a:pt x="6350" y="124460"/>
                  </a:lnTo>
                  <a:lnTo>
                    <a:pt x="0" y="124460"/>
                  </a:lnTo>
                  <a:moveTo>
                    <a:pt x="12700" y="124460"/>
                  </a:moveTo>
                  <a:lnTo>
                    <a:pt x="12700" y="2722499"/>
                  </a:lnTo>
                  <a:lnTo>
                    <a:pt x="6350" y="2722499"/>
                  </a:lnTo>
                  <a:lnTo>
                    <a:pt x="12700" y="2722499"/>
                  </a:lnTo>
                  <a:cubicBezTo>
                    <a:pt x="12700" y="2784221"/>
                    <a:pt x="62865" y="2834259"/>
                    <a:pt x="124714" y="2834259"/>
                  </a:cubicBezTo>
                  <a:lnTo>
                    <a:pt x="6974586" y="2834259"/>
                  </a:lnTo>
                  <a:cubicBezTo>
                    <a:pt x="7036435" y="2834259"/>
                    <a:pt x="7086600" y="2784221"/>
                    <a:pt x="7086600" y="2722499"/>
                  </a:cubicBezTo>
                  <a:lnTo>
                    <a:pt x="7086600" y="124460"/>
                  </a:lnTo>
                  <a:cubicBezTo>
                    <a:pt x="7086600" y="62738"/>
                    <a:pt x="7036435" y="12700"/>
                    <a:pt x="6974586" y="12700"/>
                  </a:cubicBezTo>
                  <a:lnTo>
                    <a:pt x="124714" y="12700"/>
                  </a:lnTo>
                  <a:lnTo>
                    <a:pt x="124714" y="6350"/>
                  </a:lnTo>
                  <a:lnTo>
                    <a:pt x="124714" y="12700"/>
                  </a:lnTo>
                  <a:cubicBezTo>
                    <a:pt x="62865" y="12700"/>
                    <a:pt x="12700" y="62738"/>
                    <a:pt x="12700" y="124460"/>
                  </a:cubicBezTo>
                  <a:close/>
                </a:path>
              </a:pathLst>
            </a:custGeom>
            <a:solidFill>
              <a:srgbClr val="C3D4CC"/>
            </a:solidFill>
          </p:spPr>
        </p:sp>
      </p:grpSp>
      <p:sp>
        <p:nvSpPr>
          <p:cNvPr id="17" name="TextBox 17"/>
          <p:cNvSpPr txBox="1"/>
          <p:nvPr/>
        </p:nvSpPr>
        <p:spPr>
          <a:xfrm>
            <a:off x="1212504" y="7227837"/>
            <a:ext cx="2635891" cy="348405"/>
          </a:xfrm>
          <a:prstGeom prst="rect">
            <a:avLst/>
          </a:prstGeom>
        </p:spPr>
        <p:txBody>
          <a:bodyPr lIns="0" tIns="0" rIns="0" bIns="0" rtlCol="0" anchor="t">
            <a:spAutoFit/>
          </a:bodyPr>
          <a:lstStyle/>
          <a:p>
            <a:pPr algn="l">
              <a:lnSpc>
                <a:spcPts val="2562"/>
              </a:lnSpc>
            </a:pPr>
            <a:r>
              <a:rPr lang="en-US" sz="2062" b="1">
                <a:solidFill>
                  <a:srgbClr val="3B4E4E"/>
                </a:solidFill>
                <a:latin typeface="Arimo Bold"/>
                <a:ea typeface="Arimo Bold"/>
                <a:cs typeface="Arimo Bold"/>
                <a:sym typeface="Arimo Bold"/>
              </a:rPr>
              <a:t>Box Plot Insights</a:t>
            </a:r>
          </a:p>
        </p:txBody>
      </p:sp>
      <p:sp>
        <p:nvSpPr>
          <p:cNvPr id="18" name="TextBox 18"/>
          <p:cNvSpPr txBox="1"/>
          <p:nvPr/>
        </p:nvSpPr>
        <p:spPr>
          <a:xfrm>
            <a:off x="1212504" y="7636078"/>
            <a:ext cx="4874419" cy="983904"/>
          </a:xfrm>
          <a:prstGeom prst="rect">
            <a:avLst/>
          </a:prstGeom>
        </p:spPr>
        <p:txBody>
          <a:bodyPr lIns="0" tIns="0" rIns="0" bIns="0" rtlCol="0" anchor="t">
            <a:spAutoFit/>
          </a:bodyPr>
          <a:lstStyle/>
          <a:p>
            <a:pPr algn="l">
              <a:lnSpc>
                <a:spcPts val="2437"/>
              </a:lnSpc>
            </a:pPr>
            <a:r>
              <a:rPr lang="en-US" sz="1625">
                <a:solidFill>
                  <a:srgbClr val="3B4E4E"/>
                </a:solidFill>
                <a:latin typeface="Overpass Light"/>
                <a:ea typeface="Overpass Light"/>
                <a:cs typeface="Overpass Light"/>
                <a:sym typeface="Overpass Light"/>
              </a:rPr>
              <a:t>Reveals median price, spread, and outliers per category — essential for understanding price segmentation by body style, fuel type, or drivetrain.</a:t>
            </a:r>
          </a:p>
        </p:txBody>
      </p:sp>
      <p:grpSp>
        <p:nvGrpSpPr>
          <p:cNvPr id="19" name="Group 19"/>
          <p:cNvGrpSpPr/>
          <p:nvPr/>
        </p:nvGrpSpPr>
        <p:grpSpPr>
          <a:xfrm>
            <a:off x="6481610" y="7021859"/>
            <a:ext cx="5324627" cy="2135238"/>
            <a:chOff x="0" y="0"/>
            <a:chExt cx="7099503" cy="2846984"/>
          </a:xfrm>
        </p:grpSpPr>
        <p:sp>
          <p:nvSpPr>
            <p:cNvPr id="20" name="Freeform 20"/>
            <p:cNvSpPr/>
            <p:nvPr/>
          </p:nvSpPr>
          <p:spPr>
            <a:xfrm>
              <a:off x="6350" y="6350"/>
              <a:ext cx="7086727" cy="2834259"/>
            </a:xfrm>
            <a:custGeom>
              <a:avLst/>
              <a:gdLst/>
              <a:ahLst/>
              <a:cxnLst/>
              <a:rect l="l" t="t" r="r" b="b"/>
              <a:pathLst>
                <a:path w="7086727" h="2834259">
                  <a:moveTo>
                    <a:pt x="0" y="118110"/>
                  </a:moveTo>
                  <a:cubicBezTo>
                    <a:pt x="0" y="52832"/>
                    <a:pt x="52959" y="0"/>
                    <a:pt x="118364" y="0"/>
                  </a:cubicBezTo>
                  <a:lnTo>
                    <a:pt x="6968363" y="0"/>
                  </a:lnTo>
                  <a:cubicBezTo>
                    <a:pt x="7033768" y="0"/>
                    <a:pt x="7086727" y="52832"/>
                    <a:pt x="7086727" y="118110"/>
                  </a:cubicBezTo>
                  <a:lnTo>
                    <a:pt x="7086727" y="2716149"/>
                  </a:lnTo>
                  <a:cubicBezTo>
                    <a:pt x="7086727" y="2781427"/>
                    <a:pt x="7033768" y="2834259"/>
                    <a:pt x="6968363" y="2834259"/>
                  </a:cubicBezTo>
                  <a:lnTo>
                    <a:pt x="118364" y="2834259"/>
                  </a:lnTo>
                  <a:cubicBezTo>
                    <a:pt x="52959" y="2834259"/>
                    <a:pt x="0" y="2781427"/>
                    <a:pt x="0" y="2716149"/>
                  </a:cubicBezTo>
                  <a:close/>
                </a:path>
              </a:pathLst>
            </a:custGeom>
            <a:solidFill>
              <a:srgbClr val="DDEEE6"/>
            </a:solidFill>
          </p:spPr>
        </p:sp>
        <p:sp>
          <p:nvSpPr>
            <p:cNvPr id="21" name="Freeform 21"/>
            <p:cNvSpPr/>
            <p:nvPr/>
          </p:nvSpPr>
          <p:spPr>
            <a:xfrm>
              <a:off x="0" y="0"/>
              <a:ext cx="7099427" cy="2846959"/>
            </a:xfrm>
            <a:custGeom>
              <a:avLst/>
              <a:gdLst/>
              <a:ahLst/>
              <a:cxnLst/>
              <a:rect l="l" t="t" r="r" b="b"/>
              <a:pathLst>
                <a:path w="7099427" h="2846959">
                  <a:moveTo>
                    <a:pt x="0" y="124460"/>
                  </a:moveTo>
                  <a:cubicBezTo>
                    <a:pt x="0" y="55753"/>
                    <a:pt x="55880" y="0"/>
                    <a:pt x="124714" y="0"/>
                  </a:cubicBezTo>
                  <a:lnTo>
                    <a:pt x="6974713" y="0"/>
                  </a:lnTo>
                  <a:lnTo>
                    <a:pt x="6974713" y="6350"/>
                  </a:lnTo>
                  <a:lnTo>
                    <a:pt x="6974713" y="0"/>
                  </a:lnTo>
                  <a:cubicBezTo>
                    <a:pt x="7043547" y="0"/>
                    <a:pt x="7099427" y="55753"/>
                    <a:pt x="7099427" y="124460"/>
                  </a:cubicBezTo>
                  <a:lnTo>
                    <a:pt x="7093077" y="124460"/>
                  </a:lnTo>
                  <a:lnTo>
                    <a:pt x="7099427" y="124460"/>
                  </a:lnTo>
                  <a:lnTo>
                    <a:pt x="7099427" y="2722499"/>
                  </a:lnTo>
                  <a:lnTo>
                    <a:pt x="7093077" y="2722499"/>
                  </a:lnTo>
                  <a:lnTo>
                    <a:pt x="7099427" y="2722499"/>
                  </a:lnTo>
                  <a:cubicBezTo>
                    <a:pt x="7099427" y="2791206"/>
                    <a:pt x="7043547" y="2846959"/>
                    <a:pt x="6974713" y="2846959"/>
                  </a:cubicBezTo>
                  <a:lnTo>
                    <a:pt x="6974713" y="2840609"/>
                  </a:lnTo>
                  <a:lnTo>
                    <a:pt x="6974713" y="2846959"/>
                  </a:lnTo>
                  <a:lnTo>
                    <a:pt x="124714" y="2846959"/>
                  </a:lnTo>
                  <a:lnTo>
                    <a:pt x="124714" y="2840609"/>
                  </a:lnTo>
                  <a:lnTo>
                    <a:pt x="124714" y="2846959"/>
                  </a:lnTo>
                  <a:cubicBezTo>
                    <a:pt x="55880" y="2846959"/>
                    <a:pt x="0" y="2791206"/>
                    <a:pt x="0" y="2722499"/>
                  </a:cubicBezTo>
                  <a:lnTo>
                    <a:pt x="0" y="124460"/>
                  </a:lnTo>
                  <a:lnTo>
                    <a:pt x="6350" y="124460"/>
                  </a:lnTo>
                  <a:lnTo>
                    <a:pt x="0" y="124460"/>
                  </a:lnTo>
                  <a:moveTo>
                    <a:pt x="12700" y="124460"/>
                  </a:moveTo>
                  <a:lnTo>
                    <a:pt x="12700" y="2722499"/>
                  </a:lnTo>
                  <a:lnTo>
                    <a:pt x="6350" y="2722499"/>
                  </a:lnTo>
                  <a:lnTo>
                    <a:pt x="12700" y="2722499"/>
                  </a:lnTo>
                  <a:cubicBezTo>
                    <a:pt x="12700" y="2784221"/>
                    <a:pt x="62865" y="2834259"/>
                    <a:pt x="124714" y="2834259"/>
                  </a:cubicBezTo>
                  <a:lnTo>
                    <a:pt x="6974713" y="2834259"/>
                  </a:lnTo>
                  <a:cubicBezTo>
                    <a:pt x="7036562" y="2834259"/>
                    <a:pt x="7086727" y="2784221"/>
                    <a:pt x="7086727" y="2722499"/>
                  </a:cubicBezTo>
                  <a:lnTo>
                    <a:pt x="7086727" y="124460"/>
                  </a:lnTo>
                  <a:cubicBezTo>
                    <a:pt x="7086727" y="62738"/>
                    <a:pt x="7036562" y="12700"/>
                    <a:pt x="6974713" y="12700"/>
                  </a:cubicBezTo>
                  <a:lnTo>
                    <a:pt x="124714" y="12700"/>
                  </a:lnTo>
                  <a:lnTo>
                    <a:pt x="124714" y="6350"/>
                  </a:lnTo>
                  <a:lnTo>
                    <a:pt x="124714" y="12700"/>
                  </a:lnTo>
                  <a:cubicBezTo>
                    <a:pt x="62865" y="12700"/>
                    <a:pt x="12700" y="62738"/>
                    <a:pt x="12700" y="124460"/>
                  </a:cubicBezTo>
                  <a:close/>
                </a:path>
              </a:pathLst>
            </a:custGeom>
            <a:solidFill>
              <a:srgbClr val="C3D4CC"/>
            </a:solidFill>
          </p:spPr>
        </p:sp>
      </p:grpSp>
      <p:sp>
        <p:nvSpPr>
          <p:cNvPr id="22" name="TextBox 22"/>
          <p:cNvSpPr txBox="1"/>
          <p:nvPr/>
        </p:nvSpPr>
        <p:spPr>
          <a:xfrm>
            <a:off x="6706638" y="7227837"/>
            <a:ext cx="2712539" cy="348405"/>
          </a:xfrm>
          <a:prstGeom prst="rect">
            <a:avLst/>
          </a:prstGeom>
        </p:spPr>
        <p:txBody>
          <a:bodyPr lIns="0" tIns="0" rIns="0" bIns="0" rtlCol="0" anchor="t">
            <a:spAutoFit/>
          </a:bodyPr>
          <a:lstStyle/>
          <a:p>
            <a:pPr algn="l">
              <a:lnSpc>
                <a:spcPts val="2562"/>
              </a:lnSpc>
            </a:pPr>
            <a:r>
              <a:rPr lang="en-US" sz="2062" b="1">
                <a:solidFill>
                  <a:srgbClr val="3B4E4E"/>
                </a:solidFill>
                <a:latin typeface="Arimo Bold"/>
                <a:ea typeface="Arimo Bold"/>
                <a:cs typeface="Arimo Bold"/>
                <a:sym typeface="Arimo Bold"/>
              </a:rPr>
              <a:t>Count Plot Insights</a:t>
            </a:r>
          </a:p>
        </p:txBody>
      </p:sp>
      <p:sp>
        <p:nvSpPr>
          <p:cNvPr id="23" name="TextBox 23"/>
          <p:cNvSpPr txBox="1"/>
          <p:nvPr/>
        </p:nvSpPr>
        <p:spPr>
          <a:xfrm>
            <a:off x="6706638" y="7636078"/>
            <a:ext cx="4874571" cy="983904"/>
          </a:xfrm>
          <a:prstGeom prst="rect">
            <a:avLst/>
          </a:prstGeom>
        </p:spPr>
        <p:txBody>
          <a:bodyPr lIns="0" tIns="0" rIns="0" bIns="0" rtlCol="0" anchor="t">
            <a:spAutoFit/>
          </a:bodyPr>
          <a:lstStyle/>
          <a:p>
            <a:pPr algn="l">
              <a:lnSpc>
                <a:spcPts val="2437"/>
              </a:lnSpc>
            </a:pPr>
            <a:r>
              <a:rPr lang="en-US" sz="1625">
                <a:solidFill>
                  <a:srgbClr val="3B4E4E"/>
                </a:solidFill>
                <a:latin typeface="Overpass Light"/>
                <a:ea typeface="Overpass Light"/>
                <a:cs typeface="Overpass Light"/>
                <a:sym typeface="Overpass Light"/>
              </a:rPr>
              <a:t>Exposes dataset composition and class imbalance — informs decisions about category grouping, sampling, and model regularization strategies.</a:t>
            </a:r>
          </a:p>
        </p:txBody>
      </p:sp>
      <p:grpSp>
        <p:nvGrpSpPr>
          <p:cNvPr id="24" name="Group 24"/>
          <p:cNvGrpSpPr/>
          <p:nvPr/>
        </p:nvGrpSpPr>
        <p:grpSpPr>
          <a:xfrm>
            <a:off x="11975897" y="7021859"/>
            <a:ext cx="5324627" cy="2135238"/>
            <a:chOff x="0" y="0"/>
            <a:chExt cx="7099503" cy="2846984"/>
          </a:xfrm>
        </p:grpSpPr>
        <p:sp>
          <p:nvSpPr>
            <p:cNvPr id="25" name="Freeform 25"/>
            <p:cNvSpPr/>
            <p:nvPr/>
          </p:nvSpPr>
          <p:spPr>
            <a:xfrm>
              <a:off x="6350" y="6350"/>
              <a:ext cx="7086727" cy="2834259"/>
            </a:xfrm>
            <a:custGeom>
              <a:avLst/>
              <a:gdLst/>
              <a:ahLst/>
              <a:cxnLst/>
              <a:rect l="l" t="t" r="r" b="b"/>
              <a:pathLst>
                <a:path w="7086727" h="2834259">
                  <a:moveTo>
                    <a:pt x="0" y="118110"/>
                  </a:moveTo>
                  <a:cubicBezTo>
                    <a:pt x="0" y="52832"/>
                    <a:pt x="52959" y="0"/>
                    <a:pt x="118364" y="0"/>
                  </a:cubicBezTo>
                  <a:lnTo>
                    <a:pt x="6968363" y="0"/>
                  </a:lnTo>
                  <a:cubicBezTo>
                    <a:pt x="7033768" y="0"/>
                    <a:pt x="7086727" y="52832"/>
                    <a:pt x="7086727" y="118110"/>
                  </a:cubicBezTo>
                  <a:lnTo>
                    <a:pt x="7086727" y="2716149"/>
                  </a:lnTo>
                  <a:cubicBezTo>
                    <a:pt x="7086727" y="2781427"/>
                    <a:pt x="7033768" y="2834259"/>
                    <a:pt x="6968363" y="2834259"/>
                  </a:cubicBezTo>
                  <a:lnTo>
                    <a:pt x="118364" y="2834259"/>
                  </a:lnTo>
                  <a:cubicBezTo>
                    <a:pt x="52959" y="2834259"/>
                    <a:pt x="0" y="2781427"/>
                    <a:pt x="0" y="2716149"/>
                  </a:cubicBezTo>
                  <a:close/>
                </a:path>
              </a:pathLst>
            </a:custGeom>
            <a:solidFill>
              <a:srgbClr val="DDEEE6"/>
            </a:solidFill>
          </p:spPr>
        </p:sp>
        <p:sp>
          <p:nvSpPr>
            <p:cNvPr id="26" name="Freeform 26"/>
            <p:cNvSpPr/>
            <p:nvPr/>
          </p:nvSpPr>
          <p:spPr>
            <a:xfrm>
              <a:off x="0" y="0"/>
              <a:ext cx="7099427" cy="2846959"/>
            </a:xfrm>
            <a:custGeom>
              <a:avLst/>
              <a:gdLst/>
              <a:ahLst/>
              <a:cxnLst/>
              <a:rect l="l" t="t" r="r" b="b"/>
              <a:pathLst>
                <a:path w="7099427" h="2846959">
                  <a:moveTo>
                    <a:pt x="0" y="124460"/>
                  </a:moveTo>
                  <a:cubicBezTo>
                    <a:pt x="0" y="55753"/>
                    <a:pt x="55880" y="0"/>
                    <a:pt x="124714" y="0"/>
                  </a:cubicBezTo>
                  <a:lnTo>
                    <a:pt x="6974713" y="0"/>
                  </a:lnTo>
                  <a:lnTo>
                    <a:pt x="6974713" y="6350"/>
                  </a:lnTo>
                  <a:lnTo>
                    <a:pt x="6974713" y="0"/>
                  </a:lnTo>
                  <a:cubicBezTo>
                    <a:pt x="7043547" y="0"/>
                    <a:pt x="7099427" y="55753"/>
                    <a:pt x="7099427" y="124460"/>
                  </a:cubicBezTo>
                  <a:lnTo>
                    <a:pt x="7093077" y="124460"/>
                  </a:lnTo>
                  <a:lnTo>
                    <a:pt x="7099427" y="124460"/>
                  </a:lnTo>
                  <a:lnTo>
                    <a:pt x="7099427" y="2722499"/>
                  </a:lnTo>
                  <a:lnTo>
                    <a:pt x="7093077" y="2722499"/>
                  </a:lnTo>
                  <a:lnTo>
                    <a:pt x="7099427" y="2722499"/>
                  </a:lnTo>
                  <a:cubicBezTo>
                    <a:pt x="7099427" y="2791206"/>
                    <a:pt x="7043547" y="2846959"/>
                    <a:pt x="6974713" y="2846959"/>
                  </a:cubicBezTo>
                  <a:lnTo>
                    <a:pt x="6974713" y="2840609"/>
                  </a:lnTo>
                  <a:lnTo>
                    <a:pt x="6974713" y="2846959"/>
                  </a:lnTo>
                  <a:lnTo>
                    <a:pt x="124714" y="2846959"/>
                  </a:lnTo>
                  <a:lnTo>
                    <a:pt x="124714" y="2840609"/>
                  </a:lnTo>
                  <a:lnTo>
                    <a:pt x="124714" y="2846959"/>
                  </a:lnTo>
                  <a:cubicBezTo>
                    <a:pt x="55880" y="2846959"/>
                    <a:pt x="0" y="2791206"/>
                    <a:pt x="0" y="2722499"/>
                  </a:cubicBezTo>
                  <a:lnTo>
                    <a:pt x="0" y="124460"/>
                  </a:lnTo>
                  <a:lnTo>
                    <a:pt x="6350" y="124460"/>
                  </a:lnTo>
                  <a:lnTo>
                    <a:pt x="0" y="124460"/>
                  </a:lnTo>
                  <a:moveTo>
                    <a:pt x="12700" y="124460"/>
                  </a:moveTo>
                  <a:lnTo>
                    <a:pt x="12700" y="2722499"/>
                  </a:lnTo>
                  <a:lnTo>
                    <a:pt x="6350" y="2722499"/>
                  </a:lnTo>
                  <a:lnTo>
                    <a:pt x="12700" y="2722499"/>
                  </a:lnTo>
                  <a:cubicBezTo>
                    <a:pt x="12700" y="2784221"/>
                    <a:pt x="62865" y="2834259"/>
                    <a:pt x="124714" y="2834259"/>
                  </a:cubicBezTo>
                  <a:lnTo>
                    <a:pt x="6974713" y="2834259"/>
                  </a:lnTo>
                  <a:cubicBezTo>
                    <a:pt x="7036562" y="2834259"/>
                    <a:pt x="7086727" y="2784221"/>
                    <a:pt x="7086727" y="2722499"/>
                  </a:cubicBezTo>
                  <a:lnTo>
                    <a:pt x="7086727" y="124460"/>
                  </a:lnTo>
                  <a:cubicBezTo>
                    <a:pt x="7086727" y="62738"/>
                    <a:pt x="7036562" y="12700"/>
                    <a:pt x="6974713" y="12700"/>
                  </a:cubicBezTo>
                  <a:lnTo>
                    <a:pt x="124714" y="12700"/>
                  </a:lnTo>
                  <a:lnTo>
                    <a:pt x="124714" y="6350"/>
                  </a:lnTo>
                  <a:lnTo>
                    <a:pt x="124714" y="12700"/>
                  </a:lnTo>
                  <a:cubicBezTo>
                    <a:pt x="62865" y="12700"/>
                    <a:pt x="12700" y="62738"/>
                    <a:pt x="12700" y="124460"/>
                  </a:cubicBezTo>
                  <a:close/>
                </a:path>
              </a:pathLst>
            </a:custGeom>
            <a:solidFill>
              <a:srgbClr val="C3D4CC"/>
            </a:solidFill>
          </p:spPr>
        </p:sp>
      </p:grpSp>
      <p:sp>
        <p:nvSpPr>
          <p:cNvPr id="27" name="TextBox 27"/>
          <p:cNvSpPr txBox="1"/>
          <p:nvPr/>
        </p:nvSpPr>
        <p:spPr>
          <a:xfrm>
            <a:off x="12200934" y="7227837"/>
            <a:ext cx="2635891" cy="348405"/>
          </a:xfrm>
          <a:prstGeom prst="rect">
            <a:avLst/>
          </a:prstGeom>
        </p:spPr>
        <p:txBody>
          <a:bodyPr lIns="0" tIns="0" rIns="0" bIns="0" rtlCol="0" anchor="t">
            <a:spAutoFit/>
          </a:bodyPr>
          <a:lstStyle/>
          <a:p>
            <a:pPr algn="l">
              <a:lnSpc>
                <a:spcPts val="2562"/>
              </a:lnSpc>
            </a:pPr>
            <a:r>
              <a:rPr lang="en-US" sz="2062" b="1">
                <a:solidFill>
                  <a:srgbClr val="3B4E4E"/>
                </a:solidFill>
                <a:latin typeface="Arimo Bold"/>
                <a:ea typeface="Arimo Bold"/>
                <a:cs typeface="Arimo Bold"/>
                <a:sym typeface="Arimo Bold"/>
              </a:rPr>
              <a:t>Combined Value</a:t>
            </a:r>
          </a:p>
        </p:txBody>
      </p:sp>
      <p:sp>
        <p:nvSpPr>
          <p:cNvPr id="28" name="TextBox 28"/>
          <p:cNvSpPr txBox="1"/>
          <p:nvPr/>
        </p:nvSpPr>
        <p:spPr>
          <a:xfrm>
            <a:off x="12200934" y="7636078"/>
            <a:ext cx="4874571" cy="1295991"/>
          </a:xfrm>
          <a:prstGeom prst="rect">
            <a:avLst/>
          </a:prstGeom>
        </p:spPr>
        <p:txBody>
          <a:bodyPr lIns="0" tIns="0" rIns="0" bIns="0" rtlCol="0" anchor="t">
            <a:spAutoFit/>
          </a:bodyPr>
          <a:lstStyle/>
          <a:p>
            <a:pPr algn="l">
              <a:lnSpc>
                <a:spcPts val="2437"/>
              </a:lnSpc>
            </a:pPr>
            <a:r>
              <a:rPr lang="en-US" sz="1625">
                <a:solidFill>
                  <a:srgbClr val="3B4E4E"/>
                </a:solidFill>
                <a:latin typeface="Overpass Light"/>
                <a:ea typeface="Overpass Light"/>
                <a:cs typeface="Overpass Light"/>
                <a:sym typeface="Overpass Light"/>
              </a:rPr>
              <a:t>Together, these plots reveal not just what categories exist, but how price behaves within them and whether the data supports reliable learning for each group.</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9F4BE"/>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DE6"/>
            </a:solidFill>
          </p:spPr>
        </p:sp>
      </p:grpSp>
      <p:sp>
        <p:nvSpPr>
          <p:cNvPr id="6" name="TextBox 6"/>
          <p:cNvSpPr txBox="1"/>
          <p:nvPr/>
        </p:nvSpPr>
        <p:spPr>
          <a:xfrm>
            <a:off x="992238" y="845639"/>
            <a:ext cx="9069734" cy="696963"/>
          </a:xfrm>
          <a:prstGeom prst="rect">
            <a:avLst/>
          </a:prstGeom>
        </p:spPr>
        <p:txBody>
          <a:bodyPr lIns="0" tIns="0" rIns="0" bIns="0" rtlCol="0" anchor="t">
            <a:spAutoFit/>
          </a:bodyPr>
          <a:lstStyle/>
          <a:p>
            <a:pPr algn="l">
              <a:lnSpc>
                <a:spcPts val="5187"/>
              </a:lnSpc>
            </a:pPr>
            <a:r>
              <a:rPr lang="en-US" sz="4124" b="1">
                <a:solidFill>
                  <a:srgbClr val="233939"/>
                </a:solidFill>
                <a:latin typeface="Arimo Bold"/>
                <a:ea typeface="Arimo Bold"/>
                <a:cs typeface="Arimo Bold"/>
                <a:sym typeface="Arimo Bold"/>
              </a:rPr>
              <a:t>Encoding Categorical Variables</a:t>
            </a:r>
          </a:p>
        </p:txBody>
      </p:sp>
      <p:sp>
        <p:nvSpPr>
          <p:cNvPr id="7" name="TextBox 7"/>
          <p:cNvSpPr txBox="1"/>
          <p:nvPr/>
        </p:nvSpPr>
        <p:spPr>
          <a:xfrm>
            <a:off x="992238" y="1853355"/>
            <a:ext cx="16303523" cy="700383"/>
          </a:xfrm>
          <a:prstGeom prst="rect">
            <a:avLst/>
          </a:prstGeom>
        </p:spPr>
        <p:txBody>
          <a:bodyPr lIns="0" tIns="0" rIns="0" bIns="0" rtlCol="0" anchor="t">
            <a:spAutoFit/>
          </a:bodyPr>
          <a:lstStyle/>
          <a:p>
            <a:pPr algn="l">
              <a:lnSpc>
                <a:spcPts val="2437"/>
              </a:lnSpc>
            </a:pPr>
            <a:r>
              <a:rPr lang="en-US" sz="1625">
                <a:solidFill>
                  <a:srgbClr val="3B4E4E"/>
                </a:solidFill>
                <a:latin typeface="Overpass Light"/>
                <a:ea typeface="Overpass Light"/>
                <a:cs typeface="Overpass Light"/>
                <a:sym typeface="Overpass Light"/>
              </a:rPr>
              <a:t>Machine learning models are mathematical engines — they operate exclusively on numbers. Categorical text values like </a:t>
            </a:r>
            <a:r>
              <a:rPr lang="en-US" sz="1625">
                <a:solidFill>
                  <a:srgbClr val="3B4E4E"/>
                </a:solidFill>
                <a:latin typeface="Overpass"/>
                <a:ea typeface="Overpass"/>
                <a:cs typeface="Overpass"/>
                <a:sym typeface="Overpass"/>
              </a:rPr>
              <a:t>'gas'</a:t>
            </a:r>
            <a:r>
              <a:rPr lang="en-US" sz="1625">
                <a:solidFill>
                  <a:srgbClr val="3B4E4E"/>
                </a:solidFill>
                <a:latin typeface="Overpass Light"/>
                <a:ea typeface="Overpass Light"/>
                <a:cs typeface="Overpass Light"/>
                <a:sym typeface="Overpass Light"/>
              </a:rPr>
              <a:t>, </a:t>
            </a:r>
            <a:r>
              <a:rPr lang="en-US" sz="1625">
                <a:solidFill>
                  <a:srgbClr val="3B4E4E"/>
                </a:solidFill>
                <a:latin typeface="Overpass"/>
                <a:ea typeface="Overpass"/>
                <a:cs typeface="Overpass"/>
                <a:sym typeface="Overpass"/>
              </a:rPr>
              <a:t>'diesel'</a:t>
            </a:r>
            <a:r>
              <a:rPr lang="en-US" sz="1625">
                <a:solidFill>
                  <a:srgbClr val="3B4E4E"/>
                </a:solidFill>
                <a:latin typeface="Overpass Light"/>
                <a:ea typeface="Overpass Light"/>
                <a:cs typeface="Overpass Light"/>
                <a:sym typeface="Overpass Light"/>
              </a:rPr>
              <a:t>, </a:t>
            </a:r>
            <a:r>
              <a:rPr lang="en-US" sz="1625">
                <a:solidFill>
                  <a:srgbClr val="3B4E4E"/>
                </a:solidFill>
                <a:latin typeface="Overpass"/>
                <a:ea typeface="Overpass"/>
                <a:cs typeface="Overpass"/>
                <a:sym typeface="Overpass"/>
              </a:rPr>
              <a:t>'sedan'</a:t>
            </a:r>
            <a:r>
              <a:rPr lang="en-US" sz="1625">
                <a:solidFill>
                  <a:srgbClr val="3B4E4E"/>
                </a:solidFill>
                <a:latin typeface="Overpass Light"/>
                <a:ea typeface="Overpass Light"/>
                <a:cs typeface="Overpass Light"/>
                <a:sym typeface="Overpass Light"/>
              </a:rPr>
              <a:t>, or </a:t>
            </a:r>
            <a:r>
              <a:rPr lang="en-US" sz="1625">
                <a:solidFill>
                  <a:srgbClr val="3B4E4E"/>
                </a:solidFill>
                <a:latin typeface="Overpass"/>
                <a:ea typeface="Overpass"/>
                <a:cs typeface="Overpass"/>
                <a:sym typeface="Overpass"/>
              </a:rPr>
              <a:t>'rwd'</a:t>
            </a:r>
            <a:r>
              <a:rPr lang="en-US" sz="1625">
                <a:solidFill>
                  <a:srgbClr val="3B4E4E"/>
                </a:solidFill>
                <a:latin typeface="Overpass Light"/>
                <a:ea typeface="Overpass Light"/>
                <a:cs typeface="Overpass Light"/>
                <a:sym typeface="Overpass Light"/>
              </a:rPr>
              <a:t> must be converted into a numeric representation before they can be used as model inputs. This process is called </a:t>
            </a:r>
            <a:r>
              <a:rPr lang="en-US" sz="1625" b="1">
                <a:solidFill>
                  <a:srgbClr val="3B4E4E"/>
                </a:solidFill>
                <a:latin typeface="Overpass Bold"/>
                <a:ea typeface="Overpass Bold"/>
                <a:cs typeface="Overpass Bold"/>
                <a:sym typeface="Overpass Bold"/>
              </a:rPr>
              <a:t>encoding</a:t>
            </a:r>
            <a:r>
              <a:rPr lang="en-US" sz="1625">
                <a:solidFill>
                  <a:srgbClr val="3B4E4E"/>
                </a:solidFill>
                <a:latin typeface="Overpass Light"/>
                <a:ea typeface="Overpass Light"/>
                <a:cs typeface="Overpass Light"/>
                <a:sym typeface="Overpass Light"/>
              </a:rPr>
              <a:t>.</a:t>
            </a:r>
          </a:p>
        </p:txBody>
      </p:sp>
      <p:grpSp>
        <p:nvGrpSpPr>
          <p:cNvPr id="8" name="Group 8"/>
          <p:cNvGrpSpPr/>
          <p:nvPr/>
        </p:nvGrpSpPr>
        <p:grpSpPr>
          <a:xfrm>
            <a:off x="840429" y="2755259"/>
            <a:ext cx="8198196" cy="6647859"/>
            <a:chOff x="0" y="0"/>
            <a:chExt cx="10930928" cy="8863813"/>
          </a:xfrm>
        </p:grpSpPr>
        <p:sp>
          <p:nvSpPr>
            <p:cNvPr id="9" name="Freeform 9"/>
            <p:cNvSpPr/>
            <p:nvPr/>
          </p:nvSpPr>
          <p:spPr>
            <a:xfrm>
              <a:off x="0" y="0"/>
              <a:ext cx="10930890" cy="8863838"/>
            </a:xfrm>
            <a:custGeom>
              <a:avLst/>
              <a:gdLst/>
              <a:ahLst/>
              <a:cxnLst/>
              <a:rect l="l" t="t" r="r" b="b"/>
              <a:pathLst>
                <a:path w="10930890" h="8863838">
                  <a:moveTo>
                    <a:pt x="0" y="202438"/>
                  </a:moveTo>
                  <a:cubicBezTo>
                    <a:pt x="0" y="90678"/>
                    <a:pt x="90678" y="0"/>
                    <a:pt x="202438" y="0"/>
                  </a:cubicBezTo>
                  <a:lnTo>
                    <a:pt x="10728452" y="0"/>
                  </a:lnTo>
                  <a:cubicBezTo>
                    <a:pt x="10840212" y="0"/>
                    <a:pt x="10930890" y="90678"/>
                    <a:pt x="10930890" y="202438"/>
                  </a:cubicBezTo>
                  <a:lnTo>
                    <a:pt x="10930890" y="8661400"/>
                  </a:lnTo>
                  <a:cubicBezTo>
                    <a:pt x="10930890" y="8773160"/>
                    <a:pt x="10840212" y="8863838"/>
                    <a:pt x="10728452" y="8863838"/>
                  </a:cubicBezTo>
                  <a:lnTo>
                    <a:pt x="202438" y="8863838"/>
                  </a:lnTo>
                  <a:cubicBezTo>
                    <a:pt x="90678" y="8863838"/>
                    <a:pt x="0" y="8773160"/>
                    <a:pt x="0" y="8661400"/>
                  </a:cubicBezTo>
                  <a:close/>
                </a:path>
              </a:pathLst>
            </a:custGeom>
            <a:solidFill>
              <a:srgbClr val="224435"/>
            </a:solidFill>
          </p:spPr>
        </p:sp>
      </p:grpSp>
      <p:sp>
        <p:nvSpPr>
          <p:cNvPr id="10" name="TextBox 10"/>
          <p:cNvSpPr txBox="1"/>
          <p:nvPr/>
        </p:nvSpPr>
        <p:spPr>
          <a:xfrm>
            <a:off x="1051169" y="2915393"/>
            <a:ext cx="4029970" cy="348405"/>
          </a:xfrm>
          <a:prstGeom prst="rect">
            <a:avLst/>
          </a:prstGeom>
        </p:spPr>
        <p:txBody>
          <a:bodyPr lIns="0" tIns="0" rIns="0" bIns="0" rtlCol="0" anchor="t">
            <a:spAutoFit/>
          </a:bodyPr>
          <a:lstStyle/>
          <a:p>
            <a:pPr algn="l">
              <a:lnSpc>
                <a:spcPts val="2562"/>
              </a:lnSpc>
            </a:pPr>
            <a:r>
              <a:rPr lang="en-US" sz="2062" b="1">
                <a:solidFill>
                  <a:srgbClr val="FFFFFF"/>
                </a:solidFill>
                <a:latin typeface="Arimo Bold"/>
                <a:ea typeface="Arimo Bold"/>
                <a:cs typeface="Arimo Bold"/>
                <a:sym typeface="Arimo Bold"/>
              </a:rPr>
              <a:t>Why Encoding Is Necessary</a:t>
            </a:r>
          </a:p>
        </p:txBody>
      </p:sp>
      <p:sp>
        <p:nvSpPr>
          <p:cNvPr id="11" name="TextBox 11"/>
          <p:cNvSpPr txBox="1"/>
          <p:nvPr/>
        </p:nvSpPr>
        <p:spPr>
          <a:xfrm>
            <a:off x="1051169" y="3395367"/>
            <a:ext cx="7776715" cy="1295991"/>
          </a:xfrm>
          <a:prstGeom prst="rect">
            <a:avLst/>
          </a:prstGeom>
        </p:spPr>
        <p:txBody>
          <a:bodyPr lIns="0" tIns="0" rIns="0" bIns="0" rtlCol="0" anchor="t">
            <a:spAutoFit/>
          </a:bodyPr>
          <a:lstStyle/>
          <a:p>
            <a:pPr algn="l">
              <a:lnSpc>
                <a:spcPts val="2437"/>
              </a:lnSpc>
            </a:pPr>
            <a:r>
              <a:rPr lang="en-US" sz="1625">
                <a:solidFill>
                  <a:srgbClr val="FFFFFF"/>
                </a:solidFill>
                <a:latin typeface="Overpass Light"/>
                <a:ea typeface="Overpass Light"/>
                <a:cs typeface="Overpass Light"/>
                <a:sym typeface="Overpass Light"/>
              </a:rPr>
              <a:t>A regression model computes weighted sums of input features. It cannot process the string "front-wheel drive" mathematically. Encoding transforms each unique category value into a binary (0 or 1) indicator column, allowing the model to learn whether the presence of a category increases or decreases the predicted price.</a:t>
            </a:r>
          </a:p>
        </p:txBody>
      </p:sp>
      <p:sp>
        <p:nvSpPr>
          <p:cNvPr id="12" name="TextBox 12"/>
          <p:cNvSpPr txBox="1"/>
          <p:nvPr/>
        </p:nvSpPr>
        <p:spPr>
          <a:xfrm>
            <a:off x="1051169" y="4851502"/>
            <a:ext cx="4968326" cy="348405"/>
          </a:xfrm>
          <a:prstGeom prst="rect">
            <a:avLst/>
          </a:prstGeom>
        </p:spPr>
        <p:txBody>
          <a:bodyPr lIns="0" tIns="0" rIns="0" bIns="0" rtlCol="0" anchor="t">
            <a:spAutoFit/>
          </a:bodyPr>
          <a:lstStyle/>
          <a:p>
            <a:pPr algn="l">
              <a:lnSpc>
                <a:spcPts val="2562"/>
              </a:lnSpc>
            </a:pPr>
            <a:r>
              <a:rPr lang="en-US" sz="2062" b="1">
                <a:solidFill>
                  <a:srgbClr val="FFFFFF"/>
                </a:solidFill>
                <a:latin typeface="Arimo Bold"/>
                <a:ea typeface="Arimo Bold"/>
                <a:cs typeface="Arimo Bold"/>
                <a:sym typeface="Arimo Bold"/>
              </a:rPr>
              <a:t>The Technique: One-Hot Encoding</a:t>
            </a:r>
          </a:p>
        </p:txBody>
      </p:sp>
      <p:sp>
        <p:nvSpPr>
          <p:cNvPr id="13" name="TextBox 13"/>
          <p:cNvSpPr txBox="1"/>
          <p:nvPr/>
        </p:nvSpPr>
        <p:spPr>
          <a:xfrm>
            <a:off x="1051169" y="5331466"/>
            <a:ext cx="7776715" cy="1381716"/>
          </a:xfrm>
          <a:prstGeom prst="rect">
            <a:avLst/>
          </a:prstGeom>
        </p:spPr>
        <p:txBody>
          <a:bodyPr lIns="0" tIns="0" rIns="0" bIns="0" rtlCol="0" anchor="t">
            <a:spAutoFit/>
          </a:bodyPr>
          <a:lstStyle/>
          <a:p>
            <a:pPr algn="l">
              <a:lnSpc>
                <a:spcPts val="2437"/>
              </a:lnSpc>
            </a:pPr>
            <a:r>
              <a:rPr lang="en-US" sz="1625">
                <a:solidFill>
                  <a:srgbClr val="FFFFFF"/>
                </a:solidFill>
                <a:latin typeface="Overpass Light"/>
                <a:ea typeface="Overpass Light"/>
                <a:cs typeface="Overpass Light"/>
                <a:sym typeface="Overpass Light"/>
              </a:rPr>
              <a:t>We use Pandas' </a:t>
            </a:r>
            <a:r>
              <a:rPr lang="en-US" sz="1625">
                <a:solidFill>
                  <a:srgbClr val="FFFFFF"/>
                </a:solidFill>
                <a:latin typeface="Overpass"/>
                <a:ea typeface="Overpass"/>
                <a:cs typeface="Overpass"/>
                <a:sym typeface="Overpass"/>
              </a:rPr>
              <a:t>pd.get_dummies()</a:t>
            </a:r>
            <a:r>
              <a:rPr lang="en-US" sz="1625">
                <a:solidFill>
                  <a:srgbClr val="FFFFFF"/>
                </a:solidFill>
                <a:latin typeface="Overpass Light"/>
                <a:ea typeface="Overpass Light"/>
                <a:cs typeface="Overpass Light"/>
                <a:sym typeface="Overpass Light"/>
              </a:rPr>
              <a:t> function, which automatically detects categorical columns and creates a new binary column for each unique category value. For example, </a:t>
            </a:r>
            <a:r>
              <a:rPr lang="en-US" sz="1625">
                <a:solidFill>
                  <a:srgbClr val="FFFFFF"/>
                </a:solidFill>
                <a:latin typeface="Overpass"/>
                <a:ea typeface="Overpass"/>
                <a:cs typeface="Overpass"/>
                <a:sym typeface="Overpass"/>
              </a:rPr>
              <a:t>fueltype</a:t>
            </a:r>
            <a:r>
              <a:rPr lang="en-US" sz="1625">
                <a:solidFill>
                  <a:srgbClr val="FFFFFF"/>
                </a:solidFill>
                <a:latin typeface="Overpass Light"/>
                <a:ea typeface="Overpass Light"/>
                <a:cs typeface="Overpass Light"/>
                <a:sym typeface="Overpass Light"/>
              </a:rPr>
              <a:t> with values </a:t>
            </a:r>
            <a:r>
              <a:rPr lang="en-US" sz="1625">
                <a:solidFill>
                  <a:srgbClr val="FFFFFF"/>
                </a:solidFill>
                <a:latin typeface="Overpass"/>
                <a:ea typeface="Overpass"/>
                <a:cs typeface="Overpass"/>
                <a:sym typeface="Overpass"/>
              </a:rPr>
              <a:t>['gas', 'diesel']</a:t>
            </a:r>
            <a:r>
              <a:rPr lang="en-US" sz="1625">
                <a:solidFill>
                  <a:srgbClr val="FFFFFF"/>
                </a:solidFill>
                <a:latin typeface="Overpass Light"/>
                <a:ea typeface="Overpass Light"/>
                <a:cs typeface="Overpass Light"/>
                <a:sym typeface="Overpass Light"/>
              </a:rPr>
              <a:t> becomes two columns: </a:t>
            </a:r>
            <a:r>
              <a:rPr lang="en-US" sz="1625">
                <a:solidFill>
                  <a:srgbClr val="FFFFFF"/>
                </a:solidFill>
                <a:latin typeface="Overpass"/>
                <a:ea typeface="Overpass"/>
                <a:cs typeface="Overpass"/>
                <a:sym typeface="Overpass"/>
              </a:rPr>
              <a:t>fueltype_gas</a:t>
            </a:r>
            <a:r>
              <a:rPr lang="en-US" sz="1625">
                <a:solidFill>
                  <a:srgbClr val="FFFFFF"/>
                </a:solidFill>
                <a:latin typeface="Overpass Light"/>
                <a:ea typeface="Overpass Light"/>
                <a:cs typeface="Overpass Light"/>
                <a:sym typeface="Overpass Light"/>
              </a:rPr>
              <a:t> and </a:t>
            </a:r>
            <a:r>
              <a:rPr lang="en-US" sz="1625">
                <a:solidFill>
                  <a:srgbClr val="FFFFFF"/>
                </a:solidFill>
                <a:latin typeface="Overpass"/>
                <a:ea typeface="Overpass"/>
                <a:cs typeface="Overpass"/>
                <a:sym typeface="Overpass"/>
              </a:rPr>
              <a:t>fueltype_diesel</a:t>
            </a:r>
            <a:r>
              <a:rPr lang="en-US" sz="1625">
                <a:solidFill>
                  <a:srgbClr val="FFFFFF"/>
                </a:solidFill>
                <a:latin typeface="Overpass Light"/>
                <a:ea typeface="Overpass Light"/>
                <a:cs typeface="Overpass Light"/>
                <a:sym typeface="Overpass Light"/>
              </a:rPr>
              <a:t>, each containing 1s and 0s.</a:t>
            </a:r>
          </a:p>
        </p:txBody>
      </p:sp>
      <p:sp>
        <p:nvSpPr>
          <p:cNvPr id="14" name="TextBox 14"/>
          <p:cNvSpPr txBox="1"/>
          <p:nvPr/>
        </p:nvSpPr>
        <p:spPr>
          <a:xfrm>
            <a:off x="9410700" y="2915393"/>
            <a:ext cx="3453260" cy="348405"/>
          </a:xfrm>
          <a:prstGeom prst="rect">
            <a:avLst/>
          </a:prstGeom>
        </p:spPr>
        <p:txBody>
          <a:bodyPr lIns="0" tIns="0" rIns="0" bIns="0" rtlCol="0" anchor="t">
            <a:spAutoFit/>
          </a:bodyPr>
          <a:lstStyle/>
          <a:p>
            <a:pPr algn="l">
              <a:lnSpc>
                <a:spcPts val="2562"/>
              </a:lnSpc>
            </a:pPr>
            <a:r>
              <a:rPr lang="en-US" sz="2062" b="1">
                <a:solidFill>
                  <a:srgbClr val="233939"/>
                </a:solidFill>
                <a:latin typeface="Arimo Bold"/>
                <a:ea typeface="Arimo Bold"/>
                <a:cs typeface="Arimo Bold"/>
                <a:sym typeface="Arimo Bold"/>
              </a:rPr>
              <a:t>Before &amp; After Encoding</a:t>
            </a:r>
          </a:p>
        </p:txBody>
      </p:sp>
      <p:grpSp>
        <p:nvGrpSpPr>
          <p:cNvPr id="15" name="Group 15"/>
          <p:cNvGrpSpPr/>
          <p:nvPr/>
        </p:nvGrpSpPr>
        <p:grpSpPr>
          <a:xfrm>
            <a:off x="9396412" y="3451022"/>
            <a:ext cx="3886200" cy="2719092"/>
            <a:chOff x="0" y="0"/>
            <a:chExt cx="5181600" cy="3625456"/>
          </a:xfrm>
        </p:grpSpPr>
        <p:sp>
          <p:nvSpPr>
            <p:cNvPr id="16" name="Freeform 16"/>
            <p:cNvSpPr/>
            <p:nvPr/>
          </p:nvSpPr>
          <p:spPr>
            <a:xfrm>
              <a:off x="19050" y="19050"/>
              <a:ext cx="5143500" cy="3587369"/>
            </a:xfrm>
            <a:custGeom>
              <a:avLst/>
              <a:gdLst/>
              <a:ahLst/>
              <a:cxnLst/>
              <a:rect l="l" t="t" r="r" b="b"/>
              <a:pathLst>
                <a:path w="5143500" h="3587369">
                  <a:moveTo>
                    <a:pt x="0" y="182880"/>
                  </a:moveTo>
                  <a:cubicBezTo>
                    <a:pt x="0" y="81915"/>
                    <a:pt x="82169" y="0"/>
                    <a:pt x="183515" y="0"/>
                  </a:cubicBezTo>
                  <a:lnTo>
                    <a:pt x="4959985" y="0"/>
                  </a:lnTo>
                  <a:cubicBezTo>
                    <a:pt x="5061331" y="0"/>
                    <a:pt x="5143500" y="81915"/>
                    <a:pt x="5143500" y="182880"/>
                  </a:cubicBezTo>
                  <a:lnTo>
                    <a:pt x="5143500" y="3404489"/>
                  </a:lnTo>
                  <a:cubicBezTo>
                    <a:pt x="5143500" y="3505454"/>
                    <a:pt x="5061331" y="3587369"/>
                    <a:pt x="4959985" y="3587369"/>
                  </a:cubicBezTo>
                  <a:lnTo>
                    <a:pt x="183515" y="3587369"/>
                  </a:lnTo>
                  <a:cubicBezTo>
                    <a:pt x="82169" y="3587369"/>
                    <a:pt x="0" y="3505454"/>
                    <a:pt x="0" y="3404489"/>
                  </a:cubicBezTo>
                  <a:close/>
                </a:path>
              </a:pathLst>
            </a:custGeom>
            <a:solidFill>
              <a:srgbClr val="FFFDE6"/>
            </a:solidFill>
          </p:spPr>
        </p:sp>
        <p:sp>
          <p:nvSpPr>
            <p:cNvPr id="17" name="Freeform 17"/>
            <p:cNvSpPr/>
            <p:nvPr/>
          </p:nvSpPr>
          <p:spPr>
            <a:xfrm>
              <a:off x="0" y="0"/>
              <a:ext cx="5181600" cy="3625469"/>
            </a:xfrm>
            <a:custGeom>
              <a:avLst/>
              <a:gdLst/>
              <a:ahLst/>
              <a:cxnLst/>
              <a:rect l="l" t="t" r="r" b="b"/>
              <a:pathLst>
                <a:path w="5181600" h="3625469">
                  <a:moveTo>
                    <a:pt x="0" y="201930"/>
                  </a:moveTo>
                  <a:cubicBezTo>
                    <a:pt x="0" y="90297"/>
                    <a:pt x="90678" y="0"/>
                    <a:pt x="202565" y="0"/>
                  </a:cubicBezTo>
                  <a:lnTo>
                    <a:pt x="4979035" y="0"/>
                  </a:lnTo>
                  <a:lnTo>
                    <a:pt x="4979035" y="19050"/>
                  </a:lnTo>
                  <a:lnTo>
                    <a:pt x="4979035" y="0"/>
                  </a:lnTo>
                  <a:cubicBezTo>
                    <a:pt x="5090922" y="0"/>
                    <a:pt x="5181600" y="90297"/>
                    <a:pt x="5181600" y="201930"/>
                  </a:cubicBezTo>
                  <a:lnTo>
                    <a:pt x="5162550" y="201930"/>
                  </a:lnTo>
                  <a:lnTo>
                    <a:pt x="5181600" y="201930"/>
                  </a:lnTo>
                  <a:lnTo>
                    <a:pt x="5181600" y="3423539"/>
                  </a:lnTo>
                  <a:lnTo>
                    <a:pt x="5162550" y="3423539"/>
                  </a:lnTo>
                  <a:lnTo>
                    <a:pt x="5181600" y="3423539"/>
                  </a:lnTo>
                  <a:cubicBezTo>
                    <a:pt x="5181600" y="3535172"/>
                    <a:pt x="5090922" y="3625469"/>
                    <a:pt x="4979035" y="3625469"/>
                  </a:cubicBezTo>
                  <a:lnTo>
                    <a:pt x="4979035" y="3606419"/>
                  </a:lnTo>
                  <a:lnTo>
                    <a:pt x="4979035" y="3625469"/>
                  </a:lnTo>
                  <a:lnTo>
                    <a:pt x="202565" y="3625469"/>
                  </a:lnTo>
                  <a:lnTo>
                    <a:pt x="202565" y="3606419"/>
                  </a:lnTo>
                  <a:lnTo>
                    <a:pt x="202565" y="3625469"/>
                  </a:lnTo>
                  <a:cubicBezTo>
                    <a:pt x="90805" y="3625469"/>
                    <a:pt x="0" y="3535172"/>
                    <a:pt x="0" y="3423539"/>
                  </a:cubicBezTo>
                  <a:lnTo>
                    <a:pt x="0" y="201930"/>
                  </a:lnTo>
                  <a:lnTo>
                    <a:pt x="19050" y="201930"/>
                  </a:lnTo>
                  <a:lnTo>
                    <a:pt x="0" y="201930"/>
                  </a:lnTo>
                  <a:moveTo>
                    <a:pt x="38100" y="201930"/>
                  </a:moveTo>
                  <a:lnTo>
                    <a:pt x="38100" y="3423539"/>
                  </a:lnTo>
                  <a:lnTo>
                    <a:pt x="19050" y="3423539"/>
                  </a:lnTo>
                  <a:lnTo>
                    <a:pt x="38100" y="3423539"/>
                  </a:lnTo>
                  <a:cubicBezTo>
                    <a:pt x="38100" y="3513963"/>
                    <a:pt x="111633" y="3587369"/>
                    <a:pt x="202565" y="3587369"/>
                  </a:cubicBezTo>
                  <a:lnTo>
                    <a:pt x="4979035" y="3587369"/>
                  </a:lnTo>
                  <a:cubicBezTo>
                    <a:pt x="5069840" y="3587369"/>
                    <a:pt x="5143500" y="3513963"/>
                    <a:pt x="5143500" y="3423539"/>
                  </a:cubicBezTo>
                  <a:lnTo>
                    <a:pt x="5143500" y="201930"/>
                  </a:lnTo>
                  <a:cubicBezTo>
                    <a:pt x="5143500" y="111506"/>
                    <a:pt x="5069967" y="38100"/>
                    <a:pt x="4979035" y="38100"/>
                  </a:cubicBezTo>
                  <a:lnTo>
                    <a:pt x="202565" y="38100"/>
                  </a:lnTo>
                  <a:lnTo>
                    <a:pt x="202565" y="19050"/>
                  </a:lnTo>
                  <a:lnTo>
                    <a:pt x="202565" y="38100"/>
                  </a:lnTo>
                  <a:cubicBezTo>
                    <a:pt x="111633" y="38100"/>
                    <a:pt x="38100" y="111506"/>
                    <a:pt x="38100" y="201930"/>
                  </a:cubicBezTo>
                  <a:close/>
                </a:path>
              </a:pathLst>
            </a:custGeom>
            <a:solidFill>
              <a:srgbClr val="C3D4CC"/>
            </a:solidFill>
          </p:spPr>
        </p:sp>
      </p:grpSp>
      <p:grpSp>
        <p:nvGrpSpPr>
          <p:cNvPr id="18" name="Group 18"/>
          <p:cNvGrpSpPr/>
          <p:nvPr/>
        </p:nvGrpSpPr>
        <p:grpSpPr>
          <a:xfrm>
            <a:off x="9382125" y="3465309"/>
            <a:ext cx="114300" cy="2690517"/>
            <a:chOff x="0" y="0"/>
            <a:chExt cx="152400" cy="3587356"/>
          </a:xfrm>
        </p:grpSpPr>
        <p:sp>
          <p:nvSpPr>
            <p:cNvPr id="19" name="Freeform 19"/>
            <p:cNvSpPr/>
            <p:nvPr/>
          </p:nvSpPr>
          <p:spPr>
            <a:xfrm>
              <a:off x="0" y="0"/>
              <a:ext cx="152400" cy="3587369"/>
            </a:xfrm>
            <a:custGeom>
              <a:avLst/>
              <a:gdLst/>
              <a:ahLst/>
              <a:cxnLst/>
              <a:rect l="l" t="t" r="r" b="b"/>
              <a:pathLst>
                <a:path w="152400" h="3587369">
                  <a:moveTo>
                    <a:pt x="0" y="76200"/>
                  </a:moveTo>
                  <a:cubicBezTo>
                    <a:pt x="0" y="34163"/>
                    <a:pt x="34163" y="0"/>
                    <a:pt x="76200" y="0"/>
                  </a:cubicBezTo>
                  <a:cubicBezTo>
                    <a:pt x="118237" y="0"/>
                    <a:pt x="152400" y="34163"/>
                    <a:pt x="152400" y="76200"/>
                  </a:cubicBezTo>
                  <a:lnTo>
                    <a:pt x="152400" y="3511169"/>
                  </a:lnTo>
                  <a:cubicBezTo>
                    <a:pt x="152400" y="3553206"/>
                    <a:pt x="118237" y="3587369"/>
                    <a:pt x="76200" y="3587369"/>
                  </a:cubicBezTo>
                  <a:cubicBezTo>
                    <a:pt x="34163" y="3587369"/>
                    <a:pt x="0" y="3553206"/>
                    <a:pt x="0" y="3511169"/>
                  </a:cubicBezTo>
                  <a:close/>
                </a:path>
              </a:pathLst>
            </a:custGeom>
            <a:solidFill>
              <a:srgbClr val="224435"/>
            </a:solidFill>
          </p:spPr>
        </p:sp>
      </p:grpSp>
      <p:sp>
        <p:nvSpPr>
          <p:cNvPr id="20" name="TextBox 20"/>
          <p:cNvSpPr txBox="1"/>
          <p:nvPr/>
        </p:nvSpPr>
        <p:spPr>
          <a:xfrm>
            <a:off x="9735741" y="3685584"/>
            <a:ext cx="2635891" cy="348405"/>
          </a:xfrm>
          <a:prstGeom prst="rect">
            <a:avLst/>
          </a:prstGeom>
        </p:spPr>
        <p:txBody>
          <a:bodyPr lIns="0" tIns="0" rIns="0" bIns="0" rtlCol="0" anchor="t">
            <a:spAutoFit/>
          </a:bodyPr>
          <a:lstStyle/>
          <a:p>
            <a:pPr algn="l">
              <a:lnSpc>
                <a:spcPts val="2562"/>
              </a:lnSpc>
            </a:pPr>
            <a:r>
              <a:rPr lang="en-US" sz="2062" b="1">
                <a:solidFill>
                  <a:srgbClr val="3B4E4E"/>
                </a:solidFill>
                <a:latin typeface="Arimo Bold"/>
                <a:ea typeface="Arimo Bold"/>
                <a:cs typeface="Arimo Bold"/>
                <a:sym typeface="Arimo Bold"/>
              </a:rPr>
              <a:t>Before (Raw Text)</a:t>
            </a:r>
          </a:p>
        </p:txBody>
      </p:sp>
      <p:sp>
        <p:nvSpPr>
          <p:cNvPr id="21" name="TextBox 21"/>
          <p:cNvSpPr txBox="1"/>
          <p:nvPr/>
        </p:nvSpPr>
        <p:spPr>
          <a:xfrm>
            <a:off x="9735741" y="4136974"/>
            <a:ext cx="3293269" cy="1098204"/>
          </a:xfrm>
          <a:prstGeom prst="rect">
            <a:avLst/>
          </a:prstGeom>
        </p:spPr>
        <p:txBody>
          <a:bodyPr lIns="0" tIns="0" rIns="0" bIns="0" rtlCol="0" anchor="t">
            <a:spAutoFit/>
          </a:bodyPr>
          <a:lstStyle/>
          <a:p>
            <a:pPr algn="l">
              <a:lnSpc>
                <a:spcPts val="2437"/>
              </a:lnSpc>
            </a:pPr>
            <a:r>
              <a:rPr lang="en-US" sz="1625">
                <a:solidFill>
                  <a:srgbClr val="3B4E4E"/>
                </a:solidFill>
                <a:latin typeface="Consolas"/>
                <a:ea typeface="Consolas"/>
                <a:cs typeface="Consolas"/>
                <a:sym typeface="Consolas"/>
              </a:rPr>
              <a:t>fueltype: 'gas'aspiration: 'std'carbody: 'sedan'</a:t>
            </a:r>
          </a:p>
        </p:txBody>
      </p:sp>
      <p:grpSp>
        <p:nvGrpSpPr>
          <p:cNvPr id="22" name="Group 22"/>
          <p:cNvGrpSpPr/>
          <p:nvPr/>
        </p:nvGrpSpPr>
        <p:grpSpPr>
          <a:xfrm>
            <a:off x="13433222" y="3451022"/>
            <a:ext cx="3886352" cy="2719092"/>
            <a:chOff x="0" y="0"/>
            <a:chExt cx="5181803" cy="3625456"/>
          </a:xfrm>
        </p:grpSpPr>
        <p:sp>
          <p:nvSpPr>
            <p:cNvPr id="23" name="Freeform 23"/>
            <p:cNvSpPr/>
            <p:nvPr/>
          </p:nvSpPr>
          <p:spPr>
            <a:xfrm>
              <a:off x="19050" y="19050"/>
              <a:ext cx="5143754" cy="3587369"/>
            </a:xfrm>
            <a:custGeom>
              <a:avLst/>
              <a:gdLst/>
              <a:ahLst/>
              <a:cxnLst/>
              <a:rect l="l" t="t" r="r" b="b"/>
              <a:pathLst>
                <a:path w="5143754" h="3587369">
                  <a:moveTo>
                    <a:pt x="0" y="182880"/>
                  </a:moveTo>
                  <a:cubicBezTo>
                    <a:pt x="0" y="81915"/>
                    <a:pt x="82169" y="0"/>
                    <a:pt x="183515" y="0"/>
                  </a:cubicBezTo>
                  <a:lnTo>
                    <a:pt x="4960239" y="0"/>
                  </a:lnTo>
                  <a:cubicBezTo>
                    <a:pt x="5061585" y="0"/>
                    <a:pt x="5143754" y="81915"/>
                    <a:pt x="5143754" y="182880"/>
                  </a:cubicBezTo>
                  <a:lnTo>
                    <a:pt x="5143754" y="3404489"/>
                  </a:lnTo>
                  <a:cubicBezTo>
                    <a:pt x="5143754" y="3505454"/>
                    <a:pt x="5061585" y="3587369"/>
                    <a:pt x="4960239" y="3587369"/>
                  </a:cubicBezTo>
                  <a:lnTo>
                    <a:pt x="183515" y="3587369"/>
                  </a:lnTo>
                  <a:cubicBezTo>
                    <a:pt x="82169" y="3587369"/>
                    <a:pt x="0" y="3505454"/>
                    <a:pt x="0" y="3404489"/>
                  </a:cubicBezTo>
                  <a:close/>
                </a:path>
              </a:pathLst>
            </a:custGeom>
            <a:solidFill>
              <a:srgbClr val="FFFDE6"/>
            </a:solidFill>
          </p:spPr>
        </p:sp>
        <p:sp>
          <p:nvSpPr>
            <p:cNvPr id="24" name="Freeform 24"/>
            <p:cNvSpPr/>
            <p:nvPr/>
          </p:nvSpPr>
          <p:spPr>
            <a:xfrm>
              <a:off x="0" y="0"/>
              <a:ext cx="5181854" cy="3625469"/>
            </a:xfrm>
            <a:custGeom>
              <a:avLst/>
              <a:gdLst/>
              <a:ahLst/>
              <a:cxnLst/>
              <a:rect l="l" t="t" r="r" b="b"/>
              <a:pathLst>
                <a:path w="5181854" h="3625469">
                  <a:moveTo>
                    <a:pt x="0" y="201930"/>
                  </a:moveTo>
                  <a:cubicBezTo>
                    <a:pt x="0" y="90297"/>
                    <a:pt x="90678" y="0"/>
                    <a:pt x="202565" y="0"/>
                  </a:cubicBezTo>
                  <a:lnTo>
                    <a:pt x="4979289" y="0"/>
                  </a:lnTo>
                  <a:lnTo>
                    <a:pt x="4979289" y="19050"/>
                  </a:lnTo>
                  <a:lnTo>
                    <a:pt x="4979289" y="0"/>
                  </a:lnTo>
                  <a:cubicBezTo>
                    <a:pt x="5091049" y="0"/>
                    <a:pt x="5181854" y="90297"/>
                    <a:pt x="5181854" y="201930"/>
                  </a:cubicBezTo>
                  <a:lnTo>
                    <a:pt x="5162804" y="201930"/>
                  </a:lnTo>
                  <a:lnTo>
                    <a:pt x="5181854" y="201930"/>
                  </a:lnTo>
                  <a:lnTo>
                    <a:pt x="5181854" y="3423539"/>
                  </a:lnTo>
                  <a:lnTo>
                    <a:pt x="5162804" y="3423539"/>
                  </a:lnTo>
                  <a:lnTo>
                    <a:pt x="5181854" y="3423539"/>
                  </a:lnTo>
                  <a:cubicBezTo>
                    <a:pt x="5181854" y="3535172"/>
                    <a:pt x="5091176" y="3625469"/>
                    <a:pt x="4979289" y="3625469"/>
                  </a:cubicBezTo>
                  <a:lnTo>
                    <a:pt x="4979289" y="3606419"/>
                  </a:lnTo>
                  <a:lnTo>
                    <a:pt x="4979289" y="3625469"/>
                  </a:lnTo>
                  <a:lnTo>
                    <a:pt x="202565" y="3625469"/>
                  </a:lnTo>
                  <a:lnTo>
                    <a:pt x="202565" y="3606419"/>
                  </a:lnTo>
                  <a:lnTo>
                    <a:pt x="202565" y="3625469"/>
                  </a:lnTo>
                  <a:cubicBezTo>
                    <a:pt x="90805" y="3625469"/>
                    <a:pt x="0" y="3535172"/>
                    <a:pt x="0" y="3423539"/>
                  </a:cubicBezTo>
                  <a:lnTo>
                    <a:pt x="0" y="201930"/>
                  </a:lnTo>
                  <a:lnTo>
                    <a:pt x="19050" y="201930"/>
                  </a:lnTo>
                  <a:lnTo>
                    <a:pt x="0" y="201930"/>
                  </a:lnTo>
                  <a:moveTo>
                    <a:pt x="38100" y="201930"/>
                  </a:moveTo>
                  <a:lnTo>
                    <a:pt x="38100" y="3423539"/>
                  </a:lnTo>
                  <a:lnTo>
                    <a:pt x="19050" y="3423539"/>
                  </a:lnTo>
                  <a:lnTo>
                    <a:pt x="38100" y="3423539"/>
                  </a:lnTo>
                  <a:cubicBezTo>
                    <a:pt x="38100" y="3513963"/>
                    <a:pt x="111633" y="3587369"/>
                    <a:pt x="202565" y="3587369"/>
                  </a:cubicBezTo>
                  <a:lnTo>
                    <a:pt x="4979289" y="3587369"/>
                  </a:lnTo>
                  <a:cubicBezTo>
                    <a:pt x="5070094" y="3587369"/>
                    <a:pt x="5143754" y="3513963"/>
                    <a:pt x="5143754" y="3423539"/>
                  </a:cubicBezTo>
                  <a:lnTo>
                    <a:pt x="5143754" y="201930"/>
                  </a:lnTo>
                  <a:cubicBezTo>
                    <a:pt x="5143754" y="111506"/>
                    <a:pt x="5070221" y="38100"/>
                    <a:pt x="4979289" y="38100"/>
                  </a:cubicBezTo>
                  <a:lnTo>
                    <a:pt x="202565" y="38100"/>
                  </a:lnTo>
                  <a:lnTo>
                    <a:pt x="202565" y="19050"/>
                  </a:lnTo>
                  <a:lnTo>
                    <a:pt x="202565" y="38100"/>
                  </a:lnTo>
                  <a:cubicBezTo>
                    <a:pt x="111633" y="38100"/>
                    <a:pt x="38100" y="111506"/>
                    <a:pt x="38100" y="201930"/>
                  </a:cubicBezTo>
                  <a:close/>
                </a:path>
              </a:pathLst>
            </a:custGeom>
            <a:solidFill>
              <a:srgbClr val="C3D4CC"/>
            </a:solidFill>
          </p:spPr>
        </p:sp>
      </p:grpSp>
      <p:grpSp>
        <p:nvGrpSpPr>
          <p:cNvPr id="25" name="Group 25"/>
          <p:cNvGrpSpPr/>
          <p:nvPr/>
        </p:nvGrpSpPr>
        <p:grpSpPr>
          <a:xfrm>
            <a:off x="13418934" y="3465309"/>
            <a:ext cx="114300" cy="2690517"/>
            <a:chOff x="0" y="0"/>
            <a:chExt cx="152400" cy="3587356"/>
          </a:xfrm>
        </p:grpSpPr>
        <p:sp>
          <p:nvSpPr>
            <p:cNvPr id="26" name="Freeform 26"/>
            <p:cNvSpPr/>
            <p:nvPr/>
          </p:nvSpPr>
          <p:spPr>
            <a:xfrm>
              <a:off x="0" y="0"/>
              <a:ext cx="152400" cy="3587369"/>
            </a:xfrm>
            <a:custGeom>
              <a:avLst/>
              <a:gdLst/>
              <a:ahLst/>
              <a:cxnLst/>
              <a:rect l="l" t="t" r="r" b="b"/>
              <a:pathLst>
                <a:path w="152400" h="3587369">
                  <a:moveTo>
                    <a:pt x="0" y="76200"/>
                  </a:moveTo>
                  <a:cubicBezTo>
                    <a:pt x="0" y="34163"/>
                    <a:pt x="34163" y="0"/>
                    <a:pt x="76200" y="0"/>
                  </a:cubicBezTo>
                  <a:cubicBezTo>
                    <a:pt x="118237" y="0"/>
                    <a:pt x="152400" y="34163"/>
                    <a:pt x="152400" y="76200"/>
                  </a:cubicBezTo>
                  <a:lnTo>
                    <a:pt x="152400" y="3511169"/>
                  </a:lnTo>
                  <a:cubicBezTo>
                    <a:pt x="152400" y="3553206"/>
                    <a:pt x="118237" y="3587369"/>
                    <a:pt x="76200" y="3587369"/>
                  </a:cubicBezTo>
                  <a:cubicBezTo>
                    <a:pt x="34163" y="3587369"/>
                    <a:pt x="0" y="3553206"/>
                    <a:pt x="0" y="3511169"/>
                  </a:cubicBezTo>
                  <a:close/>
                </a:path>
              </a:pathLst>
            </a:custGeom>
            <a:solidFill>
              <a:srgbClr val="224435"/>
            </a:solidFill>
          </p:spPr>
        </p:sp>
      </p:grpSp>
      <p:sp>
        <p:nvSpPr>
          <p:cNvPr id="27" name="TextBox 27"/>
          <p:cNvSpPr txBox="1"/>
          <p:nvPr/>
        </p:nvSpPr>
        <p:spPr>
          <a:xfrm>
            <a:off x="13772559" y="3685584"/>
            <a:ext cx="3240291" cy="348405"/>
          </a:xfrm>
          <a:prstGeom prst="rect">
            <a:avLst/>
          </a:prstGeom>
        </p:spPr>
        <p:txBody>
          <a:bodyPr lIns="0" tIns="0" rIns="0" bIns="0" rtlCol="0" anchor="t">
            <a:spAutoFit/>
          </a:bodyPr>
          <a:lstStyle/>
          <a:p>
            <a:pPr algn="l">
              <a:lnSpc>
                <a:spcPts val="2562"/>
              </a:lnSpc>
            </a:pPr>
            <a:r>
              <a:rPr lang="en-US" sz="2062" b="1">
                <a:solidFill>
                  <a:srgbClr val="3B4E4E"/>
                </a:solidFill>
                <a:latin typeface="Arimo Bold"/>
                <a:ea typeface="Arimo Bold"/>
                <a:cs typeface="Arimo Bold"/>
                <a:sym typeface="Arimo Bold"/>
              </a:rPr>
              <a:t>After (Binary Columns)</a:t>
            </a:r>
          </a:p>
        </p:txBody>
      </p:sp>
      <p:sp>
        <p:nvSpPr>
          <p:cNvPr id="28" name="TextBox 28"/>
          <p:cNvSpPr txBox="1"/>
          <p:nvPr/>
        </p:nvSpPr>
        <p:spPr>
          <a:xfrm>
            <a:off x="13772559" y="4136974"/>
            <a:ext cx="3293421" cy="1779537"/>
          </a:xfrm>
          <a:prstGeom prst="rect">
            <a:avLst/>
          </a:prstGeom>
        </p:spPr>
        <p:txBody>
          <a:bodyPr lIns="0" tIns="0" rIns="0" bIns="0" rtlCol="0" anchor="t">
            <a:spAutoFit/>
          </a:bodyPr>
          <a:lstStyle/>
          <a:p>
            <a:pPr algn="l">
              <a:lnSpc>
                <a:spcPts val="2437"/>
              </a:lnSpc>
            </a:pPr>
            <a:r>
              <a:rPr lang="en-US" sz="1625">
                <a:solidFill>
                  <a:srgbClr val="3B4E4E"/>
                </a:solidFill>
                <a:latin typeface="Consolas"/>
                <a:ea typeface="Consolas"/>
                <a:cs typeface="Consolas"/>
                <a:sym typeface="Consolas"/>
              </a:rPr>
              <a:t>fueltype_gas: 1, fueltype_diesel: 0aspiration_std: 1, aspiration_turbo: 0carbody_sedan: 1, carbody_hatchback: 0...</a:t>
            </a:r>
          </a:p>
        </p:txBody>
      </p:sp>
      <p:grpSp>
        <p:nvGrpSpPr>
          <p:cNvPr id="29" name="Group 29"/>
          <p:cNvGrpSpPr/>
          <p:nvPr/>
        </p:nvGrpSpPr>
        <p:grpSpPr>
          <a:xfrm>
            <a:off x="9410700" y="6357347"/>
            <a:ext cx="7894587" cy="1746799"/>
            <a:chOff x="0" y="0"/>
            <a:chExt cx="10526116" cy="2329066"/>
          </a:xfrm>
        </p:grpSpPr>
        <p:sp>
          <p:nvSpPr>
            <p:cNvPr id="30" name="Freeform 30"/>
            <p:cNvSpPr/>
            <p:nvPr/>
          </p:nvSpPr>
          <p:spPr>
            <a:xfrm>
              <a:off x="0" y="0"/>
              <a:ext cx="10526141" cy="2329053"/>
            </a:xfrm>
            <a:custGeom>
              <a:avLst/>
              <a:gdLst/>
              <a:ahLst/>
              <a:cxnLst/>
              <a:rect l="l" t="t" r="r" b="b"/>
              <a:pathLst>
                <a:path w="10526141" h="2329053">
                  <a:moveTo>
                    <a:pt x="0" y="118110"/>
                  </a:moveTo>
                  <a:cubicBezTo>
                    <a:pt x="0" y="52832"/>
                    <a:pt x="52832" y="0"/>
                    <a:pt x="118110" y="0"/>
                  </a:cubicBezTo>
                  <a:lnTo>
                    <a:pt x="10408031" y="0"/>
                  </a:lnTo>
                  <a:cubicBezTo>
                    <a:pt x="10473310" y="0"/>
                    <a:pt x="10526141" y="52832"/>
                    <a:pt x="10526141" y="118110"/>
                  </a:cubicBezTo>
                  <a:lnTo>
                    <a:pt x="10526141" y="2210943"/>
                  </a:lnTo>
                  <a:cubicBezTo>
                    <a:pt x="10526141" y="2276221"/>
                    <a:pt x="10473310" y="2329053"/>
                    <a:pt x="10408031" y="2329053"/>
                  </a:cubicBezTo>
                  <a:lnTo>
                    <a:pt x="118110" y="2329053"/>
                  </a:lnTo>
                  <a:cubicBezTo>
                    <a:pt x="52832" y="2329053"/>
                    <a:pt x="0" y="2276221"/>
                    <a:pt x="0" y="2210943"/>
                  </a:cubicBezTo>
                  <a:close/>
                </a:path>
              </a:pathLst>
            </a:custGeom>
            <a:solidFill>
              <a:srgbClr val="CCE5DA"/>
            </a:solidFill>
          </p:spPr>
        </p:sp>
      </p:grpSp>
      <p:grpSp>
        <p:nvGrpSpPr>
          <p:cNvPr id="31" name="Group 31"/>
          <p:cNvGrpSpPr/>
          <p:nvPr/>
        </p:nvGrpSpPr>
        <p:grpSpPr>
          <a:xfrm>
            <a:off x="9621441" y="6645916"/>
            <a:ext cx="263576" cy="210741"/>
            <a:chOff x="0" y="0"/>
            <a:chExt cx="351434" cy="280988"/>
          </a:xfrm>
        </p:grpSpPr>
        <p:sp>
          <p:nvSpPr>
            <p:cNvPr id="32" name="Freeform 32" descr="preencoded.png"/>
            <p:cNvSpPr/>
            <p:nvPr/>
          </p:nvSpPr>
          <p:spPr>
            <a:xfrm>
              <a:off x="0" y="0"/>
              <a:ext cx="351409" cy="281051"/>
            </a:xfrm>
            <a:custGeom>
              <a:avLst/>
              <a:gdLst/>
              <a:ahLst/>
              <a:cxnLst/>
              <a:rect l="l" t="t" r="r" b="b"/>
              <a:pathLst>
                <a:path w="351409" h="281051">
                  <a:moveTo>
                    <a:pt x="0" y="0"/>
                  </a:moveTo>
                  <a:lnTo>
                    <a:pt x="351409" y="0"/>
                  </a:lnTo>
                  <a:lnTo>
                    <a:pt x="351409" y="281051"/>
                  </a:lnTo>
                  <a:lnTo>
                    <a:pt x="0" y="281051"/>
                  </a:lnTo>
                  <a:lnTo>
                    <a:pt x="0" y="0"/>
                  </a:lnTo>
                  <a:close/>
                </a:path>
              </a:pathLst>
            </a:custGeom>
            <a:blipFill>
              <a:blip r:embed="rId2"/>
              <a:stretch>
                <a:fillRect l="-881" r="-885" b="22"/>
              </a:stretch>
            </a:blipFill>
          </p:spPr>
        </p:sp>
      </p:grpSp>
      <p:sp>
        <p:nvSpPr>
          <p:cNvPr id="33" name="TextBox 33"/>
          <p:cNvSpPr txBox="1"/>
          <p:nvPr/>
        </p:nvSpPr>
        <p:spPr>
          <a:xfrm>
            <a:off x="10095757" y="6541589"/>
            <a:ext cx="6998789" cy="1295991"/>
          </a:xfrm>
          <a:prstGeom prst="rect">
            <a:avLst/>
          </a:prstGeom>
        </p:spPr>
        <p:txBody>
          <a:bodyPr lIns="0" tIns="0" rIns="0" bIns="0" rtlCol="0" anchor="t">
            <a:spAutoFit/>
          </a:bodyPr>
          <a:lstStyle/>
          <a:p>
            <a:pPr algn="l">
              <a:lnSpc>
                <a:spcPts val="2437"/>
              </a:lnSpc>
            </a:pPr>
            <a:r>
              <a:rPr lang="en-US" sz="1625" b="1">
                <a:solidFill>
                  <a:srgbClr val="000000"/>
                </a:solidFill>
                <a:latin typeface="Overpass Bold"/>
                <a:ea typeface="Overpass Bold"/>
                <a:cs typeface="Overpass Bold"/>
                <a:sym typeface="Overpass Bold"/>
              </a:rPr>
              <a:t>Manhattan Coding Note:</a:t>
            </a:r>
            <a:r>
              <a:rPr lang="en-US" sz="1625">
                <a:solidFill>
                  <a:srgbClr val="000000"/>
                </a:solidFill>
                <a:latin typeface="Overpass Light"/>
                <a:ea typeface="Overpass Light"/>
                <a:cs typeface="Overpass Light"/>
                <a:sym typeface="Overpass Light"/>
              </a:rPr>
              <a:t> One-hot encoding is sometimes called "dummy coding" or "Manhattan coding." The key trade-off: it increases dimensionality (more columns) but preserves full categorical information without imposing artificial ordinal relationships.</a:t>
            </a:r>
          </a:p>
        </p:txBody>
      </p:sp>
      <p:sp>
        <p:nvSpPr>
          <p:cNvPr id="34" name="TextBox 34"/>
          <p:cNvSpPr txBox="1"/>
          <p:nvPr/>
        </p:nvSpPr>
        <p:spPr>
          <a:xfrm>
            <a:off x="9410700" y="8258023"/>
            <a:ext cx="7894587" cy="983904"/>
          </a:xfrm>
          <a:prstGeom prst="rect">
            <a:avLst/>
          </a:prstGeom>
        </p:spPr>
        <p:txBody>
          <a:bodyPr lIns="0" tIns="0" rIns="0" bIns="0" rtlCol="0" anchor="t">
            <a:spAutoFit/>
          </a:bodyPr>
          <a:lstStyle/>
          <a:p>
            <a:pPr algn="l">
              <a:lnSpc>
                <a:spcPts val="2437"/>
              </a:lnSpc>
            </a:pPr>
            <a:r>
              <a:rPr lang="en-US" sz="1625">
                <a:solidFill>
                  <a:srgbClr val="3B4E4E"/>
                </a:solidFill>
                <a:latin typeface="Overpass Light"/>
                <a:ea typeface="Overpass Light"/>
                <a:cs typeface="Overpass Light"/>
                <a:sym typeface="Overpass Light"/>
              </a:rPr>
              <a:t>The result is a </a:t>
            </a:r>
            <a:r>
              <a:rPr lang="en-US" sz="1625" b="1">
                <a:solidFill>
                  <a:srgbClr val="3B4E4E"/>
                </a:solidFill>
                <a:latin typeface="Overpass Bold"/>
                <a:ea typeface="Overpass Bold"/>
                <a:cs typeface="Overpass Bold"/>
                <a:sym typeface="Overpass Bold"/>
              </a:rPr>
              <a:t>fully numeric DataFrame</a:t>
            </a:r>
            <a:r>
              <a:rPr lang="en-US" sz="1625">
                <a:solidFill>
                  <a:srgbClr val="3B4E4E"/>
                </a:solidFill>
                <a:latin typeface="Overpass Light"/>
                <a:ea typeface="Overpass Light"/>
                <a:cs typeface="Overpass Light"/>
                <a:sym typeface="Overpass Light"/>
              </a:rPr>
              <a:t> ready for train-test splitting and model fitting. All categorical columns are expanded, and the dataset is mathematically compatible with any scikit-learn estimator.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9F4BE"/>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DE6"/>
            </a:solidFill>
          </p:spPr>
        </p:sp>
      </p:grpSp>
      <p:sp>
        <p:nvSpPr>
          <p:cNvPr id="6" name="TextBox 6"/>
          <p:cNvSpPr txBox="1"/>
          <p:nvPr/>
        </p:nvSpPr>
        <p:spPr>
          <a:xfrm>
            <a:off x="992238" y="776440"/>
            <a:ext cx="10696575" cy="784022"/>
          </a:xfrm>
          <a:prstGeom prst="rect">
            <a:avLst/>
          </a:prstGeom>
        </p:spPr>
        <p:txBody>
          <a:bodyPr lIns="0" tIns="0" rIns="0" bIns="0" rtlCol="0" anchor="t">
            <a:spAutoFit/>
          </a:bodyPr>
          <a:lstStyle/>
          <a:p>
            <a:pPr algn="l">
              <a:lnSpc>
                <a:spcPts val="5750"/>
              </a:lnSpc>
            </a:pPr>
            <a:r>
              <a:rPr lang="en-US" sz="4625" b="1">
                <a:solidFill>
                  <a:srgbClr val="233939"/>
                </a:solidFill>
                <a:latin typeface="Arimo Bold"/>
                <a:ea typeface="Arimo Bold"/>
                <a:cs typeface="Arimo Bold"/>
                <a:sym typeface="Arimo Bold"/>
              </a:rPr>
              <a:t>Model Training: Split, Fit &amp; Predict</a:t>
            </a:r>
          </a:p>
        </p:txBody>
      </p:sp>
      <p:sp>
        <p:nvSpPr>
          <p:cNvPr id="7" name="TextBox 7"/>
          <p:cNvSpPr txBox="1"/>
          <p:nvPr/>
        </p:nvSpPr>
        <p:spPr>
          <a:xfrm>
            <a:off x="992238" y="1941462"/>
            <a:ext cx="16303523" cy="802186"/>
          </a:xfrm>
          <a:prstGeom prst="rect">
            <a:avLst/>
          </a:prstGeom>
        </p:spPr>
        <p:txBody>
          <a:bodyPr lIns="0" tIns="0" rIns="0" bIns="0" rtlCol="0" anchor="t">
            <a:spAutoFit/>
          </a:bodyPr>
          <a:lstStyle/>
          <a:p>
            <a:pPr algn="l">
              <a:lnSpc>
                <a:spcPts val="2875"/>
              </a:lnSpc>
            </a:pPr>
            <a:r>
              <a:rPr lang="en-US" sz="1812">
                <a:solidFill>
                  <a:srgbClr val="3B4E4E"/>
                </a:solidFill>
                <a:latin typeface="Overpass Light"/>
                <a:ea typeface="Overpass Light"/>
                <a:cs typeface="Overpass Light"/>
                <a:sym typeface="Overpass Light"/>
              </a:rPr>
              <a:t>With a clean, encoded, numeric dataset, we are ready to train the model. This phase involves separating features from the target, dividing data into training and testing sets, selecting a regression algorithm, and generating predictions on unseen data.</a:t>
            </a:r>
          </a:p>
        </p:txBody>
      </p:sp>
      <p:sp>
        <p:nvSpPr>
          <p:cNvPr id="8" name="TextBox 8"/>
          <p:cNvSpPr txBox="1"/>
          <p:nvPr/>
        </p:nvSpPr>
        <p:spPr>
          <a:xfrm>
            <a:off x="992238" y="2909735"/>
            <a:ext cx="471335" cy="380257"/>
          </a:xfrm>
          <a:prstGeom prst="rect">
            <a:avLst/>
          </a:prstGeom>
        </p:spPr>
        <p:txBody>
          <a:bodyPr lIns="0" tIns="0" rIns="0" bIns="0" rtlCol="0" anchor="t">
            <a:spAutoFit/>
          </a:bodyPr>
          <a:lstStyle/>
          <a:p>
            <a:pPr algn="l">
              <a:lnSpc>
                <a:spcPts val="2875"/>
              </a:lnSpc>
            </a:pPr>
            <a:r>
              <a:rPr lang="en-US" sz="1812">
                <a:solidFill>
                  <a:srgbClr val="3B4E4E"/>
                </a:solidFill>
                <a:latin typeface="Arimo"/>
                <a:ea typeface="Arimo"/>
                <a:cs typeface="Arimo"/>
                <a:sym typeface="Arimo"/>
              </a:rPr>
              <a:t>01</a:t>
            </a:r>
          </a:p>
        </p:txBody>
      </p:sp>
      <p:grpSp>
        <p:nvGrpSpPr>
          <p:cNvPr id="9" name="Group 9"/>
          <p:cNvGrpSpPr/>
          <p:nvPr/>
        </p:nvGrpSpPr>
        <p:grpSpPr>
          <a:xfrm>
            <a:off x="992238" y="3367240"/>
            <a:ext cx="8039843" cy="28575"/>
            <a:chOff x="0" y="0"/>
            <a:chExt cx="10719791" cy="38100"/>
          </a:xfrm>
        </p:grpSpPr>
        <p:sp>
          <p:nvSpPr>
            <p:cNvPr id="10" name="Freeform 10"/>
            <p:cNvSpPr/>
            <p:nvPr/>
          </p:nvSpPr>
          <p:spPr>
            <a:xfrm>
              <a:off x="0" y="0"/>
              <a:ext cx="10719816" cy="38100"/>
            </a:xfrm>
            <a:custGeom>
              <a:avLst/>
              <a:gdLst/>
              <a:ahLst/>
              <a:cxnLst/>
              <a:rect l="l" t="t" r="r" b="b"/>
              <a:pathLst>
                <a:path w="10719816" h="38100">
                  <a:moveTo>
                    <a:pt x="0" y="0"/>
                  </a:moveTo>
                  <a:lnTo>
                    <a:pt x="10719816" y="0"/>
                  </a:lnTo>
                  <a:lnTo>
                    <a:pt x="10719816" y="38100"/>
                  </a:lnTo>
                  <a:lnTo>
                    <a:pt x="0" y="38100"/>
                  </a:lnTo>
                  <a:close/>
                </a:path>
              </a:pathLst>
            </a:custGeom>
            <a:solidFill>
              <a:srgbClr val="224435"/>
            </a:solidFill>
          </p:spPr>
        </p:sp>
      </p:grpSp>
      <p:sp>
        <p:nvSpPr>
          <p:cNvPr id="11" name="TextBox 11"/>
          <p:cNvSpPr txBox="1"/>
          <p:nvPr/>
        </p:nvSpPr>
        <p:spPr>
          <a:xfrm>
            <a:off x="992238" y="3513534"/>
            <a:ext cx="4931416" cy="396926"/>
          </a:xfrm>
          <a:prstGeom prst="rect">
            <a:avLst/>
          </a:prstGeom>
        </p:spPr>
        <p:txBody>
          <a:bodyPr lIns="0" tIns="0" rIns="0" bIns="0" rtlCol="0" anchor="t">
            <a:spAutoFit/>
          </a:bodyPr>
          <a:lstStyle/>
          <a:p>
            <a:pPr algn="l">
              <a:lnSpc>
                <a:spcPts val="2875"/>
              </a:lnSpc>
            </a:pPr>
            <a:r>
              <a:rPr lang="en-US" sz="2312" b="1">
                <a:solidFill>
                  <a:srgbClr val="3B4E4E"/>
                </a:solidFill>
                <a:latin typeface="Arimo Bold"/>
                <a:ea typeface="Arimo Bold"/>
                <a:cs typeface="Arimo Bold"/>
                <a:sym typeface="Arimo Bold"/>
              </a:rPr>
              <a:t>Define Features (X) &amp; Target (y)</a:t>
            </a:r>
          </a:p>
        </p:txBody>
      </p:sp>
      <p:sp>
        <p:nvSpPr>
          <p:cNvPr id="12" name="TextBox 12"/>
          <p:cNvSpPr txBox="1"/>
          <p:nvPr/>
        </p:nvSpPr>
        <p:spPr>
          <a:xfrm>
            <a:off x="992238" y="3978031"/>
            <a:ext cx="8039843" cy="1594847"/>
          </a:xfrm>
          <a:prstGeom prst="rect">
            <a:avLst/>
          </a:prstGeom>
        </p:spPr>
        <p:txBody>
          <a:bodyPr lIns="0" tIns="0" rIns="0" bIns="0" rtlCol="0" anchor="t">
            <a:spAutoFit/>
          </a:bodyPr>
          <a:lstStyle/>
          <a:p>
            <a:pPr algn="l">
              <a:lnSpc>
                <a:spcPts val="2875"/>
              </a:lnSpc>
            </a:pPr>
            <a:r>
              <a:rPr lang="en-US" sz="1812">
                <a:solidFill>
                  <a:srgbClr val="3B4E4E"/>
                </a:solidFill>
                <a:latin typeface="Overpass Light"/>
                <a:ea typeface="Overpass Light"/>
                <a:cs typeface="Overpass Light"/>
                <a:sym typeface="Overpass Light"/>
              </a:rPr>
              <a:t>We separate the dataset into </a:t>
            </a:r>
            <a:r>
              <a:rPr lang="en-US" sz="1812" b="1">
                <a:solidFill>
                  <a:srgbClr val="3B4E4E"/>
                </a:solidFill>
                <a:latin typeface="Overpass Bold"/>
                <a:ea typeface="Overpass Bold"/>
                <a:cs typeface="Overpass Bold"/>
                <a:sym typeface="Overpass Bold"/>
              </a:rPr>
              <a:t>features (X)</a:t>
            </a:r>
            <a:r>
              <a:rPr lang="en-US" sz="1812">
                <a:solidFill>
                  <a:srgbClr val="3B4E4E"/>
                </a:solidFill>
                <a:latin typeface="Overpass Light"/>
                <a:ea typeface="Overpass Light"/>
                <a:cs typeface="Overpass Light"/>
                <a:sym typeface="Overpass Light"/>
              </a:rPr>
              <a:t> — all 26 cleaned and encoded input columns — and the </a:t>
            </a:r>
            <a:r>
              <a:rPr lang="en-US" sz="1812" b="1">
                <a:solidFill>
                  <a:srgbClr val="3B4E4E"/>
                </a:solidFill>
                <a:latin typeface="Overpass Bold"/>
                <a:ea typeface="Overpass Bold"/>
                <a:cs typeface="Overpass Bold"/>
                <a:sym typeface="Overpass Bold"/>
              </a:rPr>
              <a:t>target (y)</a:t>
            </a:r>
            <a:r>
              <a:rPr lang="en-US" sz="1812">
                <a:solidFill>
                  <a:srgbClr val="3B4E4E"/>
                </a:solidFill>
                <a:latin typeface="Overpass Light"/>
                <a:ea typeface="Overpass Light"/>
                <a:cs typeface="Overpass Light"/>
                <a:sym typeface="Overpass Light"/>
              </a:rPr>
              <a:t>, which is the </a:t>
            </a:r>
            <a:r>
              <a:rPr lang="en-US" sz="1812">
                <a:solidFill>
                  <a:srgbClr val="3B4E4E"/>
                </a:solidFill>
                <a:latin typeface="Overpass"/>
                <a:ea typeface="Overpass"/>
                <a:cs typeface="Overpass"/>
                <a:sym typeface="Overpass"/>
              </a:rPr>
              <a:t>price</a:t>
            </a:r>
            <a:r>
              <a:rPr lang="en-US" sz="1812">
                <a:solidFill>
                  <a:srgbClr val="3B4E4E"/>
                </a:solidFill>
                <a:latin typeface="Overpass Light"/>
                <a:ea typeface="Overpass Light"/>
                <a:cs typeface="Overpass Light"/>
                <a:sym typeface="Overpass Light"/>
              </a:rPr>
              <a:t> column. In code: </a:t>
            </a:r>
            <a:r>
              <a:rPr lang="en-US" sz="1812">
                <a:solidFill>
                  <a:srgbClr val="3B4E4E"/>
                </a:solidFill>
                <a:latin typeface="Overpass"/>
                <a:ea typeface="Overpass"/>
                <a:cs typeface="Overpass"/>
                <a:sym typeface="Overpass"/>
              </a:rPr>
              <a:t>X = df.drop('price', axis=1)</a:t>
            </a:r>
            <a:r>
              <a:rPr lang="en-US" sz="1812">
                <a:solidFill>
                  <a:srgbClr val="3B4E4E"/>
                </a:solidFill>
                <a:latin typeface="Overpass Light"/>
                <a:ea typeface="Overpass Light"/>
                <a:cs typeface="Overpass Light"/>
                <a:sym typeface="Overpass Light"/>
              </a:rPr>
              <a:t> and </a:t>
            </a:r>
            <a:r>
              <a:rPr lang="en-US" sz="1812">
                <a:solidFill>
                  <a:srgbClr val="3B4E4E"/>
                </a:solidFill>
                <a:latin typeface="Overpass"/>
                <a:ea typeface="Overpass"/>
                <a:cs typeface="Overpass"/>
                <a:sym typeface="Overpass"/>
              </a:rPr>
              <a:t>y = df['price']</a:t>
            </a:r>
            <a:r>
              <a:rPr lang="en-US" sz="1812">
                <a:solidFill>
                  <a:srgbClr val="3B4E4E"/>
                </a:solidFill>
                <a:latin typeface="Overpass Light"/>
                <a:ea typeface="Overpass Light"/>
                <a:cs typeface="Overpass Light"/>
                <a:sym typeface="Overpass Light"/>
              </a:rPr>
              <a:t>. This separation is fundamental: the model learns the mapping from X to y.</a:t>
            </a:r>
          </a:p>
        </p:txBody>
      </p:sp>
      <p:sp>
        <p:nvSpPr>
          <p:cNvPr id="13" name="TextBox 13"/>
          <p:cNvSpPr txBox="1"/>
          <p:nvPr/>
        </p:nvSpPr>
        <p:spPr>
          <a:xfrm>
            <a:off x="9255919" y="2909735"/>
            <a:ext cx="471335" cy="380257"/>
          </a:xfrm>
          <a:prstGeom prst="rect">
            <a:avLst/>
          </a:prstGeom>
        </p:spPr>
        <p:txBody>
          <a:bodyPr lIns="0" tIns="0" rIns="0" bIns="0" rtlCol="0" anchor="t">
            <a:spAutoFit/>
          </a:bodyPr>
          <a:lstStyle/>
          <a:p>
            <a:pPr algn="l">
              <a:lnSpc>
                <a:spcPts val="2875"/>
              </a:lnSpc>
            </a:pPr>
            <a:r>
              <a:rPr lang="en-US" sz="1812">
                <a:solidFill>
                  <a:srgbClr val="3B4E4E"/>
                </a:solidFill>
                <a:latin typeface="Arimo"/>
                <a:ea typeface="Arimo"/>
                <a:cs typeface="Arimo"/>
                <a:sym typeface="Arimo"/>
              </a:rPr>
              <a:t>02</a:t>
            </a:r>
          </a:p>
        </p:txBody>
      </p:sp>
      <p:grpSp>
        <p:nvGrpSpPr>
          <p:cNvPr id="14" name="Group 14"/>
          <p:cNvGrpSpPr/>
          <p:nvPr/>
        </p:nvGrpSpPr>
        <p:grpSpPr>
          <a:xfrm>
            <a:off x="9255919" y="3367240"/>
            <a:ext cx="8039843" cy="28575"/>
            <a:chOff x="0" y="0"/>
            <a:chExt cx="10719791" cy="38100"/>
          </a:xfrm>
        </p:grpSpPr>
        <p:sp>
          <p:nvSpPr>
            <p:cNvPr id="15" name="Freeform 15"/>
            <p:cNvSpPr/>
            <p:nvPr/>
          </p:nvSpPr>
          <p:spPr>
            <a:xfrm>
              <a:off x="0" y="0"/>
              <a:ext cx="10719816" cy="38100"/>
            </a:xfrm>
            <a:custGeom>
              <a:avLst/>
              <a:gdLst/>
              <a:ahLst/>
              <a:cxnLst/>
              <a:rect l="l" t="t" r="r" b="b"/>
              <a:pathLst>
                <a:path w="10719816" h="38100">
                  <a:moveTo>
                    <a:pt x="0" y="0"/>
                  </a:moveTo>
                  <a:lnTo>
                    <a:pt x="10719816" y="0"/>
                  </a:lnTo>
                  <a:lnTo>
                    <a:pt x="10719816" y="38100"/>
                  </a:lnTo>
                  <a:lnTo>
                    <a:pt x="0" y="38100"/>
                  </a:lnTo>
                  <a:close/>
                </a:path>
              </a:pathLst>
            </a:custGeom>
            <a:solidFill>
              <a:srgbClr val="224435"/>
            </a:solidFill>
          </p:spPr>
        </p:sp>
      </p:grpSp>
      <p:sp>
        <p:nvSpPr>
          <p:cNvPr id="16" name="TextBox 16"/>
          <p:cNvSpPr txBox="1"/>
          <p:nvPr/>
        </p:nvSpPr>
        <p:spPr>
          <a:xfrm>
            <a:off x="9255919" y="3513534"/>
            <a:ext cx="3627834" cy="396926"/>
          </a:xfrm>
          <a:prstGeom prst="rect">
            <a:avLst/>
          </a:prstGeom>
        </p:spPr>
        <p:txBody>
          <a:bodyPr lIns="0" tIns="0" rIns="0" bIns="0" rtlCol="0" anchor="t">
            <a:spAutoFit/>
          </a:bodyPr>
          <a:lstStyle/>
          <a:p>
            <a:pPr algn="l">
              <a:lnSpc>
                <a:spcPts val="2875"/>
              </a:lnSpc>
            </a:pPr>
            <a:r>
              <a:rPr lang="en-US" sz="2312" b="1">
                <a:solidFill>
                  <a:srgbClr val="3B4E4E"/>
                </a:solidFill>
                <a:latin typeface="Arimo Bold"/>
                <a:ea typeface="Arimo Bold"/>
                <a:cs typeface="Arimo Bold"/>
                <a:sym typeface="Arimo Bold"/>
              </a:rPr>
              <a:t>Train-Test Split (80/20)</a:t>
            </a:r>
          </a:p>
        </p:txBody>
      </p:sp>
      <p:sp>
        <p:nvSpPr>
          <p:cNvPr id="17" name="TextBox 17"/>
          <p:cNvSpPr txBox="1"/>
          <p:nvPr/>
        </p:nvSpPr>
        <p:spPr>
          <a:xfrm>
            <a:off x="9255919" y="3978031"/>
            <a:ext cx="8039843" cy="1962598"/>
          </a:xfrm>
          <a:prstGeom prst="rect">
            <a:avLst/>
          </a:prstGeom>
        </p:spPr>
        <p:txBody>
          <a:bodyPr lIns="0" tIns="0" rIns="0" bIns="0" rtlCol="0" anchor="t">
            <a:spAutoFit/>
          </a:bodyPr>
          <a:lstStyle/>
          <a:p>
            <a:pPr algn="l">
              <a:lnSpc>
                <a:spcPts val="2875"/>
              </a:lnSpc>
            </a:pPr>
            <a:r>
              <a:rPr lang="en-US" sz="1812">
                <a:solidFill>
                  <a:srgbClr val="3B4E4E"/>
                </a:solidFill>
                <a:latin typeface="Overpass Light"/>
                <a:ea typeface="Overpass Light"/>
                <a:cs typeface="Overpass Light"/>
                <a:sym typeface="Overpass Light"/>
              </a:rPr>
              <a:t>Using </a:t>
            </a:r>
            <a:r>
              <a:rPr lang="en-US" sz="1812">
                <a:solidFill>
                  <a:srgbClr val="3B4E4E"/>
                </a:solidFill>
                <a:latin typeface="Overpass"/>
                <a:ea typeface="Overpass"/>
                <a:cs typeface="Overpass"/>
                <a:sym typeface="Overpass"/>
              </a:rPr>
              <a:t>train_test_split</a:t>
            </a:r>
            <a:r>
              <a:rPr lang="en-US" sz="1812">
                <a:solidFill>
                  <a:srgbClr val="3B4E4E"/>
                </a:solidFill>
                <a:latin typeface="Overpass Light"/>
                <a:ea typeface="Overpass Light"/>
                <a:cs typeface="Overpass Light"/>
                <a:sym typeface="Overpass Light"/>
              </a:rPr>
              <a:t> from scikit-learn, we divide the data: </a:t>
            </a:r>
            <a:r>
              <a:rPr lang="en-US" sz="1812" b="1">
                <a:solidFill>
                  <a:srgbClr val="3B4E4E"/>
                </a:solidFill>
                <a:latin typeface="Overpass Bold"/>
                <a:ea typeface="Overpass Bold"/>
                <a:cs typeface="Overpass Bold"/>
                <a:sym typeface="Overpass Bold"/>
              </a:rPr>
              <a:t>80% for training</a:t>
            </a:r>
            <a:r>
              <a:rPr lang="en-US" sz="1812">
                <a:solidFill>
                  <a:srgbClr val="3B4E4E"/>
                </a:solidFill>
                <a:latin typeface="Overpass Light"/>
                <a:ea typeface="Overpass Light"/>
                <a:cs typeface="Overpass Light"/>
                <a:sym typeface="Overpass Light"/>
              </a:rPr>
              <a:t> (the model learns patterns from this) and </a:t>
            </a:r>
            <a:r>
              <a:rPr lang="en-US" sz="1812" b="1">
                <a:solidFill>
                  <a:srgbClr val="3B4E4E"/>
                </a:solidFill>
                <a:latin typeface="Overpass Bold"/>
                <a:ea typeface="Overpass Bold"/>
                <a:cs typeface="Overpass Bold"/>
                <a:sym typeface="Overpass Bold"/>
              </a:rPr>
              <a:t>20% for testing</a:t>
            </a:r>
            <a:r>
              <a:rPr lang="en-US" sz="1812">
                <a:solidFill>
                  <a:srgbClr val="3B4E4E"/>
                </a:solidFill>
                <a:latin typeface="Overpass Light"/>
                <a:ea typeface="Overpass Light"/>
                <a:cs typeface="Overpass Light"/>
                <a:sym typeface="Overpass Light"/>
              </a:rPr>
              <a:t> (the model is evaluated on this unseen data). A fixed </a:t>
            </a:r>
            <a:r>
              <a:rPr lang="en-US" sz="1812">
                <a:solidFill>
                  <a:srgbClr val="3B4E4E"/>
                </a:solidFill>
                <a:latin typeface="Overpass"/>
                <a:ea typeface="Overpass"/>
                <a:cs typeface="Overpass"/>
                <a:sym typeface="Overpass"/>
              </a:rPr>
              <a:t>random_state</a:t>
            </a:r>
            <a:r>
              <a:rPr lang="en-US" sz="1812">
                <a:solidFill>
                  <a:srgbClr val="3B4E4E"/>
                </a:solidFill>
                <a:latin typeface="Overpass Light"/>
                <a:ea typeface="Overpass Light"/>
                <a:cs typeface="Overpass Light"/>
                <a:sym typeface="Overpass Light"/>
              </a:rPr>
              <a:t> ensures reproducibility. This split simulates real-world performance — how well does the model generalize to cars it has never seen?</a:t>
            </a:r>
          </a:p>
        </p:txBody>
      </p:sp>
      <p:sp>
        <p:nvSpPr>
          <p:cNvPr id="18" name="TextBox 18"/>
          <p:cNvSpPr txBox="1"/>
          <p:nvPr/>
        </p:nvSpPr>
        <p:spPr>
          <a:xfrm>
            <a:off x="992238" y="6255391"/>
            <a:ext cx="471335" cy="380257"/>
          </a:xfrm>
          <a:prstGeom prst="rect">
            <a:avLst/>
          </a:prstGeom>
        </p:spPr>
        <p:txBody>
          <a:bodyPr lIns="0" tIns="0" rIns="0" bIns="0" rtlCol="0" anchor="t">
            <a:spAutoFit/>
          </a:bodyPr>
          <a:lstStyle/>
          <a:p>
            <a:pPr algn="l">
              <a:lnSpc>
                <a:spcPts val="2875"/>
              </a:lnSpc>
            </a:pPr>
            <a:r>
              <a:rPr lang="en-US" sz="1812">
                <a:solidFill>
                  <a:srgbClr val="3B4E4E"/>
                </a:solidFill>
                <a:latin typeface="Arimo"/>
                <a:ea typeface="Arimo"/>
                <a:cs typeface="Arimo"/>
                <a:sym typeface="Arimo"/>
              </a:rPr>
              <a:t>03</a:t>
            </a:r>
          </a:p>
        </p:txBody>
      </p:sp>
      <p:grpSp>
        <p:nvGrpSpPr>
          <p:cNvPr id="19" name="Group 19"/>
          <p:cNvGrpSpPr/>
          <p:nvPr/>
        </p:nvGrpSpPr>
        <p:grpSpPr>
          <a:xfrm>
            <a:off x="992238" y="6712896"/>
            <a:ext cx="8039843" cy="28575"/>
            <a:chOff x="0" y="0"/>
            <a:chExt cx="10719791" cy="38100"/>
          </a:xfrm>
        </p:grpSpPr>
        <p:sp>
          <p:nvSpPr>
            <p:cNvPr id="20" name="Freeform 20"/>
            <p:cNvSpPr/>
            <p:nvPr/>
          </p:nvSpPr>
          <p:spPr>
            <a:xfrm>
              <a:off x="0" y="0"/>
              <a:ext cx="10719816" cy="38100"/>
            </a:xfrm>
            <a:custGeom>
              <a:avLst/>
              <a:gdLst/>
              <a:ahLst/>
              <a:cxnLst/>
              <a:rect l="l" t="t" r="r" b="b"/>
              <a:pathLst>
                <a:path w="10719816" h="38100">
                  <a:moveTo>
                    <a:pt x="0" y="0"/>
                  </a:moveTo>
                  <a:lnTo>
                    <a:pt x="10719816" y="0"/>
                  </a:lnTo>
                  <a:lnTo>
                    <a:pt x="10719816" y="38100"/>
                  </a:lnTo>
                  <a:lnTo>
                    <a:pt x="0" y="38100"/>
                  </a:lnTo>
                  <a:close/>
                </a:path>
              </a:pathLst>
            </a:custGeom>
            <a:solidFill>
              <a:srgbClr val="224435"/>
            </a:solidFill>
          </p:spPr>
        </p:sp>
      </p:grpSp>
      <p:sp>
        <p:nvSpPr>
          <p:cNvPr id="21" name="TextBox 21"/>
          <p:cNvSpPr txBox="1"/>
          <p:nvPr/>
        </p:nvSpPr>
        <p:spPr>
          <a:xfrm>
            <a:off x="992238" y="6859191"/>
            <a:ext cx="5631209" cy="396926"/>
          </a:xfrm>
          <a:prstGeom prst="rect">
            <a:avLst/>
          </a:prstGeom>
        </p:spPr>
        <p:txBody>
          <a:bodyPr lIns="0" tIns="0" rIns="0" bIns="0" rtlCol="0" anchor="t">
            <a:spAutoFit/>
          </a:bodyPr>
          <a:lstStyle/>
          <a:p>
            <a:pPr algn="l">
              <a:lnSpc>
                <a:spcPts val="2875"/>
              </a:lnSpc>
            </a:pPr>
            <a:r>
              <a:rPr lang="en-US" sz="2312" b="1">
                <a:solidFill>
                  <a:srgbClr val="3B4E4E"/>
                </a:solidFill>
                <a:latin typeface="Arimo Bold"/>
                <a:ea typeface="Arimo Bold"/>
                <a:cs typeface="Arimo Bold"/>
                <a:sym typeface="Arimo Bold"/>
              </a:rPr>
              <a:t>Model Selection: Linear Regression</a:t>
            </a:r>
          </a:p>
        </p:txBody>
      </p:sp>
      <p:sp>
        <p:nvSpPr>
          <p:cNvPr id="22" name="TextBox 22"/>
          <p:cNvSpPr txBox="1"/>
          <p:nvPr/>
        </p:nvSpPr>
        <p:spPr>
          <a:xfrm>
            <a:off x="992238" y="7323687"/>
            <a:ext cx="8039843" cy="1905448"/>
          </a:xfrm>
          <a:prstGeom prst="rect">
            <a:avLst/>
          </a:prstGeom>
        </p:spPr>
        <p:txBody>
          <a:bodyPr lIns="0" tIns="0" rIns="0" bIns="0" rtlCol="0" anchor="t">
            <a:spAutoFit/>
          </a:bodyPr>
          <a:lstStyle/>
          <a:p>
            <a:pPr algn="l">
              <a:lnSpc>
                <a:spcPts val="2875"/>
              </a:lnSpc>
            </a:pPr>
            <a:r>
              <a:rPr lang="en-US" sz="1812">
                <a:solidFill>
                  <a:srgbClr val="3B4E4E"/>
                </a:solidFill>
                <a:latin typeface="Overpass Light"/>
                <a:ea typeface="Overpass Light"/>
                <a:cs typeface="Overpass Light"/>
                <a:sym typeface="Overpass Light"/>
              </a:rPr>
              <a:t>We start with </a:t>
            </a:r>
            <a:r>
              <a:rPr lang="en-US" sz="1812" b="1">
                <a:solidFill>
                  <a:srgbClr val="3B4E4E"/>
                </a:solidFill>
                <a:latin typeface="Overpass Bold"/>
                <a:ea typeface="Overpass Bold"/>
                <a:cs typeface="Overpass Bold"/>
                <a:sym typeface="Overpass Bold"/>
              </a:rPr>
              <a:t>Linear Regression</a:t>
            </a:r>
            <a:r>
              <a:rPr lang="en-US" sz="1812">
                <a:solidFill>
                  <a:srgbClr val="3B4E4E"/>
                </a:solidFill>
                <a:latin typeface="Overpass Light"/>
                <a:ea typeface="Overpass Light"/>
                <a:cs typeface="Overpass Light"/>
                <a:sym typeface="Overpass Light"/>
              </a:rPr>
              <a:t> — a transparent, interpretable baseline that assumes a linear relationship between features and price. It fits a hyperplane that minimizes the sum of squared residuals. While simple, it provides a strong benchmark and interpretable coefficients showing how much each feature contributes to price.</a:t>
            </a:r>
          </a:p>
        </p:txBody>
      </p:sp>
      <p:sp>
        <p:nvSpPr>
          <p:cNvPr id="23" name="TextBox 23"/>
          <p:cNvSpPr txBox="1"/>
          <p:nvPr/>
        </p:nvSpPr>
        <p:spPr>
          <a:xfrm>
            <a:off x="9255919" y="6255391"/>
            <a:ext cx="471335" cy="380257"/>
          </a:xfrm>
          <a:prstGeom prst="rect">
            <a:avLst/>
          </a:prstGeom>
        </p:spPr>
        <p:txBody>
          <a:bodyPr lIns="0" tIns="0" rIns="0" bIns="0" rtlCol="0" anchor="t">
            <a:spAutoFit/>
          </a:bodyPr>
          <a:lstStyle/>
          <a:p>
            <a:pPr algn="l">
              <a:lnSpc>
                <a:spcPts val="2875"/>
              </a:lnSpc>
            </a:pPr>
            <a:r>
              <a:rPr lang="en-US" sz="1812">
                <a:solidFill>
                  <a:srgbClr val="3B4E4E"/>
                </a:solidFill>
                <a:latin typeface="Arimo"/>
                <a:ea typeface="Arimo"/>
                <a:cs typeface="Arimo"/>
                <a:sym typeface="Arimo"/>
              </a:rPr>
              <a:t>04</a:t>
            </a:r>
          </a:p>
        </p:txBody>
      </p:sp>
      <p:grpSp>
        <p:nvGrpSpPr>
          <p:cNvPr id="24" name="Group 24"/>
          <p:cNvGrpSpPr/>
          <p:nvPr/>
        </p:nvGrpSpPr>
        <p:grpSpPr>
          <a:xfrm>
            <a:off x="9255919" y="6712896"/>
            <a:ext cx="8039843" cy="28575"/>
            <a:chOff x="0" y="0"/>
            <a:chExt cx="10719791" cy="38100"/>
          </a:xfrm>
        </p:grpSpPr>
        <p:sp>
          <p:nvSpPr>
            <p:cNvPr id="25" name="Freeform 25"/>
            <p:cNvSpPr/>
            <p:nvPr/>
          </p:nvSpPr>
          <p:spPr>
            <a:xfrm>
              <a:off x="0" y="0"/>
              <a:ext cx="10719816" cy="38100"/>
            </a:xfrm>
            <a:custGeom>
              <a:avLst/>
              <a:gdLst/>
              <a:ahLst/>
              <a:cxnLst/>
              <a:rect l="l" t="t" r="r" b="b"/>
              <a:pathLst>
                <a:path w="10719816" h="38100">
                  <a:moveTo>
                    <a:pt x="0" y="0"/>
                  </a:moveTo>
                  <a:lnTo>
                    <a:pt x="10719816" y="0"/>
                  </a:lnTo>
                  <a:lnTo>
                    <a:pt x="10719816" y="38100"/>
                  </a:lnTo>
                  <a:lnTo>
                    <a:pt x="0" y="38100"/>
                  </a:lnTo>
                  <a:close/>
                </a:path>
              </a:pathLst>
            </a:custGeom>
            <a:solidFill>
              <a:srgbClr val="224435"/>
            </a:solidFill>
          </p:spPr>
        </p:sp>
      </p:grpSp>
      <p:sp>
        <p:nvSpPr>
          <p:cNvPr id="26" name="TextBox 26"/>
          <p:cNvSpPr txBox="1"/>
          <p:nvPr/>
        </p:nvSpPr>
        <p:spPr>
          <a:xfrm>
            <a:off x="9255919" y="6859191"/>
            <a:ext cx="2946054" cy="396926"/>
          </a:xfrm>
          <a:prstGeom prst="rect">
            <a:avLst/>
          </a:prstGeom>
        </p:spPr>
        <p:txBody>
          <a:bodyPr lIns="0" tIns="0" rIns="0" bIns="0" rtlCol="0" anchor="t">
            <a:spAutoFit/>
          </a:bodyPr>
          <a:lstStyle/>
          <a:p>
            <a:pPr algn="l">
              <a:lnSpc>
                <a:spcPts val="2875"/>
              </a:lnSpc>
            </a:pPr>
            <a:r>
              <a:rPr lang="en-US" sz="2312" b="1">
                <a:solidFill>
                  <a:srgbClr val="3B4E4E"/>
                </a:solidFill>
                <a:latin typeface="Arimo Bold"/>
                <a:ea typeface="Arimo Bold"/>
                <a:cs typeface="Arimo Bold"/>
                <a:sym typeface="Arimo Bold"/>
              </a:rPr>
              <a:t>Fit &amp; Predict</a:t>
            </a:r>
          </a:p>
        </p:txBody>
      </p:sp>
      <p:sp>
        <p:nvSpPr>
          <p:cNvPr id="27" name="TextBox 27"/>
          <p:cNvSpPr txBox="1"/>
          <p:nvPr/>
        </p:nvSpPr>
        <p:spPr>
          <a:xfrm>
            <a:off x="9255919" y="7323687"/>
            <a:ext cx="8039843" cy="1962598"/>
          </a:xfrm>
          <a:prstGeom prst="rect">
            <a:avLst/>
          </a:prstGeom>
        </p:spPr>
        <p:txBody>
          <a:bodyPr lIns="0" tIns="0" rIns="0" bIns="0" rtlCol="0" anchor="t">
            <a:spAutoFit/>
          </a:bodyPr>
          <a:lstStyle/>
          <a:p>
            <a:pPr algn="l">
              <a:lnSpc>
                <a:spcPts val="2875"/>
              </a:lnSpc>
            </a:pPr>
            <a:r>
              <a:rPr lang="en-US" sz="1812">
                <a:solidFill>
                  <a:srgbClr val="3B4E4E"/>
                </a:solidFill>
                <a:latin typeface="Overpass Light"/>
                <a:ea typeface="Overpass Light"/>
                <a:cs typeface="Overpass Light"/>
                <a:sym typeface="Overpass Light"/>
              </a:rPr>
              <a:t>We call </a:t>
            </a:r>
            <a:r>
              <a:rPr lang="en-US" sz="1812">
                <a:solidFill>
                  <a:srgbClr val="3B4E4E"/>
                </a:solidFill>
                <a:latin typeface="Overpass"/>
                <a:ea typeface="Overpass"/>
                <a:cs typeface="Overpass"/>
                <a:sym typeface="Overpass"/>
              </a:rPr>
              <a:t>model.fit(X_train, y_train)</a:t>
            </a:r>
            <a:r>
              <a:rPr lang="en-US" sz="1812">
                <a:solidFill>
                  <a:srgbClr val="3B4E4E"/>
                </a:solidFill>
                <a:latin typeface="Overpass Light"/>
                <a:ea typeface="Overpass Light"/>
                <a:cs typeface="Overpass Light"/>
                <a:sym typeface="Overpass Light"/>
              </a:rPr>
              <a:t> to train the model on the 80% training set, learning the optimal coefficients for each feature. Then </a:t>
            </a:r>
            <a:r>
              <a:rPr lang="en-US" sz="1812">
                <a:solidFill>
                  <a:srgbClr val="3B4E4E"/>
                </a:solidFill>
                <a:latin typeface="Overpass"/>
                <a:ea typeface="Overpass"/>
                <a:cs typeface="Overpass"/>
                <a:sym typeface="Overpass"/>
              </a:rPr>
              <a:t>model.predict(X_test)</a:t>
            </a:r>
            <a:r>
              <a:rPr lang="en-US" sz="1812">
                <a:solidFill>
                  <a:srgbClr val="3B4E4E"/>
                </a:solidFill>
                <a:latin typeface="Overpass Light"/>
                <a:ea typeface="Overpass Light"/>
                <a:cs typeface="Overpass Light"/>
                <a:sym typeface="Overpass Light"/>
              </a:rPr>
              <a:t> generates price estimates for the 20% held-out test set. These predictions are compared against actual prices to evaluate accuracy.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9F4BE"/>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DE6"/>
            </a:solidFill>
          </p:spPr>
        </p:sp>
      </p:grpSp>
      <p:sp>
        <p:nvSpPr>
          <p:cNvPr id="6" name="TextBox 6"/>
          <p:cNvSpPr txBox="1"/>
          <p:nvPr/>
        </p:nvSpPr>
        <p:spPr>
          <a:xfrm>
            <a:off x="992238" y="2458193"/>
            <a:ext cx="16065551" cy="813197"/>
          </a:xfrm>
          <a:prstGeom prst="rect">
            <a:avLst/>
          </a:prstGeom>
        </p:spPr>
        <p:txBody>
          <a:bodyPr lIns="0" tIns="0" rIns="0" bIns="0" rtlCol="0" anchor="t">
            <a:spAutoFit/>
          </a:bodyPr>
          <a:lstStyle/>
          <a:p>
            <a:pPr algn="l">
              <a:lnSpc>
                <a:spcPts val="6062"/>
              </a:lnSpc>
            </a:pPr>
            <a:r>
              <a:rPr lang="en-US" sz="4875" b="1">
                <a:solidFill>
                  <a:srgbClr val="233939"/>
                </a:solidFill>
                <a:latin typeface="Arimo Bold"/>
                <a:ea typeface="Arimo Bold"/>
                <a:cs typeface="Arimo Bold"/>
                <a:sym typeface="Arimo Bold"/>
              </a:rPr>
              <a:t>Identifying the Machine Learning Problem Type</a:t>
            </a:r>
          </a:p>
        </p:txBody>
      </p:sp>
      <p:sp>
        <p:nvSpPr>
          <p:cNvPr id="7" name="TextBox 7"/>
          <p:cNvSpPr txBox="1"/>
          <p:nvPr/>
        </p:nvSpPr>
        <p:spPr>
          <a:xfrm>
            <a:off x="992238" y="3567265"/>
            <a:ext cx="16303523" cy="870052"/>
          </a:xfrm>
          <a:prstGeom prst="rect">
            <a:avLst/>
          </a:prstGeom>
        </p:spPr>
        <p:txBody>
          <a:bodyPr lIns="0" tIns="0" rIns="0" bIns="0" rtlCol="0" anchor="t">
            <a:spAutoFit/>
          </a:bodyPr>
          <a:lstStyle/>
          <a:p>
            <a:pPr algn="l">
              <a:lnSpc>
                <a:spcPts val="3125"/>
              </a:lnSpc>
            </a:pPr>
            <a:r>
              <a:rPr lang="en-US" sz="1937">
                <a:solidFill>
                  <a:srgbClr val="3B4E4E"/>
                </a:solidFill>
                <a:latin typeface="Overpass Light"/>
                <a:ea typeface="Overpass Light"/>
                <a:cs typeface="Overpass Light"/>
                <a:sym typeface="Overpass Light"/>
              </a:rPr>
              <a:t>Before developing any model, a crucial first step is to correctly identify the type of problem we're trying to solve. This decision dictates the choice of algorithms, evaluation metrics, and overall model architecture.</a:t>
            </a:r>
          </a:p>
        </p:txBody>
      </p:sp>
      <p:grpSp>
        <p:nvGrpSpPr>
          <p:cNvPr id="8" name="Group 8"/>
          <p:cNvGrpSpPr/>
          <p:nvPr/>
        </p:nvGrpSpPr>
        <p:grpSpPr>
          <a:xfrm>
            <a:off x="977951" y="4702073"/>
            <a:ext cx="5297691" cy="3102769"/>
            <a:chOff x="0" y="0"/>
            <a:chExt cx="7063588" cy="4137025"/>
          </a:xfrm>
        </p:grpSpPr>
        <p:sp>
          <p:nvSpPr>
            <p:cNvPr id="9" name="Freeform 9"/>
            <p:cNvSpPr/>
            <p:nvPr/>
          </p:nvSpPr>
          <p:spPr>
            <a:xfrm>
              <a:off x="19050" y="19050"/>
              <a:ext cx="7025513" cy="4098925"/>
            </a:xfrm>
            <a:custGeom>
              <a:avLst/>
              <a:gdLst/>
              <a:ahLst/>
              <a:cxnLst/>
              <a:rect l="l" t="t" r="r" b="b"/>
              <a:pathLst>
                <a:path w="7025513" h="4098925">
                  <a:moveTo>
                    <a:pt x="0" y="182880"/>
                  </a:moveTo>
                  <a:cubicBezTo>
                    <a:pt x="0" y="81915"/>
                    <a:pt x="82169" y="0"/>
                    <a:pt x="183642" y="0"/>
                  </a:cubicBezTo>
                  <a:lnTo>
                    <a:pt x="6841871" y="0"/>
                  </a:lnTo>
                  <a:cubicBezTo>
                    <a:pt x="6943217" y="0"/>
                    <a:pt x="7025513" y="81915"/>
                    <a:pt x="7025513" y="182880"/>
                  </a:cubicBezTo>
                  <a:lnTo>
                    <a:pt x="7025513" y="3916045"/>
                  </a:lnTo>
                  <a:cubicBezTo>
                    <a:pt x="7025513" y="4017010"/>
                    <a:pt x="6943344" y="4098925"/>
                    <a:pt x="6841871" y="4098925"/>
                  </a:cubicBezTo>
                  <a:lnTo>
                    <a:pt x="183642" y="4098925"/>
                  </a:lnTo>
                  <a:cubicBezTo>
                    <a:pt x="82296" y="4098925"/>
                    <a:pt x="0" y="4017010"/>
                    <a:pt x="0" y="3916045"/>
                  </a:cubicBezTo>
                  <a:close/>
                </a:path>
              </a:pathLst>
            </a:custGeom>
            <a:solidFill>
              <a:srgbClr val="FFFDE6"/>
            </a:solidFill>
          </p:spPr>
        </p:sp>
        <p:sp>
          <p:nvSpPr>
            <p:cNvPr id="10" name="Freeform 10"/>
            <p:cNvSpPr/>
            <p:nvPr/>
          </p:nvSpPr>
          <p:spPr>
            <a:xfrm>
              <a:off x="0" y="0"/>
              <a:ext cx="7063613" cy="4137025"/>
            </a:xfrm>
            <a:custGeom>
              <a:avLst/>
              <a:gdLst/>
              <a:ahLst/>
              <a:cxnLst/>
              <a:rect l="l" t="t" r="r" b="b"/>
              <a:pathLst>
                <a:path w="7063613" h="4137025">
                  <a:moveTo>
                    <a:pt x="0" y="201930"/>
                  </a:moveTo>
                  <a:cubicBezTo>
                    <a:pt x="0" y="90297"/>
                    <a:pt x="90805" y="0"/>
                    <a:pt x="202692" y="0"/>
                  </a:cubicBezTo>
                  <a:lnTo>
                    <a:pt x="6860921" y="0"/>
                  </a:lnTo>
                  <a:lnTo>
                    <a:pt x="6860921" y="19050"/>
                  </a:lnTo>
                  <a:lnTo>
                    <a:pt x="6860921" y="0"/>
                  </a:lnTo>
                  <a:cubicBezTo>
                    <a:pt x="6972808" y="0"/>
                    <a:pt x="7063613" y="90297"/>
                    <a:pt x="7063613" y="201930"/>
                  </a:cubicBezTo>
                  <a:lnTo>
                    <a:pt x="7044563" y="201930"/>
                  </a:lnTo>
                  <a:lnTo>
                    <a:pt x="7063613" y="201930"/>
                  </a:lnTo>
                  <a:lnTo>
                    <a:pt x="7063613" y="3935095"/>
                  </a:lnTo>
                  <a:lnTo>
                    <a:pt x="7044563" y="3935095"/>
                  </a:lnTo>
                  <a:lnTo>
                    <a:pt x="7063613" y="3935095"/>
                  </a:lnTo>
                  <a:cubicBezTo>
                    <a:pt x="7063613" y="4046728"/>
                    <a:pt x="6972808" y="4137025"/>
                    <a:pt x="6860921" y="4137025"/>
                  </a:cubicBezTo>
                  <a:lnTo>
                    <a:pt x="6860921" y="4117975"/>
                  </a:lnTo>
                  <a:lnTo>
                    <a:pt x="6860921" y="4137025"/>
                  </a:lnTo>
                  <a:lnTo>
                    <a:pt x="202692" y="4137025"/>
                  </a:lnTo>
                  <a:lnTo>
                    <a:pt x="202692" y="4117975"/>
                  </a:lnTo>
                  <a:lnTo>
                    <a:pt x="202692" y="4137025"/>
                  </a:lnTo>
                  <a:cubicBezTo>
                    <a:pt x="90805" y="4137025"/>
                    <a:pt x="0" y="4046728"/>
                    <a:pt x="0" y="3935095"/>
                  </a:cubicBezTo>
                  <a:lnTo>
                    <a:pt x="0" y="201930"/>
                  </a:lnTo>
                  <a:lnTo>
                    <a:pt x="19050" y="201930"/>
                  </a:lnTo>
                  <a:lnTo>
                    <a:pt x="0" y="201930"/>
                  </a:lnTo>
                  <a:moveTo>
                    <a:pt x="38100" y="201930"/>
                  </a:moveTo>
                  <a:lnTo>
                    <a:pt x="38100" y="3935095"/>
                  </a:lnTo>
                  <a:lnTo>
                    <a:pt x="19050" y="3935095"/>
                  </a:lnTo>
                  <a:lnTo>
                    <a:pt x="38100" y="3935095"/>
                  </a:lnTo>
                  <a:cubicBezTo>
                    <a:pt x="38100" y="4025519"/>
                    <a:pt x="111760" y="4098925"/>
                    <a:pt x="202692" y="4098925"/>
                  </a:cubicBezTo>
                  <a:lnTo>
                    <a:pt x="6860921" y="4098925"/>
                  </a:lnTo>
                  <a:cubicBezTo>
                    <a:pt x="6951852" y="4098925"/>
                    <a:pt x="7025513" y="4025519"/>
                    <a:pt x="7025513" y="3935095"/>
                  </a:cubicBezTo>
                  <a:lnTo>
                    <a:pt x="7025513" y="201930"/>
                  </a:lnTo>
                  <a:cubicBezTo>
                    <a:pt x="7025513" y="111506"/>
                    <a:pt x="6951852" y="38100"/>
                    <a:pt x="6860921" y="38100"/>
                  </a:cubicBezTo>
                  <a:lnTo>
                    <a:pt x="202692" y="38100"/>
                  </a:lnTo>
                  <a:lnTo>
                    <a:pt x="202692" y="19050"/>
                  </a:lnTo>
                  <a:lnTo>
                    <a:pt x="202692" y="38100"/>
                  </a:lnTo>
                  <a:cubicBezTo>
                    <a:pt x="111760" y="38100"/>
                    <a:pt x="38100" y="111506"/>
                    <a:pt x="38100" y="201930"/>
                  </a:cubicBezTo>
                  <a:close/>
                </a:path>
              </a:pathLst>
            </a:custGeom>
            <a:solidFill>
              <a:srgbClr val="C3D4CC"/>
            </a:solidFill>
          </p:spPr>
        </p:sp>
      </p:grpSp>
      <p:grpSp>
        <p:nvGrpSpPr>
          <p:cNvPr id="11" name="Group 11"/>
          <p:cNvGrpSpPr/>
          <p:nvPr/>
        </p:nvGrpSpPr>
        <p:grpSpPr>
          <a:xfrm>
            <a:off x="963663" y="4716361"/>
            <a:ext cx="114300" cy="3074194"/>
            <a:chOff x="0" y="0"/>
            <a:chExt cx="152400" cy="4098925"/>
          </a:xfrm>
        </p:grpSpPr>
        <p:sp>
          <p:nvSpPr>
            <p:cNvPr id="12" name="Freeform 12"/>
            <p:cNvSpPr/>
            <p:nvPr/>
          </p:nvSpPr>
          <p:spPr>
            <a:xfrm>
              <a:off x="0" y="0"/>
              <a:ext cx="152400" cy="4098925"/>
            </a:xfrm>
            <a:custGeom>
              <a:avLst/>
              <a:gdLst/>
              <a:ahLst/>
              <a:cxnLst/>
              <a:rect l="l" t="t" r="r" b="b"/>
              <a:pathLst>
                <a:path w="152400" h="4098925">
                  <a:moveTo>
                    <a:pt x="0" y="76200"/>
                  </a:moveTo>
                  <a:cubicBezTo>
                    <a:pt x="0" y="34163"/>
                    <a:pt x="34163" y="0"/>
                    <a:pt x="76200" y="0"/>
                  </a:cubicBezTo>
                  <a:cubicBezTo>
                    <a:pt x="118237" y="0"/>
                    <a:pt x="152400" y="34163"/>
                    <a:pt x="152400" y="76200"/>
                  </a:cubicBezTo>
                  <a:lnTo>
                    <a:pt x="152400" y="4022725"/>
                  </a:lnTo>
                  <a:cubicBezTo>
                    <a:pt x="152400" y="4064762"/>
                    <a:pt x="118237" y="4098925"/>
                    <a:pt x="76200" y="4098925"/>
                  </a:cubicBezTo>
                  <a:cubicBezTo>
                    <a:pt x="34163" y="4098925"/>
                    <a:pt x="0" y="4064762"/>
                    <a:pt x="0" y="4022725"/>
                  </a:cubicBezTo>
                  <a:close/>
                </a:path>
              </a:pathLst>
            </a:custGeom>
            <a:solidFill>
              <a:srgbClr val="224435"/>
            </a:solidFill>
          </p:spPr>
        </p:sp>
      </p:grpSp>
      <p:sp>
        <p:nvSpPr>
          <p:cNvPr id="13" name="TextBox 13"/>
          <p:cNvSpPr txBox="1"/>
          <p:nvPr/>
        </p:nvSpPr>
        <p:spPr>
          <a:xfrm>
            <a:off x="1354484" y="4983366"/>
            <a:ext cx="3101130" cy="397221"/>
          </a:xfrm>
          <a:prstGeom prst="rect">
            <a:avLst/>
          </a:prstGeom>
        </p:spPr>
        <p:txBody>
          <a:bodyPr lIns="0" tIns="0" rIns="0" bIns="0" rtlCol="0" anchor="t">
            <a:spAutoFit/>
          </a:bodyPr>
          <a:lstStyle/>
          <a:p>
            <a:pPr algn="l">
              <a:lnSpc>
                <a:spcPts val="2999"/>
              </a:lnSpc>
            </a:pPr>
            <a:r>
              <a:rPr lang="en-US" sz="2437" b="1">
                <a:solidFill>
                  <a:srgbClr val="3B4E4E"/>
                </a:solidFill>
                <a:latin typeface="Arimo Bold"/>
                <a:ea typeface="Arimo Bold"/>
                <a:cs typeface="Arimo Bold"/>
                <a:sym typeface="Arimo Bold"/>
              </a:rPr>
              <a:t>Classification</a:t>
            </a:r>
          </a:p>
        </p:txBody>
      </p:sp>
      <p:sp>
        <p:nvSpPr>
          <p:cNvPr id="14" name="TextBox 14"/>
          <p:cNvSpPr txBox="1"/>
          <p:nvPr/>
        </p:nvSpPr>
        <p:spPr>
          <a:xfrm>
            <a:off x="1354484" y="5453215"/>
            <a:ext cx="4630341" cy="2060819"/>
          </a:xfrm>
          <a:prstGeom prst="rect">
            <a:avLst/>
          </a:prstGeom>
        </p:spPr>
        <p:txBody>
          <a:bodyPr lIns="0" tIns="0" rIns="0" bIns="0" rtlCol="0" anchor="t">
            <a:spAutoFit/>
          </a:bodyPr>
          <a:lstStyle/>
          <a:p>
            <a:pPr algn="l">
              <a:lnSpc>
                <a:spcPts val="3125"/>
              </a:lnSpc>
            </a:pPr>
            <a:r>
              <a:rPr lang="en-US" sz="1937">
                <a:solidFill>
                  <a:srgbClr val="3B4E4E"/>
                </a:solidFill>
                <a:latin typeface="Overpass Light"/>
                <a:ea typeface="Overpass Light"/>
                <a:cs typeface="Overpass Light"/>
                <a:sym typeface="Overpass Light"/>
              </a:rPr>
              <a:t>Predicting discrete, predefined categories or labels. Examples include identifying whether an email is "spam" or "not spam," or classifying car types as "sedan," "SUV," or "truck."</a:t>
            </a:r>
          </a:p>
        </p:txBody>
      </p:sp>
      <p:grpSp>
        <p:nvGrpSpPr>
          <p:cNvPr id="15" name="Group 15"/>
          <p:cNvGrpSpPr/>
          <p:nvPr/>
        </p:nvGrpSpPr>
        <p:grpSpPr>
          <a:xfrm>
            <a:off x="6495012" y="4702073"/>
            <a:ext cx="5297834" cy="3102769"/>
            <a:chOff x="0" y="0"/>
            <a:chExt cx="7063778" cy="4137025"/>
          </a:xfrm>
        </p:grpSpPr>
        <p:sp>
          <p:nvSpPr>
            <p:cNvPr id="16" name="Freeform 16"/>
            <p:cNvSpPr/>
            <p:nvPr/>
          </p:nvSpPr>
          <p:spPr>
            <a:xfrm>
              <a:off x="19050" y="19050"/>
              <a:ext cx="7025767" cy="4098925"/>
            </a:xfrm>
            <a:custGeom>
              <a:avLst/>
              <a:gdLst/>
              <a:ahLst/>
              <a:cxnLst/>
              <a:rect l="l" t="t" r="r" b="b"/>
              <a:pathLst>
                <a:path w="7025767" h="4098925">
                  <a:moveTo>
                    <a:pt x="0" y="182880"/>
                  </a:moveTo>
                  <a:cubicBezTo>
                    <a:pt x="0" y="81915"/>
                    <a:pt x="82169" y="0"/>
                    <a:pt x="183642" y="0"/>
                  </a:cubicBezTo>
                  <a:lnTo>
                    <a:pt x="6842125" y="0"/>
                  </a:lnTo>
                  <a:cubicBezTo>
                    <a:pt x="6943471" y="0"/>
                    <a:pt x="7025767" y="81915"/>
                    <a:pt x="7025767" y="182880"/>
                  </a:cubicBezTo>
                  <a:lnTo>
                    <a:pt x="7025767" y="3916045"/>
                  </a:lnTo>
                  <a:cubicBezTo>
                    <a:pt x="7025767" y="4017010"/>
                    <a:pt x="6943598" y="4098925"/>
                    <a:pt x="6842125" y="4098925"/>
                  </a:cubicBezTo>
                  <a:lnTo>
                    <a:pt x="183642" y="4098925"/>
                  </a:lnTo>
                  <a:cubicBezTo>
                    <a:pt x="82296" y="4098925"/>
                    <a:pt x="0" y="4017010"/>
                    <a:pt x="0" y="3916045"/>
                  </a:cubicBezTo>
                  <a:close/>
                </a:path>
              </a:pathLst>
            </a:custGeom>
            <a:solidFill>
              <a:srgbClr val="FFFDE6"/>
            </a:solidFill>
          </p:spPr>
        </p:sp>
        <p:sp>
          <p:nvSpPr>
            <p:cNvPr id="17" name="Freeform 17"/>
            <p:cNvSpPr/>
            <p:nvPr/>
          </p:nvSpPr>
          <p:spPr>
            <a:xfrm>
              <a:off x="0" y="0"/>
              <a:ext cx="7063867" cy="4137025"/>
            </a:xfrm>
            <a:custGeom>
              <a:avLst/>
              <a:gdLst/>
              <a:ahLst/>
              <a:cxnLst/>
              <a:rect l="l" t="t" r="r" b="b"/>
              <a:pathLst>
                <a:path w="7063867" h="4137025">
                  <a:moveTo>
                    <a:pt x="0" y="201930"/>
                  </a:moveTo>
                  <a:cubicBezTo>
                    <a:pt x="0" y="90297"/>
                    <a:pt x="90805" y="0"/>
                    <a:pt x="202692" y="0"/>
                  </a:cubicBezTo>
                  <a:lnTo>
                    <a:pt x="6861175" y="0"/>
                  </a:lnTo>
                  <a:lnTo>
                    <a:pt x="6861175" y="19050"/>
                  </a:lnTo>
                  <a:lnTo>
                    <a:pt x="6861175" y="0"/>
                  </a:lnTo>
                  <a:cubicBezTo>
                    <a:pt x="6973062" y="0"/>
                    <a:pt x="7063867" y="90297"/>
                    <a:pt x="7063867" y="201930"/>
                  </a:cubicBezTo>
                  <a:lnTo>
                    <a:pt x="7044817" y="201930"/>
                  </a:lnTo>
                  <a:lnTo>
                    <a:pt x="7063867" y="201930"/>
                  </a:lnTo>
                  <a:lnTo>
                    <a:pt x="7063867" y="3935095"/>
                  </a:lnTo>
                  <a:lnTo>
                    <a:pt x="7044817" y="3935095"/>
                  </a:lnTo>
                  <a:lnTo>
                    <a:pt x="7063867" y="3935095"/>
                  </a:lnTo>
                  <a:cubicBezTo>
                    <a:pt x="7063867" y="4046728"/>
                    <a:pt x="6973062" y="4137025"/>
                    <a:pt x="6861175" y="4137025"/>
                  </a:cubicBezTo>
                  <a:lnTo>
                    <a:pt x="6861175" y="4117975"/>
                  </a:lnTo>
                  <a:lnTo>
                    <a:pt x="6861175" y="4137025"/>
                  </a:lnTo>
                  <a:lnTo>
                    <a:pt x="202692" y="4137025"/>
                  </a:lnTo>
                  <a:lnTo>
                    <a:pt x="202692" y="4117975"/>
                  </a:lnTo>
                  <a:lnTo>
                    <a:pt x="202692" y="4137025"/>
                  </a:lnTo>
                  <a:cubicBezTo>
                    <a:pt x="90805" y="4137025"/>
                    <a:pt x="0" y="4046728"/>
                    <a:pt x="0" y="3935095"/>
                  </a:cubicBezTo>
                  <a:lnTo>
                    <a:pt x="0" y="201930"/>
                  </a:lnTo>
                  <a:lnTo>
                    <a:pt x="19050" y="201930"/>
                  </a:lnTo>
                  <a:lnTo>
                    <a:pt x="0" y="201930"/>
                  </a:lnTo>
                  <a:moveTo>
                    <a:pt x="38100" y="201930"/>
                  </a:moveTo>
                  <a:lnTo>
                    <a:pt x="38100" y="3935095"/>
                  </a:lnTo>
                  <a:lnTo>
                    <a:pt x="19050" y="3935095"/>
                  </a:lnTo>
                  <a:lnTo>
                    <a:pt x="38100" y="3935095"/>
                  </a:lnTo>
                  <a:cubicBezTo>
                    <a:pt x="38100" y="4025519"/>
                    <a:pt x="111760" y="4098925"/>
                    <a:pt x="202692" y="4098925"/>
                  </a:cubicBezTo>
                  <a:lnTo>
                    <a:pt x="6861175" y="4098925"/>
                  </a:lnTo>
                  <a:cubicBezTo>
                    <a:pt x="6952107" y="4098925"/>
                    <a:pt x="7025767" y="4025519"/>
                    <a:pt x="7025767" y="3935095"/>
                  </a:cubicBezTo>
                  <a:lnTo>
                    <a:pt x="7025767" y="201930"/>
                  </a:lnTo>
                  <a:cubicBezTo>
                    <a:pt x="7025767" y="111506"/>
                    <a:pt x="6952107" y="38100"/>
                    <a:pt x="6861175" y="38100"/>
                  </a:cubicBezTo>
                  <a:lnTo>
                    <a:pt x="202692" y="38100"/>
                  </a:lnTo>
                  <a:lnTo>
                    <a:pt x="202692" y="19050"/>
                  </a:lnTo>
                  <a:lnTo>
                    <a:pt x="202692" y="38100"/>
                  </a:lnTo>
                  <a:cubicBezTo>
                    <a:pt x="111760" y="38100"/>
                    <a:pt x="38100" y="111506"/>
                    <a:pt x="38100" y="201930"/>
                  </a:cubicBezTo>
                  <a:close/>
                </a:path>
              </a:pathLst>
            </a:custGeom>
            <a:solidFill>
              <a:srgbClr val="C3D4CC"/>
            </a:solidFill>
          </p:spPr>
        </p:sp>
      </p:grpSp>
      <p:grpSp>
        <p:nvGrpSpPr>
          <p:cNvPr id="18" name="Group 18"/>
          <p:cNvGrpSpPr/>
          <p:nvPr/>
        </p:nvGrpSpPr>
        <p:grpSpPr>
          <a:xfrm>
            <a:off x="6480724" y="4716361"/>
            <a:ext cx="114300" cy="3074194"/>
            <a:chOff x="0" y="0"/>
            <a:chExt cx="152400" cy="4098925"/>
          </a:xfrm>
        </p:grpSpPr>
        <p:sp>
          <p:nvSpPr>
            <p:cNvPr id="19" name="Freeform 19"/>
            <p:cNvSpPr/>
            <p:nvPr/>
          </p:nvSpPr>
          <p:spPr>
            <a:xfrm>
              <a:off x="0" y="0"/>
              <a:ext cx="152400" cy="4098925"/>
            </a:xfrm>
            <a:custGeom>
              <a:avLst/>
              <a:gdLst/>
              <a:ahLst/>
              <a:cxnLst/>
              <a:rect l="l" t="t" r="r" b="b"/>
              <a:pathLst>
                <a:path w="152400" h="4098925">
                  <a:moveTo>
                    <a:pt x="0" y="76200"/>
                  </a:moveTo>
                  <a:cubicBezTo>
                    <a:pt x="0" y="34163"/>
                    <a:pt x="34163" y="0"/>
                    <a:pt x="76200" y="0"/>
                  </a:cubicBezTo>
                  <a:cubicBezTo>
                    <a:pt x="118237" y="0"/>
                    <a:pt x="152400" y="34163"/>
                    <a:pt x="152400" y="76200"/>
                  </a:cubicBezTo>
                  <a:lnTo>
                    <a:pt x="152400" y="4022725"/>
                  </a:lnTo>
                  <a:cubicBezTo>
                    <a:pt x="152400" y="4064762"/>
                    <a:pt x="118237" y="4098925"/>
                    <a:pt x="76200" y="4098925"/>
                  </a:cubicBezTo>
                  <a:cubicBezTo>
                    <a:pt x="34163" y="4098925"/>
                    <a:pt x="0" y="4064762"/>
                    <a:pt x="0" y="4022725"/>
                  </a:cubicBezTo>
                  <a:close/>
                </a:path>
              </a:pathLst>
            </a:custGeom>
            <a:solidFill>
              <a:srgbClr val="224435"/>
            </a:solidFill>
          </p:spPr>
        </p:sp>
      </p:grpSp>
      <p:sp>
        <p:nvSpPr>
          <p:cNvPr id="20" name="TextBox 20"/>
          <p:cNvSpPr txBox="1"/>
          <p:nvPr/>
        </p:nvSpPr>
        <p:spPr>
          <a:xfrm>
            <a:off x="6871545" y="4983366"/>
            <a:ext cx="3101130" cy="397221"/>
          </a:xfrm>
          <a:prstGeom prst="rect">
            <a:avLst/>
          </a:prstGeom>
        </p:spPr>
        <p:txBody>
          <a:bodyPr lIns="0" tIns="0" rIns="0" bIns="0" rtlCol="0" anchor="t">
            <a:spAutoFit/>
          </a:bodyPr>
          <a:lstStyle/>
          <a:p>
            <a:pPr algn="l">
              <a:lnSpc>
                <a:spcPts val="2999"/>
              </a:lnSpc>
            </a:pPr>
            <a:r>
              <a:rPr lang="en-US" sz="2437" b="1">
                <a:solidFill>
                  <a:srgbClr val="3B4E4E"/>
                </a:solidFill>
                <a:latin typeface="Arimo Bold"/>
                <a:ea typeface="Arimo Bold"/>
                <a:cs typeface="Arimo Bold"/>
                <a:sym typeface="Arimo Bold"/>
              </a:rPr>
              <a:t>Regression</a:t>
            </a:r>
          </a:p>
        </p:txBody>
      </p:sp>
      <p:sp>
        <p:nvSpPr>
          <p:cNvPr id="21" name="TextBox 21"/>
          <p:cNvSpPr txBox="1"/>
          <p:nvPr/>
        </p:nvSpPr>
        <p:spPr>
          <a:xfrm>
            <a:off x="6871545" y="5453215"/>
            <a:ext cx="4630493" cy="2060819"/>
          </a:xfrm>
          <a:prstGeom prst="rect">
            <a:avLst/>
          </a:prstGeom>
        </p:spPr>
        <p:txBody>
          <a:bodyPr lIns="0" tIns="0" rIns="0" bIns="0" rtlCol="0" anchor="t">
            <a:spAutoFit/>
          </a:bodyPr>
          <a:lstStyle/>
          <a:p>
            <a:pPr algn="l">
              <a:lnSpc>
                <a:spcPts val="3125"/>
              </a:lnSpc>
            </a:pPr>
            <a:r>
              <a:rPr lang="en-US" sz="1937">
                <a:solidFill>
                  <a:srgbClr val="3B4E4E"/>
                </a:solidFill>
                <a:latin typeface="Overpass Light"/>
                <a:ea typeface="Overpass Light"/>
                <a:cs typeface="Overpass Light"/>
                <a:sym typeface="Overpass Light"/>
              </a:rPr>
              <a:t>Predicting continuous numerical values. This involves forecasting a quantity, such as the future stock price, temperature, or, in our case, the specific monetary value of a used car.</a:t>
            </a:r>
          </a:p>
        </p:txBody>
      </p:sp>
      <p:grpSp>
        <p:nvGrpSpPr>
          <p:cNvPr id="22" name="Group 22"/>
          <p:cNvGrpSpPr/>
          <p:nvPr/>
        </p:nvGrpSpPr>
        <p:grpSpPr>
          <a:xfrm>
            <a:off x="12012216" y="4702073"/>
            <a:ext cx="5297691" cy="3102769"/>
            <a:chOff x="0" y="0"/>
            <a:chExt cx="7063588" cy="4137025"/>
          </a:xfrm>
        </p:grpSpPr>
        <p:sp>
          <p:nvSpPr>
            <p:cNvPr id="23" name="Freeform 23"/>
            <p:cNvSpPr/>
            <p:nvPr/>
          </p:nvSpPr>
          <p:spPr>
            <a:xfrm>
              <a:off x="19050" y="19050"/>
              <a:ext cx="7025513" cy="4098925"/>
            </a:xfrm>
            <a:custGeom>
              <a:avLst/>
              <a:gdLst/>
              <a:ahLst/>
              <a:cxnLst/>
              <a:rect l="l" t="t" r="r" b="b"/>
              <a:pathLst>
                <a:path w="7025513" h="4098925">
                  <a:moveTo>
                    <a:pt x="0" y="182880"/>
                  </a:moveTo>
                  <a:cubicBezTo>
                    <a:pt x="0" y="81915"/>
                    <a:pt x="82169" y="0"/>
                    <a:pt x="183642" y="0"/>
                  </a:cubicBezTo>
                  <a:lnTo>
                    <a:pt x="6841871" y="0"/>
                  </a:lnTo>
                  <a:cubicBezTo>
                    <a:pt x="6943217" y="0"/>
                    <a:pt x="7025513" y="81915"/>
                    <a:pt x="7025513" y="182880"/>
                  </a:cubicBezTo>
                  <a:lnTo>
                    <a:pt x="7025513" y="3916045"/>
                  </a:lnTo>
                  <a:cubicBezTo>
                    <a:pt x="7025513" y="4017010"/>
                    <a:pt x="6943344" y="4098925"/>
                    <a:pt x="6841871" y="4098925"/>
                  </a:cubicBezTo>
                  <a:lnTo>
                    <a:pt x="183642" y="4098925"/>
                  </a:lnTo>
                  <a:cubicBezTo>
                    <a:pt x="82296" y="4098925"/>
                    <a:pt x="0" y="4017010"/>
                    <a:pt x="0" y="3916045"/>
                  </a:cubicBezTo>
                  <a:close/>
                </a:path>
              </a:pathLst>
            </a:custGeom>
            <a:solidFill>
              <a:srgbClr val="FFFDE6"/>
            </a:solidFill>
          </p:spPr>
        </p:sp>
        <p:sp>
          <p:nvSpPr>
            <p:cNvPr id="24" name="Freeform 24"/>
            <p:cNvSpPr/>
            <p:nvPr/>
          </p:nvSpPr>
          <p:spPr>
            <a:xfrm>
              <a:off x="0" y="0"/>
              <a:ext cx="7063613" cy="4137025"/>
            </a:xfrm>
            <a:custGeom>
              <a:avLst/>
              <a:gdLst/>
              <a:ahLst/>
              <a:cxnLst/>
              <a:rect l="l" t="t" r="r" b="b"/>
              <a:pathLst>
                <a:path w="7063613" h="4137025">
                  <a:moveTo>
                    <a:pt x="0" y="201930"/>
                  </a:moveTo>
                  <a:cubicBezTo>
                    <a:pt x="0" y="90297"/>
                    <a:pt x="90805" y="0"/>
                    <a:pt x="202692" y="0"/>
                  </a:cubicBezTo>
                  <a:lnTo>
                    <a:pt x="6860921" y="0"/>
                  </a:lnTo>
                  <a:lnTo>
                    <a:pt x="6860921" y="19050"/>
                  </a:lnTo>
                  <a:lnTo>
                    <a:pt x="6860921" y="0"/>
                  </a:lnTo>
                  <a:cubicBezTo>
                    <a:pt x="6972808" y="0"/>
                    <a:pt x="7063613" y="90297"/>
                    <a:pt x="7063613" y="201930"/>
                  </a:cubicBezTo>
                  <a:lnTo>
                    <a:pt x="7044563" y="201930"/>
                  </a:lnTo>
                  <a:lnTo>
                    <a:pt x="7063613" y="201930"/>
                  </a:lnTo>
                  <a:lnTo>
                    <a:pt x="7063613" y="3935095"/>
                  </a:lnTo>
                  <a:lnTo>
                    <a:pt x="7044563" y="3935095"/>
                  </a:lnTo>
                  <a:lnTo>
                    <a:pt x="7063613" y="3935095"/>
                  </a:lnTo>
                  <a:cubicBezTo>
                    <a:pt x="7063613" y="4046728"/>
                    <a:pt x="6972808" y="4137025"/>
                    <a:pt x="6860921" y="4137025"/>
                  </a:cubicBezTo>
                  <a:lnTo>
                    <a:pt x="6860921" y="4117975"/>
                  </a:lnTo>
                  <a:lnTo>
                    <a:pt x="6860921" y="4137025"/>
                  </a:lnTo>
                  <a:lnTo>
                    <a:pt x="202692" y="4137025"/>
                  </a:lnTo>
                  <a:lnTo>
                    <a:pt x="202692" y="4117975"/>
                  </a:lnTo>
                  <a:lnTo>
                    <a:pt x="202692" y="4137025"/>
                  </a:lnTo>
                  <a:cubicBezTo>
                    <a:pt x="90805" y="4137025"/>
                    <a:pt x="0" y="4046728"/>
                    <a:pt x="0" y="3935095"/>
                  </a:cubicBezTo>
                  <a:lnTo>
                    <a:pt x="0" y="201930"/>
                  </a:lnTo>
                  <a:lnTo>
                    <a:pt x="19050" y="201930"/>
                  </a:lnTo>
                  <a:lnTo>
                    <a:pt x="0" y="201930"/>
                  </a:lnTo>
                  <a:moveTo>
                    <a:pt x="38100" y="201930"/>
                  </a:moveTo>
                  <a:lnTo>
                    <a:pt x="38100" y="3935095"/>
                  </a:lnTo>
                  <a:lnTo>
                    <a:pt x="19050" y="3935095"/>
                  </a:lnTo>
                  <a:lnTo>
                    <a:pt x="38100" y="3935095"/>
                  </a:lnTo>
                  <a:cubicBezTo>
                    <a:pt x="38100" y="4025519"/>
                    <a:pt x="111760" y="4098925"/>
                    <a:pt x="202692" y="4098925"/>
                  </a:cubicBezTo>
                  <a:lnTo>
                    <a:pt x="6860921" y="4098925"/>
                  </a:lnTo>
                  <a:cubicBezTo>
                    <a:pt x="6951852" y="4098925"/>
                    <a:pt x="7025513" y="4025519"/>
                    <a:pt x="7025513" y="3935095"/>
                  </a:cubicBezTo>
                  <a:lnTo>
                    <a:pt x="7025513" y="201930"/>
                  </a:lnTo>
                  <a:cubicBezTo>
                    <a:pt x="7025513" y="111506"/>
                    <a:pt x="6951852" y="38100"/>
                    <a:pt x="6860921" y="38100"/>
                  </a:cubicBezTo>
                  <a:lnTo>
                    <a:pt x="202692" y="38100"/>
                  </a:lnTo>
                  <a:lnTo>
                    <a:pt x="202692" y="19050"/>
                  </a:lnTo>
                  <a:lnTo>
                    <a:pt x="202692" y="38100"/>
                  </a:lnTo>
                  <a:cubicBezTo>
                    <a:pt x="111760" y="38100"/>
                    <a:pt x="38100" y="111506"/>
                    <a:pt x="38100" y="201930"/>
                  </a:cubicBezTo>
                  <a:close/>
                </a:path>
              </a:pathLst>
            </a:custGeom>
            <a:solidFill>
              <a:srgbClr val="C3D4CC"/>
            </a:solidFill>
          </p:spPr>
        </p:sp>
      </p:grpSp>
      <p:grpSp>
        <p:nvGrpSpPr>
          <p:cNvPr id="25" name="Group 25"/>
          <p:cNvGrpSpPr/>
          <p:nvPr/>
        </p:nvGrpSpPr>
        <p:grpSpPr>
          <a:xfrm>
            <a:off x="11997928" y="4716361"/>
            <a:ext cx="114300" cy="3074194"/>
            <a:chOff x="0" y="0"/>
            <a:chExt cx="152400" cy="4098925"/>
          </a:xfrm>
        </p:grpSpPr>
        <p:sp>
          <p:nvSpPr>
            <p:cNvPr id="26" name="Freeform 26"/>
            <p:cNvSpPr/>
            <p:nvPr/>
          </p:nvSpPr>
          <p:spPr>
            <a:xfrm>
              <a:off x="0" y="0"/>
              <a:ext cx="152400" cy="4098925"/>
            </a:xfrm>
            <a:custGeom>
              <a:avLst/>
              <a:gdLst/>
              <a:ahLst/>
              <a:cxnLst/>
              <a:rect l="l" t="t" r="r" b="b"/>
              <a:pathLst>
                <a:path w="152400" h="4098925">
                  <a:moveTo>
                    <a:pt x="0" y="76200"/>
                  </a:moveTo>
                  <a:cubicBezTo>
                    <a:pt x="0" y="34163"/>
                    <a:pt x="34163" y="0"/>
                    <a:pt x="76200" y="0"/>
                  </a:cubicBezTo>
                  <a:cubicBezTo>
                    <a:pt x="118237" y="0"/>
                    <a:pt x="152400" y="34163"/>
                    <a:pt x="152400" y="76200"/>
                  </a:cubicBezTo>
                  <a:lnTo>
                    <a:pt x="152400" y="4022725"/>
                  </a:lnTo>
                  <a:cubicBezTo>
                    <a:pt x="152400" y="4064762"/>
                    <a:pt x="118237" y="4098925"/>
                    <a:pt x="76200" y="4098925"/>
                  </a:cubicBezTo>
                  <a:cubicBezTo>
                    <a:pt x="34163" y="4098925"/>
                    <a:pt x="0" y="4064762"/>
                    <a:pt x="0" y="4022725"/>
                  </a:cubicBezTo>
                  <a:close/>
                </a:path>
              </a:pathLst>
            </a:custGeom>
            <a:solidFill>
              <a:srgbClr val="224435"/>
            </a:solidFill>
          </p:spPr>
        </p:sp>
      </p:grpSp>
      <p:sp>
        <p:nvSpPr>
          <p:cNvPr id="27" name="TextBox 27"/>
          <p:cNvSpPr txBox="1"/>
          <p:nvPr/>
        </p:nvSpPr>
        <p:spPr>
          <a:xfrm>
            <a:off x="12388748" y="4983366"/>
            <a:ext cx="4210945" cy="397221"/>
          </a:xfrm>
          <a:prstGeom prst="rect">
            <a:avLst/>
          </a:prstGeom>
        </p:spPr>
        <p:txBody>
          <a:bodyPr lIns="0" tIns="0" rIns="0" bIns="0" rtlCol="0" anchor="t">
            <a:spAutoFit/>
          </a:bodyPr>
          <a:lstStyle/>
          <a:p>
            <a:pPr algn="l">
              <a:lnSpc>
                <a:spcPts val="2999"/>
              </a:lnSpc>
            </a:pPr>
            <a:r>
              <a:rPr lang="en-US" sz="2437" b="1">
                <a:solidFill>
                  <a:srgbClr val="3B4E4E"/>
                </a:solidFill>
                <a:latin typeface="Arimo Bold"/>
                <a:ea typeface="Arimo Bold"/>
                <a:cs typeface="Arimo Bold"/>
                <a:sym typeface="Arimo Bold"/>
              </a:rPr>
              <a:t>Our Decision: Regression</a:t>
            </a:r>
          </a:p>
        </p:txBody>
      </p:sp>
      <p:sp>
        <p:nvSpPr>
          <p:cNvPr id="28" name="TextBox 28"/>
          <p:cNvSpPr txBox="1"/>
          <p:nvPr/>
        </p:nvSpPr>
        <p:spPr>
          <a:xfrm>
            <a:off x="12388748" y="5453215"/>
            <a:ext cx="4630341" cy="2060819"/>
          </a:xfrm>
          <a:prstGeom prst="rect">
            <a:avLst/>
          </a:prstGeom>
        </p:spPr>
        <p:txBody>
          <a:bodyPr lIns="0" tIns="0" rIns="0" bIns="0" rtlCol="0" anchor="t">
            <a:spAutoFit/>
          </a:bodyPr>
          <a:lstStyle/>
          <a:p>
            <a:pPr algn="l">
              <a:lnSpc>
                <a:spcPts val="3125"/>
              </a:lnSpc>
            </a:pPr>
            <a:r>
              <a:rPr lang="en-US" sz="1937">
                <a:solidFill>
                  <a:srgbClr val="3B4E4E"/>
                </a:solidFill>
                <a:latin typeface="Overpass Light"/>
                <a:ea typeface="Overpass Light"/>
                <a:cs typeface="Overpass Light"/>
                <a:sym typeface="Overpass Light"/>
              </a:rPr>
              <a:t>As our goal is to forecast a precise and continuous price for used cars, our task clearly falls under the </a:t>
            </a:r>
            <a:r>
              <a:rPr lang="en-US" sz="1937" b="1">
                <a:solidFill>
                  <a:srgbClr val="3B4E4E"/>
                </a:solidFill>
                <a:latin typeface="Overpass Bold"/>
                <a:ea typeface="Overpass Bold"/>
                <a:cs typeface="Overpass Bold"/>
                <a:sym typeface="Overpass Bold"/>
              </a:rPr>
              <a:t>Regression</a:t>
            </a:r>
            <a:r>
              <a:rPr lang="en-US" sz="1937">
                <a:solidFill>
                  <a:srgbClr val="3B4E4E"/>
                </a:solidFill>
                <a:latin typeface="Overpass Light"/>
                <a:ea typeface="Overpass Light"/>
                <a:cs typeface="Overpass Light"/>
                <a:sym typeface="Overpass Light"/>
              </a:rPr>
              <a:t> problem type. This guides our selection of appropriate modeling techniques.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9F4BE"/>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DE6"/>
            </a:solidFill>
          </p:spPr>
        </p:sp>
      </p:grpSp>
      <p:sp>
        <p:nvSpPr>
          <p:cNvPr id="6" name="TextBox 6"/>
          <p:cNvSpPr txBox="1"/>
          <p:nvPr/>
        </p:nvSpPr>
        <p:spPr>
          <a:xfrm>
            <a:off x="992238" y="2018405"/>
            <a:ext cx="12181437" cy="813197"/>
          </a:xfrm>
          <a:prstGeom prst="rect">
            <a:avLst/>
          </a:prstGeom>
        </p:spPr>
        <p:txBody>
          <a:bodyPr lIns="0" tIns="0" rIns="0" bIns="0" rtlCol="0" anchor="t">
            <a:spAutoFit/>
          </a:bodyPr>
          <a:lstStyle/>
          <a:p>
            <a:pPr algn="l">
              <a:lnSpc>
                <a:spcPts val="6062"/>
              </a:lnSpc>
            </a:pPr>
            <a:r>
              <a:rPr lang="en-US" sz="4875" b="1">
                <a:solidFill>
                  <a:srgbClr val="233939"/>
                </a:solidFill>
                <a:latin typeface="Arimo Bold"/>
                <a:ea typeface="Arimo Bold"/>
                <a:cs typeface="Arimo Bold"/>
                <a:sym typeface="Arimo Bold"/>
              </a:rPr>
              <a:t>Deep Dive: Linear Regression Model</a:t>
            </a:r>
          </a:p>
        </p:txBody>
      </p:sp>
      <p:sp>
        <p:nvSpPr>
          <p:cNvPr id="7" name="TextBox 7"/>
          <p:cNvSpPr txBox="1"/>
          <p:nvPr/>
        </p:nvSpPr>
        <p:spPr>
          <a:xfrm>
            <a:off x="992238" y="3251444"/>
            <a:ext cx="16303523" cy="870052"/>
          </a:xfrm>
          <a:prstGeom prst="rect">
            <a:avLst/>
          </a:prstGeom>
        </p:spPr>
        <p:txBody>
          <a:bodyPr lIns="0" tIns="0" rIns="0" bIns="0" rtlCol="0" anchor="t">
            <a:spAutoFit/>
          </a:bodyPr>
          <a:lstStyle/>
          <a:p>
            <a:pPr algn="l">
              <a:lnSpc>
                <a:spcPts val="3125"/>
              </a:lnSpc>
            </a:pPr>
            <a:r>
              <a:rPr lang="en-US" sz="1937">
                <a:solidFill>
                  <a:srgbClr val="3B4E4E"/>
                </a:solidFill>
                <a:latin typeface="Overpass Light"/>
                <a:ea typeface="Overpass Light"/>
                <a:cs typeface="Overpass Light"/>
                <a:sym typeface="Overpass Light"/>
              </a:rPr>
              <a:t>Having identified our task as a regression problem, we proceed with </a:t>
            </a:r>
            <a:r>
              <a:rPr lang="en-US" sz="1937" b="1">
                <a:solidFill>
                  <a:srgbClr val="3B4E4E"/>
                </a:solidFill>
                <a:latin typeface="Overpass Bold"/>
                <a:ea typeface="Overpass Bold"/>
                <a:cs typeface="Overpass Bold"/>
                <a:sym typeface="Overpass Bold"/>
              </a:rPr>
              <a:t>Linear Regression</a:t>
            </a:r>
            <a:r>
              <a:rPr lang="en-US" sz="1937">
                <a:solidFill>
                  <a:srgbClr val="3B4E4E"/>
                </a:solidFill>
                <a:latin typeface="Overpass Light"/>
                <a:ea typeface="Overpass Light"/>
                <a:cs typeface="Overpass Light"/>
                <a:sym typeface="Overpass Light"/>
              </a:rPr>
              <a:t> as our foundational modeling algorithm. This step involves instructing the model to learn the underlying patterns from our prepared data.</a:t>
            </a:r>
          </a:p>
        </p:txBody>
      </p:sp>
      <p:grpSp>
        <p:nvGrpSpPr>
          <p:cNvPr id="8" name="Group 8"/>
          <p:cNvGrpSpPr/>
          <p:nvPr/>
        </p:nvGrpSpPr>
        <p:grpSpPr>
          <a:xfrm>
            <a:off x="987476" y="4395788"/>
            <a:ext cx="5278641" cy="3839470"/>
            <a:chOff x="0" y="0"/>
            <a:chExt cx="7038188" cy="5119294"/>
          </a:xfrm>
        </p:grpSpPr>
        <p:sp>
          <p:nvSpPr>
            <p:cNvPr id="9" name="Freeform 9"/>
            <p:cNvSpPr/>
            <p:nvPr/>
          </p:nvSpPr>
          <p:spPr>
            <a:xfrm>
              <a:off x="6350" y="6350"/>
              <a:ext cx="7025513" cy="5106543"/>
            </a:xfrm>
            <a:custGeom>
              <a:avLst/>
              <a:gdLst/>
              <a:ahLst/>
              <a:cxnLst/>
              <a:rect l="l" t="t" r="r" b="b"/>
              <a:pathLst>
                <a:path w="7025513" h="5106543">
                  <a:moveTo>
                    <a:pt x="0" y="138938"/>
                  </a:moveTo>
                  <a:cubicBezTo>
                    <a:pt x="0" y="62230"/>
                    <a:pt x="62230" y="0"/>
                    <a:pt x="139065" y="0"/>
                  </a:cubicBezTo>
                  <a:lnTo>
                    <a:pt x="6886448" y="0"/>
                  </a:lnTo>
                  <a:cubicBezTo>
                    <a:pt x="6963283" y="0"/>
                    <a:pt x="7025513" y="62230"/>
                    <a:pt x="7025513" y="138938"/>
                  </a:cubicBezTo>
                  <a:lnTo>
                    <a:pt x="7025513" y="4967605"/>
                  </a:lnTo>
                  <a:cubicBezTo>
                    <a:pt x="7025513" y="5044313"/>
                    <a:pt x="6963283" y="5106543"/>
                    <a:pt x="6886448" y="5106543"/>
                  </a:cubicBezTo>
                  <a:lnTo>
                    <a:pt x="139065" y="5106543"/>
                  </a:lnTo>
                  <a:cubicBezTo>
                    <a:pt x="62230" y="5106543"/>
                    <a:pt x="0" y="5044440"/>
                    <a:pt x="0" y="4967605"/>
                  </a:cubicBezTo>
                  <a:close/>
                </a:path>
              </a:pathLst>
            </a:custGeom>
            <a:solidFill>
              <a:srgbClr val="DDEEE6"/>
            </a:solidFill>
          </p:spPr>
        </p:sp>
        <p:sp>
          <p:nvSpPr>
            <p:cNvPr id="10" name="Freeform 10"/>
            <p:cNvSpPr/>
            <p:nvPr/>
          </p:nvSpPr>
          <p:spPr>
            <a:xfrm>
              <a:off x="0" y="0"/>
              <a:ext cx="7038213" cy="5119243"/>
            </a:xfrm>
            <a:custGeom>
              <a:avLst/>
              <a:gdLst/>
              <a:ahLst/>
              <a:cxnLst/>
              <a:rect l="l" t="t" r="r" b="b"/>
              <a:pathLst>
                <a:path w="7038213" h="5119243">
                  <a:moveTo>
                    <a:pt x="0" y="145288"/>
                  </a:moveTo>
                  <a:cubicBezTo>
                    <a:pt x="0" y="65024"/>
                    <a:pt x="65151" y="0"/>
                    <a:pt x="145415" y="0"/>
                  </a:cubicBezTo>
                  <a:lnTo>
                    <a:pt x="6892798" y="0"/>
                  </a:lnTo>
                  <a:lnTo>
                    <a:pt x="6892798" y="6350"/>
                  </a:lnTo>
                  <a:lnTo>
                    <a:pt x="6892798" y="0"/>
                  </a:lnTo>
                  <a:cubicBezTo>
                    <a:pt x="6973062" y="0"/>
                    <a:pt x="7038213" y="65024"/>
                    <a:pt x="7038213" y="145288"/>
                  </a:cubicBezTo>
                  <a:lnTo>
                    <a:pt x="7031863" y="145288"/>
                  </a:lnTo>
                  <a:lnTo>
                    <a:pt x="7038213" y="145288"/>
                  </a:lnTo>
                  <a:lnTo>
                    <a:pt x="7038213" y="4973955"/>
                  </a:lnTo>
                  <a:lnTo>
                    <a:pt x="7031863" y="4973955"/>
                  </a:lnTo>
                  <a:lnTo>
                    <a:pt x="7038213" y="4973955"/>
                  </a:lnTo>
                  <a:cubicBezTo>
                    <a:pt x="7038213" y="5054219"/>
                    <a:pt x="6973062" y="5119243"/>
                    <a:pt x="6892798" y="5119243"/>
                  </a:cubicBezTo>
                  <a:lnTo>
                    <a:pt x="6892798" y="5112893"/>
                  </a:lnTo>
                  <a:lnTo>
                    <a:pt x="6892798" y="5119243"/>
                  </a:lnTo>
                  <a:lnTo>
                    <a:pt x="145415" y="5119243"/>
                  </a:lnTo>
                  <a:lnTo>
                    <a:pt x="145415" y="5112893"/>
                  </a:lnTo>
                  <a:lnTo>
                    <a:pt x="145415" y="5119243"/>
                  </a:lnTo>
                  <a:cubicBezTo>
                    <a:pt x="65151" y="5119243"/>
                    <a:pt x="0" y="5054219"/>
                    <a:pt x="0" y="4973955"/>
                  </a:cubicBezTo>
                  <a:lnTo>
                    <a:pt x="0" y="145288"/>
                  </a:lnTo>
                  <a:lnTo>
                    <a:pt x="6350" y="145288"/>
                  </a:lnTo>
                  <a:lnTo>
                    <a:pt x="0" y="145288"/>
                  </a:lnTo>
                  <a:moveTo>
                    <a:pt x="12700" y="145288"/>
                  </a:moveTo>
                  <a:lnTo>
                    <a:pt x="12700" y="4973955"/>
                  </a:lnTo>
                  <a:lnTo>
                    <a:pt x="6350" y="4973955"/>
                  </a:lnTo>
                  <a:lnTo>
                    <a:pt x="12700" y="4973955"/>
                  </a:lnTo>
                  <a:cubicBezTo>
                    <a:pt x="12700" y="5047234"/>
                    <a:pt x="72136" y="5106543"/>
                    <a:pt x="145415" y="5106543"/>
                  </a:cubicBezTo>
                  <a:lnTo>
                    <a:pt x="6892798" y="5106543"/>
                  </a:lnTo>
                  <a:cubicBezTo>
                    <a:pt x="6966077" y="5106543"/>
                    <a:pt x="7025513" y="5047234"/>
                    <a:pt x="7025513" y="4973955"/>
                  </a:cubicBezTo>
                  <a:lnTo>
                    <a:pt x="7025513" y="145288"/>
                  </a:lnTo>
                  <a:cubicBezTo>
                    <a:pt x="7025513" y="72009"/>
                    <a:pt x="6966077" y="12700"/>
                    <a:pt x="6892798" y="12700"/>
                  </a:cubicBezTo>
                  <a:lnTo>
                    <a:pt x="145415" y="12700"/>
                  </a:lnTo>
                  <a:lnTo>
                    <a:pt x="145415" y="6350"/>
                  </a:lnTo>
                  <a:lnTo>
                    <a:pt x="145415" y="12700"/>
                  </a:lnTo>
                  <a:cubicBezTo>
                    <a:pt x="72136" y="12700"/>
                    <a:pt x="12700" y="72009"/>
                    <a:pt x="12700" y="145288"/>
                  </a:cubicBezTo>
                  <a:close/>
                </a:path>
              </a:pathLst>
            </a:custGeom>
            <a:solidFill>
              <a:srgbClr val="C3D4CC"/>
            </a:solidFill>
          </p:spPr>
        </p:sp>
      </p:grpSp>
      <p:sp>
        <p:nvSpPr>
          <p:cNvPr id="11" name="TextBox 11"/>
          <p:cNvSpPr txBox="1"/>
          <p:nvPr/>
        </p:nvSpPr>
        <p:spPr>
          <a:xfrm>
            <a:off x="1249709" y="4648495"/>
            <a:ext cx="3381080" cy="397221"/>
          </a:xfrm>
          <a:prstGeom prst="rect">
            <a:avLst/>
          </a:prstGeom>
        </p:spPr>
        <p:txBody>
          <a:bodyPr lIns="0" tIns="0" rIns="0" bIns="0" rtlCol="0" anchor="t">
            <a:spAutoFit/>
          </a:bodyPr>
          <a:lstStyle/>
          <a:p>
            <a:pPr algn="l">
              <a:lnSpc>
                <a:spcPts val="2999"/>
              </a:lnSpc>
            </a:pPr>
            <a:r>
              <a:rPr lang="en-US" sz="2437" b="1">
                <a:solidFill>
                  <a:srgbClr val="3B4E4E"/>
                </a:solidFill>
                <a:latin typeface="Arimo Bold"/>
                <a:ea typeface="Arimo Bold"/>
                <a:cs typeface="Arimo Bold"/>
                <a:sym typeface="Arimo Bold"/>
              </a:rPr>
              <a:t>Algorithm of Choice</a:t>
            </a:r>
          </a:p>
        </p:txBody>
      </p:sp>
      <p:sp>
        <p:nvSpPr>
          <p:cNvPr id="12" name="TextBox 12"/>
          <p:cNvSpPr txBox="1"/>
          <p:nvPr/>
        </p:nvSpPr>
        <p:spPr>
          <a:xfrm>
            <a:off x="1249709" y="5118344"/>
            <a:ext cx="4754166" cy="2089394"/>
          </a:xfrm>
          <a:prstGeom prst="rect">
            <a:avLst/>
          </a:prstGeom>
        </p:spPr>
        <p:txBody>
          <a:bodyPr lIns="0" tIns="0" rIns="0" bIns="0" rtlCol="0" anchor="t">
            <a:spAutoFit/>
          </a:bodyPr>
          <a:lstStyle/>
          <a:p>
            <a:pPr algn="l">
              <a:lnSpc>
                <a:spcPts val="3125"/>
              </a:lnSpc>
            </a:pPr>
            <a:r>
              <a:rPr lang="en-US" sz="1937">
                <a:solidFill>
                  <a:srgbClr val="3B4E4E"/>
                </a:solidFill>
                <a:latin typeface="Overpass Light"/>
                <a:ea typeface="Overpass Light"/>
                <a:cs typeface="Overpass Light"/>
                <a:sym typeface="Overpass Light"/>
              </a:rPr>
              <a:t>We utilize </a:t>
            </a:r>
            <a:r>
              <a:rPr lang="en-US" sz="1937">
                <a:solidFill>
                  <a:srgbClr val="3B4E4E"/>
                </a:solidFill>
                <a:latin typeface="Overpass"/>
                <a:ea typeface="Overpass"/>
                <a:cs typeface="Overpass"/>
                <a:sym typeface="Overpass"/>
              </a:rPr>
              <a:t>LinearRegression</a:t>
            </a:r>
            <a:r>
              <a:rPr lang="en-US" sz="1937">
                <a:solidFill>
                  <a:srgbClr val="3B4E4E"/>
                </a:solidFill>
                <a:latin typeface="Overpass Light"/>
                <a:ea typeface="Overpass Light"/>
                <a:cs typeface="Overpass Light"/>
                <a:sym typeface="Overpass Light"/>
              </a:rPr>
              <a:t> from scikit-learn, a classic statistical method chosen for its simplicity, interpretability, and effectiveness in establishing a baseline for continuous numerical predictions.</a:t>
            </a:r>
          </a:p>
        </p:txBody>
      </p:sp>
      <p:grpSp>
        <p:nvGrpSpPr>
          <p:cNvPr id="13" name="Group 13"/>
          <p:cNvGrpSpPr/>
          <p:nvPr/>
        </p:nvGrpSpPr>
        <p:grpSpPr>
          <a:xfrm>
            <a:off x="6504537" y="4395788"/>
            <a:ext cx="5278784" cy="3839470"/>
            <a:chOff x="0" y="0"/>
            <a:chExt cx="7038378" cy="5119294"/>
          </a:xfrm>
        </p:grpSpPr>
        <p:sp>
          <p:nvSpPr>
            <p:cNvPr id="14" name="Freeform 14"/>
            <p:cNvSpPr/>
            <p:nvPr/>
          </p:nvSpPr>
          <p:spPr>
            <a:xfrm>
              <a:off x="6350" y="6350"/>
              <a:ext cx="7025640" cy="5106543"/>
            </a:xfrm>
            <a:custGeom>
              <a:avLst/>
              <a:gdLst/>
              <a:ahLst/>
              <a:cxnLst/>
              <a:rect l="l" t="t" r="r" b="b"/>
              <a:pathLst>
                <a:path w="7025640" h="5106543">
                  <a:moveTo>
                    <a:pt x="0" y="138938"/>
                  </a:moveTo>
                  <a:cubicBezTo>
                    <a:pt x="0" y="62230"/>
                    <a:pt x="62230" y="0"/>
                    <a:pt x="139065" y="0"/>
                  </a:cubicBezTo>
                  <a:lnTo>
                    <a:pt x="6886575" y="0"/>
                  </a:lnTo>
                  <a:cubicBezTo>
                    <a:pt x="6963410" y="0"/>
                    <a:pt x="7025640" y="62230"/>
                    <a:pt x="7025640" y="138938"/>
                  </a:cubicBezTo>
                  <a:lnTo>
                    <a:pt x="7025640" y="4967605"/>
                  </a:lnTo>
                  <a:cubicBezTo>
                    <a:pt x="7025640" y="5044313"/>
                    <a:pt x="6963410" y="5106543"/>
                    <a:pt x="6886575" y="5106543"/>
                  </a:cubicBezTo>
                  <a:lnTo>
                    <a:pt x="139065" y="5106543"/>
                  </a:lnTo>
                  <a:cubicBezTo>
                    <a:pt x="62230" y="5106543"/>
                    <a:pt x="0" y="5044440"/>
                    <a:pt x="0" y="4967605"/>
                  </a:cubicBezTo>
                  <a:close/>
                </a:path>
              </a:pathLst>
            </a:custGeom>
            <a:solidFill>
              <a:srgbClr val="DDEEE6"/>
            </a:solidFill>
          </p:spPr>
        </p:sp>
        <p:sp>
          <p:nvSpPr>
            <p:cNvPr id="15" name="Freeform 15"/>
            <p:cNvSpPr/>
            <p:nvPr/>
          </p:nvSpPr>
          <p:spPr>
            <a:xfrm>
              <a:off x="0" y="0"/>
              <a:ext cx="7038340" cy="5119243"/>
            </a:xfrm>
            <a:custGeom>
              <a:avLst/>
              <a:gdLst/>
              <a:ahLst/>
              <a:cxnLst/>
              <a:rect l="l" t="t" r="r" b="b"/>
              <a:pathLst>
                <a:path w="7038340" h="5119243">
                  <a:moveTo>
                    <a:pt x="0" y="145288"/>
                  </a:moveTo>
                  <a:cubicBezTo>
                    <a:pt x="0" y="65024"/>
                    <a:pt x="65151" y="0"/>
                    <a:pt x="145415" y="0"/>
                  </a:cubicBezTo>
                  <a:lnTo>
                    <a:pt x="6892925" y="0"/>
                  </a:lnTo>
                  <a:lnTo>
                    <a:pt x="6892925" y="6350"/>
                  </a:lnTo>
                  <a:lnTo>
                    <a:pt x="6892925" y="0"/>
                  </a:lnTo>
                  <a:cubicBezTo>
                    <a:pt x="6973189" y="0"/>
                    <a:pt x="7038340" y="65024"/>
                    <a:pt x="7038340" y="145288"/>
                  </a:cubicBezTo>
                  <a:lnTo>
                    <a:pt x="7031990" y="145288"/>
                  </a:lnTo>
                  <a:lnTo>
                    <a:pt x="7038340" y="145288"/>
                  </a:lnTo>
                  <a:lnTo>
                    <a:pt x="7038340" y="4973955"/>
                  </a:lnTo>
                  <a:lnTo>
                    <a:pt x="7031990" y="4973955"/>
                  </a:lnTo>
                  <a:lnTo>
                    <a:pt x="7038340" y="4973955"/>
                  </a:lnTo>
                  <a:cubicBezTo>
                    <a:pt x="7038340" y="5054219"/>
                    <a:pt x="6973189" y="5119243"/>
                    <a:pt x="6892925" y="5119243"/>
                  </a:cubicBezTo>
                  <a:lnTo>
                    <a:pt x="6892925" y="5112893"/>
                  </a:lnTo>
                  <a:lnTo>
                    <a:pt x="6892925" y="5119243"/>
                  </a:lnTo>
                  <a:lnTo>
                    <a:pt x="145415" y="5119243"/>
                  </a:lnTo>
                  <a:lnTo>
                    <a:pt x="145415" y="5112893"/>
                  </a:lnTo>
                  <a:lnTo>
                    <a:pt x="145415" y="5119243"/>
                  </a:lnTo>
                  <a:cubicBezTo>
                    <a:pt x="65151" y="5119243"/>
                    <a:pt x="0" y="5054219"/>
                    <a:pt x="0" y="4973955"/>
                  </a:cubicBezTo>
                  <a:lnTo>
                    <a:pt x="0" y="145288"/>
                  </a:lnTo>
                  <a:lnTo>
                    <a:pt x="6350" y="145288"/>
                  </a:lnTo>
                  <a:lnTo>
                    <a:pt x="0" y="145288"/>
                  </a:lnTo>
                  <a:moveTo>
                    <a:pt x="12700" y="145288"/>
                  </a:moveTo>
                  <a:lnTo>
                    <a:pt x="12700" y="4973955"/>
                  </a:lnTo>
                  <a:lnTo>
                    <a:pt x="6350" y="4973955"/>
                  </a:lnTo>
                  <a:lnTo>
                    <a:pt x="12700" y="4973955"/>
                  </a:lnTo>
                  <a:cubicBezTo>
                    <a:pt x="12700" y="5047234"/>
                    <a:pt x="72136" y="5106543"/>
                    <a:pt x="145415" y="5106543"/>
                  </a:cubicBezTo>
                  <a:lnTo>
                    <a:pt x="6892925" y="5106543"/>
                  </a:lnTo>
                  <a:cubicBezTo>
                    <a:pt x="6966204" y="5106543"/>
                    <a:pt x="7025640" y="5047234"/>
                    <a:pt x="7025640" y="4973955"/>
                  </a:cubicBezTo>
                  <a:lnTo>
                    <a:pt x="7025640" y="145288"/>
                  </a:lnTo>
                  <a:cubicBezTo>
                    <a:pt x="7025640" y="72009"/>
                    <a:pt x="6966331" y="12700"/>
                    <a:pt x="6892925" y="12700"/>
                  </a:cubicBezTo>
                  <a:lnTo>
                    <a:pt x="145415" y="12700"/>
                  </a:lnTo>
                  <a:lnTo>
                    <a:pt x="145415" y="6350"/>
                  </a:lnTo>
                  <a:lnTo>
                    <a:pt x="145415" y="12700"/>
                  </a:lnTo>
                  <a:cubicBezTo>
                    <a:pt x="72136" y="12700"/>
                    <a:pt x="12700" y="72009"/>
                    <a:pt x="12700" y="145288"/>
                  </a:cubicBezTo>
                  <a:close/>
                </a:path>
              </a:pathLst>
            </a:custGeom>
            <a:solidFill>
              <a:srgbClr val="C3D4CC"/>
            </a:solidFill>
          </p:spPr>
        </p:sp>
      </p:grpSp>
      <p:sp>
        <p:nvSpPr>
          <p:cNvPr id="16" name="TextBox 16"/>
          <p:cNvSpPr txBox="1"/>
          <p:nvPr/>
        </p:nvSpPr>
        <p:spPr>
          <a:xfrm>
            <a:off x="6766770" y="4648495"/>
            <a:ext cx="3361134" cy="397221"/>
          </a:xfrm>
          <a:prstGeom prst="rect">
            <a:avLst/>
          </a:prstGeom>
        </p:spPr>
        <p:txBody>
          <a:bodyPr lIns="0" tIns="0" rIns="0" bIns="0" rtlCol="0" anchor="t">
            <a:spAutoFit/>
          </a:bodyPr>
          <a:lstStyle/>
          <a:p>
            <a:pPr algn="l">
              <a:lnSpc>
                <a:spcPts val="2999"/>
              </a:lnSpc>
            </a:pPr>
            <a:r>
              <a:rPr lang="en-US" sz="2437" b="1">
                <a:solidFill>
                  <a:srgbClr val="3B4E4E"/>
                </a:solidFill>
                <a:latin typeface="Arimo Bold"/>
                <a:ea typeface="Arimo Bold"/>
                <a:cs typeface="Arimo Bold"/>
                <a:sym typeface="Arimo Bold"/>
              </a:rPr>
              <a:t>The 'Line of Best Fit'</a:t>
            </a:r>
          </a:p>
        </p:txBody>
      </p:sp>
      <p:sp>
        <p:nvSpPr>
          <p:cNvPr id="17" name="TextBox 17"/>
          <p:cNvSpPr txBox="1"/>
          <p:nvPr/>
        </p:nvSpPr>
        <p:spPr>
          <a:xfrm>
            <a:off x="6766770" y="5118344"/>
            <a:ext cx="4754318" cy="2854671"/>
          </a:xfrm>
          <a:prstGeom prst="rect">
            <a:avLst/>
          </a:prstGeom>
        </p:spPr>
        <p:txBody>
          <a:bodyPr lIns="0" tIns="0" rIns="0" bIns="0" rtlCol="0" anchor="t">
            <a:spAutoFit/>
          </a:bodyPr>
          <a:lstStyle/>
          <a:p>
            <a:pPr algn="l">
              <a:lnSpc>
                <a:spcPts val="3125"/>
              </a:lnSpc>
            </a:pPr>
            <a:r>
              <a:rPr lang="en-US" sz="1937">
                <a:solidFill>
                  <a:srgbClr val="3B4E4E"/>
                </a:solidFill>
                <a:latin typeface="Overpass Light"/>
                <a:ea typeface="Overpass Light"/>
                <a:cs typeface="Overpass Light"/>
                <a:sym typeface="Overpass Light"/>
              </a:rPr>
              <a:t>The core mechanism of Linear Regression is to find a straight line (or hyperplane in multi-dimensional space) that best approximates the relationship between input features and the target price. It minimizes the squared differences between observed and predicted values.</a:t>
            </a:r>
          </a:p>
        </p:txBody>
      </p:sp>
      <p:grpSp>
        <p:nvGrpSpPr>
          <p:cNvPr id="18" name="Group 18"/>
          <p:cNvGrpSpPr/>
          <p:nvPr/>
        </p:nvGrpSpPr>
        <p:grpSpPr>
          <a:xfrm>
            <a:off x="12021741" y="4395788"/>
            <a:ext cx="5278641" cy="3839470"/>
            <a:chOff x="0" y="0"/>
            <a:chExt cx="7038188" cy="5119294"/>
          </a:xfrm>
        </p:grpSpPr>
        <p:sp>
          <p:nvSpPr>
            <p:cNvPr id="19" name="Freeform 19"/>
            <p:cNvSpPr/>
            <p:nvPr/>
          </p:nvSpPr>
          <p:spPr>
            <a:xfrm>
              <a:off x="6350" y="6350"/>
              <a:ext cx="7025513" cy="5106543"/>
            </a:xfrm>
            <a:custGeom>
              <a:avLst/>
              <a:gdLst/>
              <a:ahLst/>
              <a:cxnLst/>
              <a:rect l="l" t="t" r="r" b="b"/>
              <a:pathLst>
                <a:path w="7025513" h="5106543">
                  <a:moveTo>
                    <a:pt x="0" y="138938"/>
                  </a:moveTo>
                  <a:cubicBezTo>
                    <a:pt x="0" y="62230"/>
                    <a:pt x="62230" y="0"/>
                    <a:pt x="139065" y="0"/>
                  </a:cubicBezTo>
                  <a:lnTo>
                    <a:pt x="6886448" y="0"/>
                  </a:lnTo>
                  <a:cubicBezTo>
                    <a:pt x="6963283" y="0"/>
                    <a:pt x="7025513" y="62230"/>
                    <a:pt x="7025513" y="138938"/>
                  </a:cubicBezTo>
                  <a:lnTo>
                    <a:pt x="7025513" y="4967605"/>
                  </a:lnTo>
                  <a:cubicBezTo>
                    <a:pt x="7025513" y="5044313"/>
                    <a:pt x="6963283" y="5106543"/>
                    <a:pt x="6886448" y="5106543"/>
                  </a:cubicBezTo>
                  <a:lnTo>
                    <a:pt x="139065" y="5106543"/>
                  </a:lnTo>
                  <a:cubicBezTo>
                    <a:pt x="62230" y="5106543"/>
                    <a:pt x="0" y="5044440"/>
                    <a:pt x="0" y="4967605"/>
                  </a:cubicBezTo>
                  <a:close/>
                </a:path>
              </a:pathLst>
            </a:custGeom>
            <a:solidFill>
              <a:srgbClr val="DDEEE6"/>
            </a:solidFill>
          </p:spPr>
        </p:sp>
        <p:sp>
          <p:nvSpPr>
            <p:cNvPr id="20" name="Freeform 20"/>
            <p:cNvSpPr/>
            <p:nvPr/>
          </p:nvSpPr>
          <p:spPr>
            <a:xfrm>
              <a:off x="0" y="0"/>
              <a:ext cx="7038213" cy="5119243"/>
            </a:xfrm>
            <a:custGeom>
              <a:avLst/>
              <a:gdLst/>
              <a:ahLst/>
              <a:cxnLst/>
              <a:rect l="l" t="t" r="r" b="b"/>
              <a:pathLst>
                <a:path w="7038213" h="5119243">
                  <a:moveTo>
                    <a:pt x="0" y="145288"/>
                  </a:moveTo>
                  <a:cubicBezTo>
                    <a:pt x="0" y="65024"/>
                    <a:pt x="65151" y="0"/>
                    <a:pt x="145415" y="0"/>
                  </a:cubicBezTo>
                  <a:lnTo>
                    <a:pt x="6892798" y="0"/>
                  </a:lnTo>
                  <a:lnTo>
                    <a:pt x="6892798" y="6350"/>
                  </a:lnTo>
                  <a:lnTo>
                    <a:pt x="6892798" y="0"/>
                  </a:lnTo>
                  <a:cubicBezTo>
                    <a:pt x="6973062" y="0"/>
                    <a:pt x="7038213" y="65024"/>
                    <a:pt x="7038213" y="145288"/>
                  </a:cubicBezTo>
                  <a:lnTo>
                    <a:pt x="7031863" y="145288"/>
                  </a:lnTo>
                  <a:lnTo>
                    <a:pt x="7038213" y="145288"/>
                  </a:lnTo>
                  <a:lnTo>
                    <a:pt x="7038213" y="4973955"/>
                  </a:lnTo>
                  <a:lnTo>
                    <a:pt x="7031863" y="4973955"/>
                  </a:lnTo>
                  <a:lnTo>
                    <a:pt x="7038213" y="4973955"/>
                  </a:lnTo>
                  <a:cubicBezTo>
                    <a:pt x="7038213" y="5054219"/>
                    <a:pt x="6973062" y="5119243"/>
                    <a:pt x="6892798" y="5119243"/>
                  </a:cubicBezTo>
                  <a:lnTo>
                    <a:pt x="6892798" y="5112893"/>
                  </a:lnTo>
                  <a:lnTo>
                    <a:pt x="6892798" y="5119243"/>
                  </a:lnTo>
                  <a:lnTo>
                    <a:pt x="145415" y="5119243"/>
                  </a:lnTo>
                  <a:lnTo>
                    <a:pt x="145415" y="5112893"/>
                  </a:lnTo>
                  <a:lnTo>
                    <a:pt x="145415" y="5119243"/>
                  </a:lnTo>
                  <a:cubicBezTo>
                    <a:pt x="65151" y="5119243"/>
                    <a:pt x="0" y="5054219"/>
                    <a:pt x="0" y="4973955"/>
                  </a:cubicBezTo>
                  <a:lnTo>
                    <a:pt x="0" y="145288"/>
                  </a:lnTo>
                  <a:lnTo>
                    <a:pt x="6350" y="145288"/>
                  </a:lnTo>
                  <a:lnTo>
                    <a:pt x="0" y="145288"/>
                  </a:lnTo>
                  <a:moveTo>
                    <a:pt x="12700" y="145288"/>
                  </a:moveTo>
                  <a:lnTo>
                    <a:pt x="12700" y="4973955"/>
                  </a:lnTo>
                  <a:lnTo>
                    <a:pt x="6350" y="4973955"/>
                  </a:lnTo>
                  <a:lnTo>
                    <a:pt x="12700" y="4973955"/>
                  </a:lnTo>
                  <a:cubicBezTo>
                    <a:pt x="12700" y="5047234"/>
                    <a:pt x="72136" y="5106543"/>
                    <a:pt x="145415" y="5106543"/>
                  </a:cubicBezTo>
                  <a:lnTo>
                    <a:pt x="6892798" y="5106543"/>
                  </a:lnTo>
                  <a:cubicBezTo>
                    <a:pt x="6966077" y="5106543"/>
                    <a:pt x="7025513" y="5047234"/>
                    <a:pt x="7025513" y="4973955"/>
                  </a:cubicBezTo>
                  <a:lnTo>
                    <a:pt x="7025513" y="145288"/>
                  </a:lnTo>
                  <a:cubicBezTo>
                    <a:pt x="7025513" y="72009"/>
                    <a:pt x="6966077" y="12700"/>
                    <a:pt x="6892798" y="12700"/>
                  </a:cubicBezTo>
                  <a:lnTo>
                    <a:pt x="145415" y="12700"/>
                  </a:lnTo>
                  <a:lnTo>
                    <a:pt x="145415" y="6350"/>
                  </a:lnTo>
                  <a:lnTo>
                    <a:pt x="145415" y="12700"/>
                  </a:lnTo>
                  <a:cubicBezTo>
                    <a:pt x="72136" y="12700"/>
                    <a:pt x="12700" y="72009"/>
                    <a:pt x="12700" y="145288"/>
                  </a:cubicBezTo>
                  <a:close/>
                </a:path>
              </a:pathLst>
            </a:custGeom>
            <a:solidFill>
              <a:srgbClr val="C3D4CC"/>
            </a:solidFill>
          </p:spPr>
        </p:sp>
      </p:grpSp>
      <p:sp>
        <p:nvSpPr>
          <p:cNvPr id="21" name="TextBox 21"/>
          <p:cNvSpPr txBox="1"/>
          <p:nvPr/>
        </p:nvSpPr>
        <p:spPr>
          <a:xfrm>
            <a:off x="12283973" y="4648495"/>
            <a:ext cx="3155899" cy="397221"/>
          </a:xfrm>
          <a:prstGeom prst="rect">
            <a:avLst/>
          </a:prstGeom>
        </p:spPr>
        <p:txBody>
          <a:bodyPr lIns="0" tIns="0" rIns="0" bIns="0" rtlCol="0" anchor="t">
            <a:spAutoFit/>
          </a:bodyPr>
          <a:lstStyle/>
          <a:p>
            <a:pPr algn="l">
              <a:lnSpc>
                <a:spcPts val="2999"/>
              </a:lnSpc>
            </a:pPr>
            <a:r>
              <a:rPr lang="en-US" sz="2437" b="1">
                <a:solidFill>
                  <a:srgbClr val="3B4E4E"/>
                </a:solidFill>
                <a:latin typeface="Arimo Bold"/>
                <a:ea typeface="Arimo Bold"/>
                <a:cs typeface="Arimo Bold"/>
                <a:sym typeface="Arimo Bold"/>
              </a:rPr>
              <a:t>Training the Model</a:t>
            </a:r>
          </a:p>
        </p:txBody>
      </p:sp>
      <p:sp>
        <p:nvSpPr>
          <p:cNvPr id="22" name="TextBox 22"/>
          <p:cNvSpPr txBox="1"/>
          <p:nvPr/>
        </p:nvSpPr>
        <p:spPr>
          <a:xfrm>
            <a:off x="12283973" y="5118344"/>
            <a:ext cx="4754166" cy="2486320"/>
          </a:xfrm>
          <a:prstGeom prst="rect">
            <a:avLst/>
          </a:prstGeom>
        </p:spPr>
        <p:txBody>
          <a:bodyPr lIns="0" tIns="0" rIns="0" bIns="0" rtlCol="0" anchor="t">
            <a:spAutoFit/>
          </a:bodyPr>
          <a:lstStyle/>
          <a:p>
            <a:pPr algn="l">
              <a:lnSpc>
                <a:spcPts val="3125"/>
              </a:lnSpc>
            </a:pPr>
            <a:r>
              <a:rPr lang="en-US" sz="1937">
                <a:solidFill>
                  <a:srgbClr val="3B4E4E"/>
                </a:solidFill>
                <a:latin typeface="Overpass Light"/>
                <a:ea typeface="Overpass Light"/>
                <a:cs typeface="Overpass Light"/>
                <a:sym typeface="Overpass Light"/>
              </a:rPr>
              <a:t>The training phase is initiated by calling </a:t>
            </a:r>
            <a:r>
              <a:rPr lang="en-US" sz="1937">
                <a:solidFill>
                  <a:srgbClr val="3B4E4E"/>
                </a:solidFill>
                <a:latin typeface="Overpass"/>
                <a:ea typeface="Overpass"/>
                <a:cs typeface="Overpass"/>
                <a:sym typeface="Overpass"/>
              </a:rPr>
              <a:t>model.fit(X_train, y_train)</a:t>
            </a:r>
            <a:r>
              <a:rPr lang="en-US" sz="1937">
                <a:solidFill>
                  <a:srgbClr val="3B4E4E"/>
                </a:solidFill>
                <a:latin typeface="Overpass Light"/>
                <a:ea typeface="Overpass Light"/>
                <a:cs typeface="Overpass Light"/>
                <a:sym typeface="Overpass Light"/>
              </a:rPr>
              <a:t>. During this step, the algorithm analyzes the training data to calculate the optimal coefficients (weights) for each feature, allowing it to accurately predict car prices.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9F4BE"/>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DE6"/>
            </a:solidFill>
          </p:spPr>
        </p:sp>
      </p:grpSp>
      <p:sp>
        <p:nvSpPr>
          <p:cNvPr id="6" name="TextBox 6"/>
          <p:cNvSpPr txBox="1"/>
          <p:nvPr/>
        </p:nvSpPr>
        <p:spPr>
          <a:xfrm>
            <a:off x="992238" y="669579"/>
            <a:ext cx="13476084" cy="735806"/>
          </a:xfrm>
          <a:prstGeom prst="rect">
            <a:avLst/>
          </a:prstGeom>
        </p:spPr>
        <p:txBody>
          <a:bodyPr lIns="0" tIns="0" rIns="0" bIns="0" rtlCol="0" anchor="t">
            <a:spAutoFit/>
          </a:bodyPr>
          <a:lstStyle/>
          <a:p>
            <a:pPr algn="l">
              <a:lnSpc>
                <a:spcPts val="5437"/>
              </a:lnSpc>
            </a:pPr>
            <a:r>
              <a:rPr lang="en-US" sz="4375" b="1">
                <a:solidFill>
                  <a:srgbClr val="233939"/>
                </a:solidFill>
                <a:latin typeface="Arimo Bold"/>
                <a:ea typeface="Arimo Bold"/>
                <a:cs typeface="Arimo Bold"/>
                <a:sym typeface="Arimo Bold"/>
              </a:rPr>
              <a:t>Model Evaluation: Quantifying Performance</a:t>
            </a:r>
          </a:p>
        </p:txBody>
      </p:sp>
      <p:sp>
        <p:nvSpPr>
          <p:cNvPr id="7" name="TextBox 7"/>
          <p:cNvSpPr txBox="1"/>
          <p:nvPr/>
        </p:nvSpPr>
        <p:spPr>
          <a:xfrm>
            <a:off x="992238" y="1750066"/>
            <a:ext cx="16303523" cy="735806"/>
          </a:xfrm>
          <a:prstGeom prst="rect">
            <a:avLst/>
          </a:prstGeom>
        </p:spPr>
        <p:txBody>
          <a:bodyPr lIns="0" tIns="0" rIns="0" bIns="0" rtlCol="0" anchor="t">
            <a:spAutoFit/>
          </a:bodyPr>
          <a:lstStyle/>
          <a:p>
            <a:pPr algn="l">
              <a:lnSpc>
                <a:spcPts val="2625"/>
              </a:lnSpc>
            </a:pPr>
            <a:r>
              <a:rPr lang="en-US" sz="1750">
                <a:solidFill>
                  <a:srgbClr val="3B4E4E"/>
                </a:solidFill>
                <a:latin typeface="Overpass Light"/>
                <a:ea typeface="Overpass Light"/>
                <a:cs typeface="Overpass Light"/>
                <a:sym typeface="Overpass Light"/>
              </a:rPr>
              <a:t>After training, we must objectively assess our model's performance. Evaluation metrics provide insights into how accurate our predictions are and where the model might be "wrong."</a:t>
            </a:r>
          </a:p>
        </p:txBody>
      </p:sp>
      <p:grpSp>
        <p:nvGrpSpPr>
          <p:cNvPr id="8" name="Group 8"/>
          <p:cNvGrpSpPr/>
          <p:nvPr/>
        </p:nvGrpSpPr>
        <p:grpSpPr>
          <a:xfrm>
            <a:off x="987476" y="2933252"/>
            <a:ext cx="511816" cy="511816"/>
            <a:chOff x="0" y="0"/>
            <a:chExt cx="682422" cy="682422"/>
          </a:xfrm>
        </p:grpSpPr>
        <p:sp>
          <p:nvSpPr>
            <p:cNvPr id="9" name="Freeform 9"/>
            <p:cNvSpPr/>
            <p:nvPr/>
          </p:nvSpPr>
          <p:spPr>
            <a:xfrm>
              <a:off x="6350" y="6350"/>
              <a:ext cx="669798" cy="669798"/>
            </a:xfrm>
            <a:custGeom>
              <a:avLst/>
              <a:gdLst/>
              <a:ahLst/>
              <a:cxnLst/>
              <a:rect l="l" t="t" r="r" b="b"/>
              <a:pathLst>
                <a:path w="669798" h="669798">
                  <a:moveTo>
                    <a:pt x="0" y="125095"/>
                  </a:moveTo>
                  <a:cubicBezTo>
                    <a:pt x="0" y="56007"/>
                    <a:pt x="56007" y="0"/>
                    <a:pt x="125095" y="0"/>
                  </a:cubicBezTo>
                  <a:lnTo>
                    <a:pt x="544703" y="0"/>
                  </a:lnTo>
                  <a:cubicBezTo>
                    <a:pt x="613791" y="0"/>
                    <a:pt x="669798" y="56007"/>
                    <a:pt x="669798" y="125095"/>
                  </a:cubicBezTo>
                  <a:lnTo>
                    <a:pt x="669798" y="544703"/>
                  </a:lnTo>
                  <a:cubicBezTo>
                    <a:pt x="669798" y="613791"/>
                    <a:pt x="613791" y="669798"/>
                    <a:pt x="544703" y="669798"/>
                  </a:cubicBezTo>
                  <a:lnTo>
                    <a:pt x="125095" y="669798"/>
                  </a:lnTo>
                  <a:cubicBezTo>
                    <a:pt x="56007" y="669671"/>
                    <a:pt x="0" y="613791"/>
                    <a:pt x="0" y="544703"/>
                  </a:cubicBezTo>
                  <a:close/>
                </a:path>
              </a:pathLst>
            </a:custGeom>
            <a:solidFill>
              <a:srgbClr val="DDEEE6"/>
            </a:solidFill>
          </p:spPr>
        </p:sp>
        <p:sp>
          <p:nvSpPr>
            <p:cNvPr id="10" name="Freeform 10"/>
            <p:cNvSpPr/>
            <p:nvPr/>
          </p:nvSpPr>
          <p:spPr>
            <a:xfrm>
              <a:off x="0" y="0"/>
              <a:ext cx="682371" cy="682498"/>
            </a:xfrm>
            <a:custGeom>
              <a:avLst/>
              <a:gdLst/>
              <a:ahLst/>
              <a:cxnLst/>
              <a:rect l="l" t="t" r="r" b="b"/>
              <a:pathLst>
                <a:path w="682371" h="682498">
                  <a:moveTo>
                    <a:pt x="0" y="131445"/>
                  </a:moveTo>
                  <a:cubicBezTo>
                    <a:pt x="0" y="58801"/>
                    <a:pt x="58801" y="0"/>
                    <a:pt x="131445" y="0"/>
                  </a:cubicBezTo>
                  <a:lnTo>
                    <a:pt x="551053" y="0"/>
                  </a:lnTo>
                  <a:lnTo>
                    <a:pt x="551053" y="6350"/>
                  </a:lnTo>
                  <a:lnTo>
                    <a:pt x="551053" y="0"/>
                  </a:lnTo>
                  <a:cubicBezTo>
                    <a:pt x="623570" y="0"/>
                    <a:pt x="682371" y="58801"/>
                    <a:pt x="682371" y="131445"/>
                  </a:cubicBezTo>
                  <a:lnTo>
                    <a:pt x="676021" y="131445"/>
                  </a:lnTo>
                  <a:lnTo>
                    <a:pt x="682371" y="131445"/>
                  </a:lnTo>
                  <a:lnTo>
                    <a:pt x="682371" y="551053"/>
                  </a:lnTo>
                  <a:lnTo>
                    <a:pt x="676021" y="551053"/>
                  </a:lnTo>
                  <a:lnTo>
                    <a:pt x="682371" y="551053"/>
                  </a:lnTo>
                  <a:cubicBezTo>
                    <a:pt x="682371" y="623570"/>
                    <a:pt x="623570" y="682498"/>
                    <a:pt x="550926" y="682498"/>
                  </a:cubicBezTo>
                  <a:lnTo>
                    <a:pt x="550926" y="676148"/>
                  </a:lnTo>
                  <a:lnTo>
                    <a:pt x="550926" y="682498"/>
                  </a:lnTo>
                  <a:lnTo>
                    <a:pt x="131445" y="682498"/>
                  </a:lnTo>
                  <a:lnTo>
                    <a:pt x="131445" y="676148"/>
                  </a:lnTo>
                  <a:lnTo>
                    <a:pt x="131445" y="682498"/>
                  </a:lnTo>
                  <a:cubicBezTo>
                    <a:pt x="58801" y="682371"/>
                    <a:pt x="0" y="623570"/>
                    <a:pt x="0" y="551053"/>
                  </a:cubicBezTo>
                  <a:lnTo>
                    <a:pt x="0" y="131445"/>
                  </a:lnTo>
                  <a:lnTo>
                    <a:pt x="6350" y="131445"/>
                  </a:lnTo>
                  <a:lnTo>
                    <a:pt x="0" y="131445"/>
                  </a:lnTo>
                  <a:moveTo>
                    <a:pt x="12700" y="131445"/>
                  </a:moveTo>
                  <a:lnTo>
                    <a:pt x="12700" y="551053"/>
                  </a:lnTo>
                  <a:lnTo>
                    <a:pt x="6350" y="551053"/>
                  </a:lnTo>
                  <a:lnTo>
                    <a:pt x="12700" y="551053"/>
                  </a:lnTo>
                  <a:cubicBezTo>
                    <a:pt x="12700" y="616585"/>
                    <a:pt x="65786" y="669798"/>
                    <a:pt x="131445" y="669798"/>
                  </a:cubicBezTo>
                  <a:lnTo>
                    <a:pt x="551053" y="669798"/>
                  </a:lnTo>
                  <a:cubicBezTo>
                    <a:pt x="616585" y="669798"/>
                    <a:pt x="669798" y="616712"/>
                    <a:pt x="669798" y="551053"/>
                  </a:cubicBezTo>
                  <a:lnTo>
                    <a:pt x="669798" y="131445"/>
                  </a:lnTo>
                  <a:cubicBezTo>
                    <a:pt x="669671" y="65786"/>
                    <a:pt x="616585" y="12700"/>
                    <a:pt x="551053" y="12700"/>
                  </a:cubicBezTo>
                  <a:lnTo>
                    <a:pt x="131445" y="12700"/>
                  </a:lnTo>
                  <a:lnTo>
                    <a:pt x="131445" y="6350"/>
                  </a:lnTo>
                  <a:lnTo>
                    <a:pt x="131445" y="12700"/>
                  </a:lnTo>
                  <a:cubicBezTo>
                    <a:pt x="65786" y="12700"/>
                    <a:pt x="12700" y="65786"/>
                    <a:pt x="12700" y="131445"/>
                  </a:cubicBezTo>
                  <a:close/>
                </a:path>
              </a:pathLst>
            </a:custGeom>
            <a:solidFill>
              <a:srgbClr val="C3D4CC"/>
            </a:solidFill>
          </p:spPr>
        </p:sp>
      </p:grpSp>
      <p:sp>
        <p:nvSpPr>
          <p:cNvPr id="11" name="TextBox 11"/>
          <p:cNvSpPr txBox="1"/>
          <p:nvPr/>
        </p:nvSpPr>
        <p:spPr>
          <a:xfrm>
            <a:off x="1695450" y="2995612"/>
            <a:ext cx="4127602" cy="367751"/>
          </a:xfrm>
          <a:prstGeom prst="rect">
            <a:avLst/>
          </a:prstGeom>
        </p:spPr>
        <p:txBody>
          <a:bodyPr lIns="0" tIns="0" rIns="0" bIns="0" rtlCol="0" anchor="t">
            <a:spAutoFit/>
          </a:bodyPr>
          <a:lstStyle/>
          <a:p>
            <a:pPr algn="l">
              <a:lnSpc>
                <a:spcPts val="2687"/>
              </a:lnSpc>
            </a:pPr>
            <a:r>
              <a:rPr lang="en-US" sz="2187" b="1">
                <a:solidFill>
                  <a:srgbClr val="3B4E4E"/>
                </a:solidFill>
                <a:latin typeface="Arimo Bold"/>
                <a:ea typeface="Arimo Bold"/>
                <a:cs typeface="Arimo Bold"/>
                <a:sym typeface="Arimo Bold"/>
              </a:rPr>
              <a:t>MAE (Mean Absolute Error)</a:t>
            </a:r>
          </a:p>
        </p:txBody>
      </p:sp>
      <p:sp>
        <p:nvSpPr>
          <p:cNvPr id="12" name="TextBox 12"/>
          <p:cNvSpPr txBox="1"/>
          <p:nvPr/>
        </p:nvSpPr>
        <p:spPr>
          <a:xfrm>
            <a:off x="1695450" y="3507134"/>
            <a:ext cx="7176192" cy="1414462"/>
          </a:xfrm>
          <a:prstGeom prst="rect">
            <a:avLst/>
          </a:prstGeom>
        </p:spPr>
        <p:txBody>
          <a:bodyPr lIns="0" tIns="0" rIns="0" bIns="0" rtlCol="0" anchor="t">
            <a:spAutoFit/>
          </a:bodyPr>
          <a:lstStyle/>
          <a:p>
            <a:pPr algn="l">
              <a:lnSpc>
                <a:spcPts val="2625"/>
              </a:lnSpc>
            </a:pPr>
            <a:r>
              <a:rPr lang="en-US" sz="1750">
                <a:solidFill>
                  <a:srgbClr val="3B4E4E"/>
                </a:solidFill>
                <a:latin typeface="Overpass Light"/>
                <a:ea typeface="Overpass Light"/>
                <a:cs typeface="Overpass Light"/>
                <a:sym typeface="Overpass Light"/>
              </a:rPr>
              <a:t>The average magnitude of the errors in a set of predictions, without considering their direction. It measures the average absolute difference between predicted and actual values, telling us the typical dollar amount our prediction is off by.</a:t>
            </a:r>
          </a:p>
        </p:txBody>
      </p:sp>
      <p:grpSp>
        <p:nvGrpSpPr>
          <p:cNvPr id="13" name="Group 13"/>
          <p:cNvGrpSpPr/>
          <p:nvPr/>
        </p:nvGrpSpPr>
        <p:grpSpPr>
          <a:xfrm>
            <a:off x="987476" y="5318674"/>
            <a:ext cx="511816" cy="511816"/>
            <a:chOff x="0" y="0"/>
            <a:chExt cx="682422" cy="682422"/>
          </a:xfrm>
        </p:grpSpPr>
        <p:sp>
          <p:nvSpPr>
            <p:cNvPr id="14" name="Freeform 14"/>
            <p:cNvSpPr/>
            <p:nvPr/>
          </p:nvSpPr>
          <p:spPr>
            <a:xfrm>
              <a:off x="6350" y="6350"/>
              <a:ext cx="669798" cy="669798"/>
            </a:xfrm>
            <a:custGeom>
              <a:avLst/>
              <a:gdLst/>
              <a:ahLst/>
              <a:cxnLst/>
              <a:rect l="l" t="t" r="r" b="b"/>
              <a:pathLst>
                <a:path w="669798" h="669798">
                  <a:moveTo>
                    <a:pt x="0" y="125095"/>
                  </a:moveTo>
                  <a:cubicBezTo>
                    <a:pt x="0" y="56007"/>
                    <a:pt x="56007" y="0"/>
                    <a:pt x="125095" y="0"/>
                  </a:cubicBezTo>
                  <a:lnTo>
                    <a:pt x="544703" y="0"/>
                  </a:lnTo>
                  <a:cubicBezTo>
                    <a:pt x="613791" y="0"/>
                    <a:pt x="669798" y="56007"/>
                    <a:pt x="669798" y="125095"/>
                  </a:cubicBezTo>
                  <a:lnTo>
                    <a:pt x="669798" y="544703"/>
                  </a:lnTo>
                  <a:cubicBezTo>
                    <a:pt x="669798" y="613791"/>
                    <a:pt x="613791" y="669798"/>
                    <a:pt x="544703" y="669798"/>
                  </a:cubicBezTo>
                  <a:lnTo>
                    <a:pt x="125095" y="669798"/>
                  </a:lnTo>
                  <a:cubicBezTo>
                    <a:pt x="56007" y="669671"/>
                    <a:pt x="0" y="613791"/>
                    <a:pt x="0" y="544703"/>
                  </a:cubicBezTo>
                  <a:close/>
                </a:path>
              </a:pathLst>
            </a:custGeom>
            <a:solidFill>
              <a:srgbClr val="DDEEE6"/>
            </a:solidFill>
          </p:spPr>
        </p:sp>
        <p:sp>
          <p:nvSpPr>
            <p:cNvPr id="15" name="Freeform 15"/>
            <p:cNvSpPr/>
            <p:nvPr/>
          </p:nvSpPr>
          <p:spPr>
            <a:xfrm>
              <a:off x="0" y="0"/>
              <a:ext cx="682371" cy="682498"/>
            </a:xfrm>
            <a:custGeom>
              <a:avLst/>
              <a:gdLst/>
              <a:ahLst/>
              <a:cxnLst/>
              <a:rect l="l" t="t" r="r" b="b"/>
              <a:pathLst>
                <a:path w="682371" h="682498">
                  <a:moveTo>
                    <a:pt x="0" y="131445"/>
                  </a:moveTo>
                  <a:cubicBezTo>
                    <a:pt x="0" y="58801"/>
                    <a:pt x="58801" y="0"/>
                    <a:pt x="131445" y="0"/>
                  </a:cubicBezTo>
                  <a:lnTo>
                    <a:pt x="551053" y="0"/>
                  </a:lnTo>
                  <a:lnTo>
                    <a:pt x="551053" y="6350"/>
                  </a:lnTo>
                  <a:lnTo>
                    <a:pt x="551053" y="0"/>
                  </a:lnTo>
                  <a:cubicBezTo>
                    <a:pt x="623570" y="0"/>
                    <a:pt x="682371" y="58801"/>
                    <a:pt x="682371" y="131445"/>
                  </a:cubicBezTo>
                  <a:lnTo>
                    <a:pt x="676021" y="131445"/>
                  </a:lnTo>
                  <a:lnTo>
                    <a:pt x="682371" y="131445"/>
                  </a:lnTo>
                  <a:lnTo>
                    <a:pt x="682371" y="551053"/>
                  </a:lnTo>
                  <a:lnTo>
                    <a:pt x="676021" y="551053"/>
                  </a:lnTo>
                  <a:lnTo>
                    <a:pt x="682371" y="551053"/>
                  </a:lnTo>
                  <a:cubicBezTo>
                    <a:pt x="682371" y="623570"/>
                    <a:pt x="623570" y="682498"/>
                    <a:pt x="550926" y="682498"/>
                  </a:cubicBezTo>
                  <a:lnTo>
                    <a:pt x="550926" y="676148"/>
                  </a:lnTo>
                  <a:lnTo>
                    <a:pt x="550926" y="682498"/>
                  </a:lnTo>
                  <a:lnTo>
                    <a:pt x="131445" y="682498"/>
                  </a:lnTo>
                  <a:lnTo>
                    <a:pt x="131445" y="676148"/>
                  </a:lnTo>
                  <a:lnTo>
                    <a:pt x="131445" y="682498"/>
                  </a:lnTo>
                  <a:cubicBezTo>
                    <a:pt x="58801" y="682371"/>
                    <a:pt x="0" y="623570"/>
                    <a:pt x="0" y="551053"/>
                  </a:cubicBezTo>
                  <a:lnTo>
                    <a:pt x="0" y="131445"/>
                  </a:lnTo>
                  <a:lnTo>
                    <a:pt x="6350" y="131445"/>
                  </a:lnTo>
                  <a:lnTo>
                    <a:pt x="0" y="131445"/>
                  </a:lnTo>
                  <a:moveTo>
                    <a:pt x="12700" y="131445"/>
                  </a:moveTo>
                  <a:lnTo>
                    <a:pt x="12700" y="551053"/>
                  </a:lnTo>
                  <a:lnTo>
                    <a:pt x="6350" y="551053"/>
                  </a:lnTo>
                  <a:lnTo>
                    <a:pt x="12700" y="551053"/>
                  </a:lnTo>
                  <a:cubicBezTo>
                    <a:pt x="12700" y="616585"/>
                    <a:pt x="65786" y="669798"/>
                    <a:pt x="131445" y="669798"/>
                  </a:cubicBezTo>
                  <a:lnTo>
                    <a:pt x="551053" y="669798"/>
                  </a:lnTo>
                  <a:cubicBezTo>
                    <a:pt x="616585" y="669798"/>
                    <a:pt x="669798" y="616712"/>
                    <a:pt x="669798" y="551053"/>
                  </a:cubicBezTo>
                  <a:lnTo>
                    <a:pt x="669798" y="131445"/>
                  </a:lnTo>
                  <a:cubicBezTo>
                    <a:pt x="669671" y="65786"/>
                    <a:pt x="616585" y="12700"/>
                    <a:pt x="551053" y="12700"/>
                  </a:cubicBezTo>
                  <a:lnTo>
                    <a:pt x="131445" y="12700"/>
                  </a:lnTo>
                  <a:lnTo>
                    <a:pt x="131445" y="6350"/>
                  </a:lnTo>
                  <a:lnTo>
                    <a:pt x="131445" y="12700"/>
                  </a:lnTo>
                  <a:cubicBezTo>
                    <a:pt x="65786" y="12700"/>
                    <a:pt x="12700" y="65786"/>
                    <a:pt x="12700" y="131445"/>
                  </a:cubicBezTo>
                  <a:close/>
                </a:path>
              </a:pathLst>
            </a:custGeom>
            <a:solidFill>
              <a:srgbClr val="C3D4CC"/>
            </a:solidFill>
          </p:spPr>
        </p:sp>
      </p:grpSp>
      <p:sp>
        <p:nvSpPr>
          <p:cNvPr id="16" name="TextBox 16"/>
          <p:cNvSpPr txBox="1"/>
          <p:nvPr/>
        </p:nvSpPr>
        <p:spPr>
          <a:xfrm>
            <a:off x="1695450" y="5381034"/>
            <a:ext cx="4047677" cy="367751"/>
          </a:xfrm>
          <a:prstGeom prst="rect">
            <a:avLst/>
          </a:prstGeom>
        </p:spPr>
        <p:txBody>
          <a:bodyPr lIns="0" tIns="0" rIns="0" bIns="0" rtlCol="0" anchor="t">
            <a:spAutoFit/>
          </a:bodyPr>
          <a:lstStyle/>
          <a:p>
            <a:pPr algn="l">
              <a:lnSpc>
                <a:spcPts val="2687"/>
              </a:lnSpc>
            </a:pPr>
            <a:r>
              <a:rPr lang="en-US" sz="2187" b="1">
                <a:solidFill>
                  <a:srgbClr val="3B4E4E"/>
                </a:solidFill>
                <a:latin typeface="Arimo Bold"/>
                <a:ea typeface="Arimo Bold"/>
                <a:cs typeface="Arimo Bold"/>
                <a:sym typeface="Arimo Bold"/>
              </a:rPr>
              <a:t>MSE (Mean Squared Error)</a:t>
            </a:r>
          </a:p>
        </p:txBody>
      </p:sp>
      <p:sp>
        <p:nvSpPr>
          <p:cNvPr id="17" name="TextBox 17"/>
          <p:cNvSpPr txBox="1"/>
          <p:nvPr/>
        </p:nvSpPr>
        <p:spPr>
          <a:xfrm>
            <a:off x="1695450" y="5892556"/>
            <a:ext cx="7176192" cy="1075134"/>
          </a:xfrm>
          <a:prstGeom prst="rect">
            <a:avLst/>
          </a:prstGeom>
        </p:spPr>
        <p:txBody>
          <a:bodyPr lIns="0" tIns="0" rIns="0" bIns="0" rtlCol="0" anchor="t">
            <a:spAutoFit/>
          </a:bodyPr>
          <a:lstStyle/>
          <a:p>
            <a:pPr algn="l">
              <a:lnSpc>
                <a:spcPts val="2625"/>
              </a:lnSpc>
            </a:pPr>
            <a:r>
              <a:rPr lang="en-US" sz="1750">
                <a:solidFill>
                  <a:srgbClr val="3B4E4E"/>
                </a:solidFill>
                <a:latin typeface="Overpass Light"/>
                <a:ea typeface="Overpass Light"/>
                <a:cs typeface="Overpass Light"/>
                <a:sym typeface="Overpass Light"/>
              </a:rPr>
              <a:t>Measures the average of the squares of the errors. Since errors are squared, larger errors are penalized more heavily. This metric is very sensitive to outliers.</a:t>
            </a:r>
          </a:p>
        </p:txBody>
      </p:sp>
      <p:grpSp>
        <p:nvGrpSpPr>
          <p:cNvPr id="18" name="Group 18"/>
          <p:cNvGrpSpPr/>
          <p:nvPr/>
        </p:nvGrpSpPr>
        <p:grpSpPr>
          <a:xfrm>
            <a:off x="987476" y="7364759"/>
            <a:ext cx="511816" cy="511816"/>
            <a:chOff x="0" y="0"/>
            <a:chExt cx="682422" cy="682422"/>
          </a:xfrm>
        </p:grpSpPr>
        <p:sp>
          <p:nvSpPr>
            <p:cNvPr id="19" name="Freeform 19"/>
            <p:cNvSpPr/>
            <p:nvPr/>
          </p:nvSpPr>
          <p:spPr>
            <a:xfrm>
              <a:off x="6350" y="6350"/>
              <a:ext cx="669798" cy="669798"/>
            </a:xfrm>
            <a:custGeom>
              <a:avLst/>
              <a:gdLst/>
              <a:ahLst/>
              <a:cxnLst/>
              <a:rect l="l" t="t" r="r" b="b"/>
              <a:pathLst>
                <a:path w="669798" h="669798">
                  <a:moveTo>
                    <a:pt x="0" y="125095"/>
                  </a:moveTo>
                  <a:cubicBezTo>
                    <a:pt x="0" y="56007"/>
                    <a:pt x="56007" y="0"/>
                    <a:pt x="125095" y="0"/>
                  </a:cubicBezTo>
                  <a:lnTo>
                    <a:pt x="544703" y="0"/>
                  </a:lnTo>
                  <a:cubicBezTo>
                    <a:pt x="613791" y="0"/>
                    <a:pt x="669798" y="56007"/>
                    <a:pt x="669798" y="125095"/>
                  </a:cubicBezTo>
                  <a:lnTo>
                    <a:pt x="669798" y="544703"/>
                  </a:lnTo>
                  <a:cubicBezTo>
                    <a:pt x="669798" y="613791"/>
                    <a:pt x="613791" y="669798"/>
                    <a:pt x="544703" y="669798"/>
                  </a:cubicBezTo>
                  <a:lnTo>
                    <a:pt x="125095" y="669798"/>
                  </a:lnTo>
                  <a:cubicBezTo>
                    <a:pt x="56007" y="669671"/>
                    <a:pt x="0" y="613791"/>
                    <a:pt x="0" y="544703"/>
                  </a:cubicBezTo>
                  <a:close/>
                </a:path>
              </a:pathLst>
            </a:custGeom>
            <a:solidFill>
              <a:srgbClr val="DDEEE6"/>
            </a:solidFill>
          </p:spPr>
        </p:sp>
        <p:sp>
          <p:nvSpPr>
            <p:cNvPr id="20" name="Freeform 20"/>
            <p:cNvSpPr/>
            <p:nvPr/>
          </p:nvSpPr>
          <p:spPr>
            <a:xfrm>
              <a:off x="0" y="0"/>
              <a:ext cx="682371" cy="682498"/>
            </a:xfrm>
            <a:custGeom>
              <a:avLst/>
              <a:gdLst/>
              <a:ahLst/>
              <a:cxnLst/>
              <a:rect l="l" t="t" r="r" b="b"/>
              <a:pathLst>
                <a:path w="682371" h="682498">
                  <a:moveTo>
                    <a:pt x="0" y="131445"/>
                  </a:moveTo>
                  <a:cubicBezTo>
                    <a:pt x="0" y="58801"/>
                    <a:pt x="58801" y="0"/>
                    <a:pt x="131445" y="0"/>
                  </a:cubicBezTo>
                  <a:lnTo>
                    <a:pt x="551053" y="0"/>
                  </a:lnTo>
                  <a:lnTo>
                    <a:pt x="551053" y="6350"/>
                  </a:lnTo>
                  <a:lnTo>
                    <a:pt x="551053" y="0"/>
                  </a:lnTo>
                  <a:cubicBezTo>
                    <a:pt x="623570" y="0"/>
                    <a:pt x="682371" y="58801"/>
                    <a:pt x="682371" y="131445"/>
                  </a:cubicBezTo>
                  <a:lnTo>
                    <a:pt x="676021" y="131445"/>
                  </a:lnTo>
                  <a:lnTo>
                    <a:pt x="682371" y="131445"/>
                  </a:lnTo>
                  <a:lnTo>
                    <a:pt x="682371" y="551053"/>
                  </a:lnTo>
                  <a:lnTo>
                    <a:pt x="676021" y="551053"/>
                  </a:lnTo>
                  <a:lnTo>
                    <a:pt x="682371" y="551053"/>
                  </a:lnTo>
                  <a:cubicBezTo>
                    <a:pt x="682371" y="623570"/>
                    <a:pt x="623570" y="682498"/>
                    <a:pt x="550926" y="682498"/>
                  </a:cubicBezTo>
                  <a:lnTo>
                    <a:pt x="550926" y="676148"/>
                  </a:lnTo>
                  <a:lnTo>
                    <a:pt x="550926" y="682498"/>
                  </a:lnTo>
                  <a:lnTo>
                    <a:pt x="131445" y="682498"/>
                  </a:lnTo>
                  <a:lnTo>
                    <a:pt x="131445" y="676148"/>
                  </a:lnTo>
                  <a:lnTo>
                    <a:pt x="131445" y="682498"/>
                  </a:lnTo>
                  <a:cubicBezTo>
                    <a:pt x="58801" y="682371"/>
                    <a:pt x="0" y="623570"/>
                    <a:pt x="0" y="551053"/>
                  </a:cubicBezTo>
                  <a:lnTo>
                    <a:pt x="0" y="131445"/>
                  </a:lnTo>
                  <a:lnTo>
                    <a:pt x="6350" y="131445"/>
                  </a:lnTo>
                  <a:lnTo>
                    <a:pt x="0" y="131445"/>
                  </a:lnTo>
                  <a:moveTo>
                    <a:pt x="12700" y="131445"/>
                  </a:moveTo>
                  <a:lnTo>
                    <a:pt x="12700" y="551053"/>
                  </a:lnTo>
                  <a:lnTo>
                    <a:pt x="6350" y="551053"/>
                  </a:lnTo>
                  <a:lnTo>
                    <a:pt x="12700" y="551053"/>
                  </a:lnTo>
                  <a:cubicBezTo>
                    <a:pt x="12700" y="616585"/>
                    <a:pt x="65786" y="669798"/>
                    <a:pt x="131445" y="669798"/>
                  </a:cubicBezTo>
                  <a:lnTo>
                    <a:pt x="551053" y="669798"/>
                  </a:lnTo>
                  <a:cubicBezTo>
                    <a:pt x="616585" y="669798"/>
                    <a:pt x="669798" y="616712"/>
                    <a:pt x="669798" y="551053"/>
                  </a:cubicBezTo>
                  <a:lnTo>
                    <a:pt x="669798" y="131445"/>
                  </a:lnTo>
                  <a:cubicBezTo>
                    <a:pt x="669671" y="65786"/>
                    <a:pt x="616585" y="12700"/>
                    <a:pt x="551053" y="12700"/>
                  </a:cubicBezTo>
                  <a:lnTo>
                    <a:pt x="131445" y="12700"/>
                  </a:lnTo>
                  <a:lnTo>
                    <a:pt x="131445" y="6350"/>
                  </a:lnTo>
                  <a:lnTo>
                    <a:pt x="131445" y="12700"/>
                  </a:lnTo>
                  <a:cubicBezTo>
                    <a:pt x="65786" y="12700"/>
                    <a:pt x="12700" y="65786"/>
                    <a:pt x="12700" y="131445"/>
                  </a:cubicBezTo>
                  <a:close/>
                </a:path>
              </a:pathLst>
            </a:custGeom>
            <a:solidFill>
              <a:srgbClr val="C3D4CC"/>
            </a:solidFill>
          </p:spPr>
        </p:sp>
      </p:grpSp>
      <p:sp>
        <p:nvSpPr>
          <p:cNvPr id="21" name="TextBox 21"/>
          <p:cNvSpPr txBox="1"/>
          <p:nvPr/>
        </p:nvSpPr>
        <p:spPr>
          <a:xfrm>
            <a:off x="1695450" y="7427119"/>
            <a:ext cx="5922912" cy="367751"/>
          </a:xfrm>
          <a:prstGeom prst="rect">
            <a:avLst/>
          </a:prstGeom>
        </p:spPr>
        <p:txBody>
          <a:bodyPr lIns="0" tIns="0" rIns="0" bIns="0" rtlCol="0" anchor="t">
            <a:spAutoFit/>
          </a:bodyPr>
          <a:lstStyle/>
          <a:p>
            <a:pPr algn="l">
              <a:lnSpc>
                <a:spcPts val="2687"/>
              </a:lnSpc>
            </a:pPr>
            <a:r>
              <a:rPr lang="en-US" sz="2187" b="1">
                <a:solidFill>
                  <a:srgbClr val="3B4E4E"/>
                </a:solidFill>
                <a:latin typeface="Arimo Bold"/>
                <a:ea typeface="Arimo Bold"/>
                <a:cs typeface="Arimo Bold"/>
                <a:sym typeface="Arimo Bold"/>
              </a:rPr>
              <a:t>R² Score (Coefficient of Determination)</a:t>
            </a:r>
          </a:p>
        </p:txBody>
      </p:sp>
      <p:sp>
        <p:nvSpPr>
          <p:cNvPr id="22" name="TextBox 22"/>
          <p:cNvSpPr txBox="1"/>
          <p:nvPr/>
        </p:nvSpPr>
        <p:spPr>
          <a:xfrm>
            <a:off x="1695450" y="7938640"/>
            <a:ext cx="7176192" cy="1414462"/>
          </a:xfrm>
          <a:prstGeom prst="rect">
            <a:avLst/>
          </a:prstGeom>
        </p:spPr>
        <p:txBody>
          <a:bodyPr lIns="0" tIns="0" rIns="0" bIns="0" rtlCol="0" anchor="t">
            <a:spAutoFit/>
          </a:bodyPr>
          <a:lstStyle/>
          <a:p>
            <a:pPr algn="l">
              <a:lnSpc>
                <a:spcPts val="2625"/>
              </a:lnSpc>
            </a:pPr>
            <a:r>
              <a:rPr lang="en-US" sz="1750">
                <a:solidFill>
                  <a:srgbClr val="3B4E4E"/>
                </a:solidFill>
                <a:latin typeface="Overpass Light"/>
                <a:ea typeface="Overpass Light"/>
                <a:cs typeface="Overpass Light"/>
                <a:sym typeface="Overpass Light"/>
              </a:rPr>
              <a:t>Represents the proportion of the variance in the dependent variable that is predictable from the independent variables. A value of 1.0 indicates a perfect fit, while 0.0 suggests the model explains none of the variance. Our goal is to achieve an R² as close to 1.0 as possible.</a:t>
            </a:r>
          </a:p>
        </p:txBody>
      </p:sp>
      <p:grpSp>
        <p:nvGrpSpPr>
          <p:cNvPr id="23" name="Group 23"/>
          <p:cNvGrpSpPr/>
          <p:nvPr/>
        </p:nvGrpSpPr>
        <p:grpSpPr>
          <a:xfrm>
            <a:off x="9425883" y="2938015"/>
            <a:ext cx="7091362" cy="5383711"/>
            <a:chOff x="0" y="0"/>
            <a:chExt cx="9455150" cy="7178281"/>
          </a:xfrm>
        </p:grpSpPr>
        <p:sp>
          <p:nvSpPr>
            <p:cNvPr id="24" name="Freeform 24" descr="preencoded.png"/>
            <p:cNvSpPr/>
            <p:nvPr/>
          </p:nvSpPr>
          <p:spPr>
            <a:xfrm>
              <a:off x="0" y="0"/>
              <a:ext cx="9455150" cy="7178294"/>
            </a:xfrm>
            <a:custGeom>
              <a:avLst/>
              <a:gdLst/>
              <a:ahLst/>
              <a:cxnLst/>
              <a:rect l="l" t="t" r="r" b="b"/>
              <a:pathLst>
                <a:path w="9455150" h="7178294">
                  <a:moveTo>
                    <a:pt x="0" y="0"/>
                  </a:moveTo>
                  <a:lnTo>
                    <a:pt x="9455150" y="0"/>
                  </a:lnTo>
                  <a:lnTo>
                    <a:pt x="9455150" y="7178294"/>
                  </a:lnTo>
                  <a:lnTo>
                    <a:pt x="0" y="7178294"/>
                  </a:lnTo>
                  <a:lnTo>
                    <a:pt x="0" y="0"/>
                  </a:lnTo>
                  <a:close/>
                </a:path>
              </a:pathLst>
            </a:custGeom>
            <a:blipFill>
              <a:blip r:embed="rId2"/>
              <a:stretch>
                <a:fillRect l="-52" r="-52"/>
              </a:stretch>
            </a:blipFill>
          </p:spPr>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9F4BE"/>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DE6"/>
            </a:solidFill>
          </p:spPr>
        </p:sp>
      </p:grpSp>
      <p:sp>
        <p:nvSpPr>
          <p:cNvPr id="6" name="TextBox 6"/>
          <p:cNvSpPr txBox="1"/>
          <p:nvPr/>
        </p:nvSpPr>
        <p:spPr>
          <a:xfrm>
            <a:off x="992238" y="2197741"/>
            <a:ext cx="16125082" cy="813197"/>
          </a:xfrm>
          <a:prstGeom prst="rect">
            <a:avLst/>
          </a:prstGeom>
        </p:spPr>
        <p:txBody>
          <a:bodyPr lIns="0" tIns="0" rIns="0" bIns="0" rtlCol="0" anchor="t">
            <a:spAutoFit/>
          </a:bodyPr>
          <a:lstStyle/>
          <a:p>
            <a:pPr algn="l">
              <a:lnSpc>
                <a:spcPts val="6062"/>
              </a:lnSpc>
            </a:pPr>
            <a:r>
              <a:rPr lang="en-US" sz="4875" b="1">
                <a:solidFill>
                  <a:srgbClr val="233939"/>
                </a:solidFill>
                <a:latin typeface="Arimo Bold"/>
                <a:ea typeface="Arimo Bold"/>
                <a:cs typeface="Arimo Bold"/>
                <a:sym typeface="Arimo Bold"/>
              </a:rPr>
              <a:t>R² Score: Quantifying Model Explanatory Power</a:t>
            </a:r>
          </a:p>
        </p:txBody>
      </p:sp>
      <p:sp>
        <p:nvSpPr>
          <p:cNvPr id="7" name="TextBox 7"/>
          <p:cNvSpPr txBox="1"/>
          <p:nvPr/>
        </p:nvSpPr>
        <p:spPr>
          <a:xfrm>
            <a:off x="992238" y="3430791"/>
            <a:ext cx="16303523" cy="870052"/>
          </a:xfrm>
          <a:prstGeom prst="rect">
            <a:avLst/>
          </a:prstGeom>
        </p:spPr>
        <p:txBody>
          <a:bodyPr lIns="0" tIns="0" rIns="0" bIns="0" rtlCol="0" anchor="t">
            <a:spAutoFit/>
          </a:bodyPr>
          <a:lstStyle/>
          <a:p>
            <a:pPr algn="l">
              <a:lnSpc>
                <a:spcPts val="3125"/>
              </a:lnSpc>
            </a:pPr>
            <a:r>
              <a:rPr lang="en-US" sz="1937">
                <a:solidFill>
                  <a:srgbClr val="3B4E4E"/>
                </a:solidFill>
                <a:latin typeface="Overpass Light"/>
                <a:ea typeface="Overpass Light"/>
                <a:cs typeface="Overpass Light"/>
                <a:sym typeface="Overpass Light"/>
              </a:rPr>
              <a:t>The R² (R-squared) score is a key metric in regression analysis, providing a statistical measure of how well the regression predictions approximate the real data points. It essentially represents the proportion of variance in the dependent variable that can be predicted from the independent variables.</a:t>
            </a:r>
          </a:p>
        </p:txBody>
      </p:sp>
      <p:grpSp>
        <p:nvGrpSpPr>
          <p:cNvPr id="8" name="Group 8"/>
          <p:cNvGrpSpPr/>
          <p:nvPr/>
        </p:nvGrpSpPr>
        <p:grpSpPr>
          <a:xfrm>
            <a:off x="977951" y="4565599"/>
            <a:ext cx="8056359" cy="3499695"/>
            <a:chOff x="0" y="0"/>
            <a:chExt cx="10741812" cy="4666259"/>
          </a:xfrm>
        </p:grpSpPr>
        <p:sp>
          <p:nvSpPr>
            <p:cNvPr id="9" name="Freeform 9"/>
            <p:cNvSpPr/>
            <p:nvPr/>
          </p:nvSpPr>
          <p:spPr>
            <a:xfrm>
              <a:off x="19050" y="19050"/>
              <a:ext cx="10703813" cy="4628134"/>
            </a:xfrm>
            <a:custGeom>
              <a:avLst/>
              <a:gdLst/>
              <a:ahLst/>
              <a:cxnLst/>
              <a:rect l="l" t="t" r="r" b="b"/>
              <a:pathLst>
                <a:path w="10703813" h="4628134">
                  <a:moveTo>
                    <a:pt x="0" y="182880"/>
                  </a:moveTo>
                  <a:cubicBezTo>
                    <a:pt x="0" y="81915"/>
                    <a:pt x="82296" y="0"/>
                    <a:pt x="183769" y="0"/>
                  </a:cubicBezTo>
                  <a:lnTo>
                    <a:pt x="10520045" y="0"/>
                  </a:lnTo>
                  <a:cubicBezTo>
                    <a:pt x="10621518" y="0"/>
                    <a:pt x="10703813" y="81915"/>
                    <a:pt x="10703813" y="182880"/>
                  </a:cubicBezTo>
                  <a:lnTo>
                    <a:pt x="10703813" y="4445254"/>
                  </a:lnTo>
                  <a:cubicBezTo>
                    <a:pt x="10703813" y="4546219"/>
                    <a:pt x="10621518" y="4628134"/>
                    <a:pt x="10520045" y="4628134"/>
                  </a:cubicBezTo>
                  <a:lnTo>
                    <a:pt x="183769" y="4628134"/>
                  </a:lnTo>
                  <a:cubicBezTo>
                    <a:pt x="82296" y="4628134"/>
                    <a:pt x="0" y="4546219"/>
                    <a:pt x="0" y="4445254"/>
                  </a:cubicBezTo>
                  <a:close/>
                </a:path>
              </a:pathLst>
            </a:custGeom>
            <a:solidFill>
              <a:srgbClr val="FFFDE6"/>
            </a:solidFill>
          </p:spPr>
        </p:sp>
        <p:sp>
          <p:nvSpPr>
            <p:cNvPr id="10" name="Freeform 10"/>
            <p:cNvSpPr/>
            <p:nvPr/>
          </p:nvSpPr>
          <p:spPr>
            <a:xfrm>
              <a:off x="0" y="0"/>
              <a:ext cx="10741913" cy="4666234"/>
            </a:xfrm>
            <a:custGeom>
              <a:avLst/>
              <a:gdLst/>
              <a:ahLst/>
              <a:cxnLst/>
              <a:rect l="l" t="t" r="r" b="b"/>
              <a:pathLst>
                <a:path w="10741913" h="4666234">
                  <a:moveTo>
                    <a:pt x="0" y="201930"/>
                  </a:moveTo>
                  <a:cubicBezTo>
                    <a:pt x="0" y="90297"/>
                    <a:pt x="90805" y="0"/>
                    <a:pt x="202819" y="0"/>
                  </a:cubicBezTo>
                  <a:lnTo>
                    <a:pt x="10539095" y="0"/>
                  </a:lnTo>
                  <a:lnTo>
                    <a:pt x="10539095" y="19050"/>
                  </a:lnTo>
                  <a:lnTo>
                    <a:pt x="10539095" y="0"/>
                  </a:lnTo>
                  <a:cubicBezTo>
                    <a:pt x="10650982" y="0"/>
                    <a:pt x="10741913" y="90297"/>
                    <a:pt x="10741913" y="201930"/>
                  </a:cubicBezTo>
                  <a:lnTo>
                    <a:pt x="10722863" y="201930"/>
                  </a:lnTo>
                  <a:lnTo>
                    <a:pt x="10741913" y="201930"/>
                  </a:lnTo>
                  <a:lnTo>
                    <a:pt x="10741913" y="4464304"/>
                  </a:lnTo>
                  <a:lnTo>
                    <a:pt x="10722863" y="4464304"/>
                  </a:lnTo>
                  <a:lnTo>
                    <a:pt x="10741913" y="4464304"/>
                  </a:lnTo>
                  <a:cubicBezTo>
                    <a:pt x="10741913" y="4575937"/>
                    <a:pt x="10651109" y="4666234"/>
                    <a:pt x="10539095" y="4666234"/>
                  </a:cubicBezTo>
                  <a:lnTo>
                    <a:pt x="10539095" y="4647184"/>
                  </a:lnTo>
                  <a:lnTo>
                    <a:pt x="10539095" y="4666234"/>
                  </a:lnTo>
                  <a:lnTo>
                    <a:pt x="202819" y="4666234"/>
                  </a:lnTo>
                  <a:lnTo>
                    <a:pt x="202819" y="4647184"/>
                  </a:lnTo>
                  <a:lnTo>
                    <a:pt x="202819" y="4666234"/>
                  </a:lnTo>
                  <a:cubicBezTo>
                    <a:pt x="90805" y="4666234"/>
                    <a:pt x="0" y="4575937"/>
                    <a:pt x="0" y="4464304"/>
                  </a:cubicBezTo>
                  <a:lnTo>
                    <a:pt x="0" y="201930"/>
                  </a:lnTo>
                  <a:lnTo>
                    <a:pt x="19050" y="201930"/>
                  </a:lnTo>
                  <a:lnTo>
                    <a:pt x="0" y="201930"/>
                  </a:lnTo>
                  <a:moveTo>
                    <a:pt x="38100" y="201930"/>
                  </a:moveTo>
                  <a:lnTo>
                    <a:pt x="38100" y="4464304"/>
                  </a:lnTo>
                  <a:lnTo>
                    <a:pt x="19050" y="4464304"/>
                  </a:lnTo>
                  <a:lnTo>
                    <a:pt x="38100" y="4464304"/>
                  </a:lnTo>
                  <a:cubicBezTo>
                    <a:pt x="38100" y="4554728"/>
                    <a:pt x="111760" y="4628134"/>
                    <a:pt x="202819" y="4628134"/>
                  </a:cubicBezTo>
                  <a:lnTo>
                    <a:pt x="10539095" y="4628134"/>
                  </a:lnTo>
                  <a:cubicBezTo>
                    <a:pt x="10630153" y="4628134"/>
                    <a:pt x="10703813" y="4554728"/>
                    <a:pt x="10703813" y="4464304"/>
                  </a:cubicBezTo>
                  <a:lnTo>
                    <a:pt x="10703813" y="201930"/>
                  </a:lnTo>
                  <a:cubicBezTo>
                    <a:pt x="10703813" y="111506"/>
                    <a:pt x="10630153" y="38100"/>
                    <a:pt x="10539095" y="38100"/>
                  </a:cubicBezTo>
                  <a:lnTo>
                    <a:pt x="202819" y="38100"/>
                  </a:lnTo>
                  <a:lnTo>
                    <a:pt x="202819" y="19050"/>
                  </a:lnTo>
                  <a:lnTo>
                    <a:pt x="202819" y="38100"/>
                  </a:lnTo>
                  <a:cubicBezTo>
                    <a:pt x="111760" y="38100"/>
                    <a:pt x="38100" y="111506"/>
                    <a:pt x="38100" y="201930"/>
                  </a:cubicBezTo>
                  <a:close/>
                </a:path>
              </a:pathLst>
            </a:custGeom>
            <a:solidFill>
              <a:srgbClr val="C3D4CC"/>
            </a:solidFill>
          </p:spPr>
        </p:sp>
      </p:grpSp>
      <p:grpSp>
        <p:nvGrpSpPr>
          <p:cNvPr id="11" name="Group 11"/>
          <p:cNvGrpSpPr/>
          <p:nvPr/>
        </p:nvGrpSpPr>
        <p:grpSpPr>
          <a:xfrm>
            <a:off x="963663" y="4579887"/>
            <a:ext cx="114300" cy="3471120"/>
            <a:chOff x="0" y="0"/>
            <a:chExt cx="152400" cy="4628159"/>
          </a:xfrm>
        </p:grpSpPr>
        <p:sp>
          <p:nvSpPr>
            <p:cNvPr id="12" name="Freeform 12"/>
            <p:cNvSpPr/>
            <p:nvPr/>
          </p:nvSpPr>
          <p:spPr>
            <a:xfrm>
              <a:off x="0" y="0"/>
              <a:ext cx="152400" cy="4628134"/>
            </a:xfrm>
            <a:custGeom>
              <a:avLst/>
              <a:gdLst/>
              <a:ahLst/>
              <a:cxnLst/>
              <a:rect l="l" t="t" r="r" b="b"/>
              <a:pathLst>
                <a:path w="152400" h="4628134">
                  <a:moveTo>
                    <a:pt x="0" y="76200"/>
                  </a:moveTo>
                  <a:cubicBezTo>
                    <a:pt x="0" y="34163"/>
                    <a:pt x="34163" y="0"/>
                    <a:pt x="76200" y="0"/>
                  </a:cubicBezTo>
                  <a:cubicBezTo>
                    <a:pt x="118237" y="0"/>
                    <a:pt x="152400" y="34163"/>
                    <a:pt x="152400" y="76200"/>
                  </a:cubicBezTo>
                  <a:lnTo>
                    <a:pt x="152400" y="4551934"/>
                  </a:lnTo>
                  <a:cubicBezTo>
                    <a:pt x="152400" y="4593971"/>
                    <a:pt x="118237" y="4628134"/>
                    <a:pt x="76200" y="4628134"/>
                  </a:cubicBezTo>
                  <a:cubicBezTo>
                    <a:pt x="34163" y="4628134"/>
                    <a:pt x="0" y="4593971"/>
                    <a:pt x="0" y="4551934"/>
                  </a:cubicBezTo>
                  <a:close/>
                </a:path>
              </a:pathLst>
            </a:custGeom>
            <a:solidFill>
              <a:srgbClr val="224435"/>
            </a:solidFill>
          </p:spPr>
        </p:sp>
      </p:grpSp>
      <p:sp>
        <p:nvSpPr>
          <p:cNvPr id="13" name="TextBox 13"/>
          <p:cNvSpPr txBox="1"/>
          <p:nvPr/>
        </p:nvSpPr>
        <p:spPr>
          <a:xfrm>
            <a:off x="1354484" y="4846882"/>
            <a:ext cx="4635256" cy="397221"/>
          </a:xfrm>
          <a:prstGeom prst="rect">
            <a:avLst/>
          </a:prstGeom>
        </p:spPr>
        <p:txBody>
          <a:bodyPr lIns="0" tIns="0" rIns="0" bIns="0" rtlCol="0" anchor="t">
            <a:spAutoFit/>
          </a:bodyPr>
          <a:lstStyle/>
          <a:p>
            <a:pPr algn="l">
              <a:lnSpc>
                <a:spcPts val="2999"/>
              </a:lnSpc>
            </a:pPr>
            <a:r>
              <a:rPr lang="en-US" sz="2437" b="1">
                <a:solidFill>
                  <a:srgbClr val="3B4E4E"/>
                </a:solidFill>
                <a:latin typeface="Arimo Bold"/>
                <a:ea typeface="Arimo Bold"/>
                <a:cs typeface="Arimo Bold"/>
                <a:sym typeface="Arimo Bold"/>
              </a:rPr>
              <a:t>Understanding the R² Value</a:t>
            </a:r>
          </a:p>
        </p:txBody>
      </p:sp>
      <p:sp>
        <p:nvSpPr>
          <p:cNvPr id="14" name="TextBox 14"/>
          <p:cNvSpPr txBox="1"/>
          <p:nvPr/>
        </p:nvSpPr>
        <p:spPr>
          <a:xfrm>
            <a:off x="1354484" y="5316741"/>
            <a:ext cx="7389019" cy="2060819"/>
          </a:xfrm>
          <a:prstGeom prst="rect">
            <a:avLst/>
          </a:prstGeom>
        </p:spPr>
        <p:txBody>
          <a:bodyPr lIns="0" tIns="0" rIns="0" bIns="0" rtlCol="0" anchor="t">
            <a:spAutoFit/>
          </a:bodyPr>
          <a:lstStyle/>
          <a:p>
            <a:pPr algn="l">
              <a:lnSpc>
                <a:spcPts val="3125"/>
              </a:lnSpc>
            </a:pPr>
            <a:r>
              <a:rPr lang="en-US" sz="1937">
                <a:solidFill>
                  <a:srgbClr val="3B4E4E"/>
                </a:solidFill>
                <a:latin typeface="Overpass Light"/>
                <a:ea typeface="Overpass Light"/>
                <a:cs typeface="Overpass Light"/>
                <a:sym typeface="Overpass Light"/>
              </a:rPr>
              <a:t>The R² score indicates how much of the variation in our target variable (used car price) is explained by our model's features. For example, an R² of </a:t>
            </a:r>
            <a:r>
              <a:rPr lang="en-US" sz="1937" b="1">
                <a:solidFill>
                  <a:srgbClr val="3B4E4E"/>
                </a:solidFill>
                <a:latin typeface="Overpass Bold"/>
                <a:ea typeface="Overpass Bold"/>
                <a:cs typeface="Overpass Bold"/>
                <a:sym typeface="Overpass Bold"/>
              </a:rPr>
              <a:t>0.89</a:t>
            </a:r>
            <a:r>
              <a:rPr lang="en-US" sz="1937">
                <a:solidFill>
                  <a:srgbClr val="3B4E4E"/>
                </a:solidFill>
                <a:latin typeface="Overpass Light"/>
                <a:ea typeface="Overpass Light"/>
                <a:cs typeface="Overpass Light"/>
                <a:sym typeface="Overpass Light"/>
              </a:rPr>
              <a:t> signifies that our model can account for </a:t>
            </a:r>
            <a:r>
              <a:rPr lang="en-US" sz="1937" b="1">
                <a:solidFill>
                  <a:srgbClr val="3B4E4E"/>
                </a:solidFill>
                <a:latin typeface="Overpass Bold"/>
                <a:ea typeface="Overpass Bold"/>
                <a:cs typeface="Overpass Bold"/>
                <a:sym typeface="Overpass Bold"/>
              </a:rPr>
              <a:t>89%</a:t>
            </a:r>
            <a:r>
              <a:rPr lang="en-US" sz="1937">
                <a:solidFill>
                  <a:srgbClr val="3B4E4E"/>
                </a:solidFill>
                <a:latin typeface="Overpass Light"/>
                <a:ea typeface="Overpass Light"/>
                <a:cs typeface="Overpass Light"/>
                <a:sym typeface="Overpass Light"/>
              </a:rPr>
              <a:t> of the fluctuations in car prices based on the input features. The remaining variance is unexplained.</a:t>
            </a:r>
          </a:p>
        </p:txBody>
      </p:sp>
      <p:grpSp>
        <p:nvGrpSpPr>
          <p:cNvPr id="15" name="Group 15"/>
          <p:cNvGrpSpPr/>
          <p:nvPr/>
        </p:nvGrpSpPr>
        <p:grpSpPr>
          <a:xfrm>
            <a:off x="9253690" y="4565599"/>
            <a:ext cx="8056359" cy="3499695"/>
            <a:chOff x="0" y="0"/>
            <a:chExt cx="10741812" cy="4666259"/>
          </a:xfrm>
        </p:grpSpPr>
        <p:sp>
          <p:nvSpPr>
            <p:cNvPr id="16" name="Freeform 16"/>
            <p:cNvSpPr/>
            <p:nvPr/>
          </p:nvSpPr>
          <p:spPr>
            <a:xfrm>
              <a:off x="19050" y="19050"/>
              <a:ext cx="10703813" cy="4628134"/>
            </a:xfrm>
            <a:custGeom>
              <a:avLst/>
              <a:gdLst/>
              <a:ahLst/>
              <a:cxnLst/>
              <a:rect l="l" t="t" r="r" b="b"/>
              <a:pathLst>
                <a:path w="10703813" h="4628134">
                  <a:moveTo>
                    <a:pt x="0" y="182880"/>
                  </a:moveTo>
                  <a:cubicBezTo>
                    <a:pt x="0" y="81915"/>
                    <a:pt x="82296" y="0"/>
                    <a:pt x="183769" y="0"/>
                  </a:cubicBezTo>
                  <a:lnTo>
                    <a:pt x="10520045" y="0"/>
                  </a:lnTo>
                  <a:cubicBezTo>
                    <a:pt x="10621518" y="0"/>
                    <a:pt x="10703813" y="81915"/>
                    <a:pt x="10703813" y="182880"/>
                  </a:cubicBezTo>
                  <a:lnTo>
                    <a:pt x="10703813" y="4445254"/>
                  </a:lnTo>
                  <a:cubicBezTo>
                    <a:pt x="10703813" y="4546219"/>
                    <a:pt x="10621518" y="4628134"/>
                    <a:pt x="10520045" y="4628134"/>
                  </a:cubicBezTo>
                  <a:lnTo>
                    <a:pt x="183769" y="4628134"/>
                  </a:lnTo>
                  <a:cubicBezTo>
                    <a:pt x="82296" y="4628134"/>
                    <a:pt x="0" y="4546219"/>
                    <a:pt x="0" y="4445254"/>
                  </a:cubicBezTo>
                  <a:close/>
                </a:path>
              </a:pathLst>
            </a:custGeom>
            <a:solidFill>
              <a:srgbClr val="FFFDE6"/>
            </a:solidFill>
          </p:spPr>
        </p:sp>
        <p:sp>
          <p:nvSpPr>
            <p:cNvPr id="17" name="Freeform 17"/>
            <p:cNvSpPr/>
            <p:nvPr/>
          </p:nvSpPr>
          <p:spPr>
            <a:xfrm>
              <a:off x="0" y="0"/>
              <a:ext cx="10741913" cy="4666234"/>
            </a:xfrm>
            <a:custGeom>
              <a:avLst/>
              <a:gdLst/>
              <a:ahLst/>
              <a:cxnLst/>
              <a:rect l="l" t="t" r="r" b="b"/>
              <a:pathLst>
                <a:path w="10741913" h="4666234">
                  <a:moveTo>
                    <a:pt x="0" y="201930"/>
                  </a:moveTo>
                  <a:cubicBezTo>
                    <a:pt x="0" y="90297"/>
                    <a:pt x="90805" y="0"/>
                    <a:pt x="202819" y="0"/>
                  </a:cubicBezTo>
                  <a:lnTo>
                    <a:pt x="10539095" y="0"/>
                  </a:lnTo>
                  <a:lnTo>
                    <a:pt x="10539095" y="19050"/>
                  </a:lnTo>
                  <a:lnTo>
                    <a:pt x="10539095" y="0"/>
                  </a:lnTo>
                  <a:cubicBezTo>
                    <a:pt x="10650982" y="0"/>
                    <a:pt x="10741913" y="90297"/>
                    <a:pt x="10741913" y="201930"/>
                  </a:cubicBezTo>
                  <a:lnTo>
                    <a:pt x="10722863" y="201930"/>
                  </a:lnTo>
                  <a:lnTo>
                    <a:pt x="10741913" y="201930"/>
                  </a:lnTo>
                  <a:lnTo>
                    <a:pt x="10741913" y="4464304"/>
                  </a:lnTo>
                  <a:lnTo>
                    <a:pt x="10722863" y="4464304"/>
                  </a:lnTo>
                  <a:lnTo>
                    <a:pt x="10741913" y="4464304"/>
                  </a:lnTo>
                  <a:cubicBezTo>
                    <a:pt x="10741913" y="4575937"/>
                    <a:pt x="10651109" y="4666234"/>
                    <a:pt x="10539095" y="4666234"/>
                  </a:cubicBezTo>
                  <a:lnTo>
                    <a:pt x="10539095" y="4647184"/>
                  </a:lnTo>
                  <a:lnTo>
                    <a:pt x="10539095" y="4666234"/>
                  </a:lnTo>
                  <a:lnTo>
                    <a:pt x="202819" y="4666234"/>
                  </a:lnTo>
                  <a:lnTo>
                    <a:pt x="202819" y="4647184"/>
                  </a:lnTo>
                  <a:lnTo>
                    <a:pt x="202819" y="4666234"/>
                  </a:lnTo>
                  <a:cubicBezTo>
                    <a:pt x="90805" y="4666234"/>
                    <a:pt x="0" y="4575937"/>
                    <a:pt x="0" y="4464304"/>
                  </a:cubicBezTo>
                  <a:lnTo>
                    <a:pt x="0" y="201930"/>
                  </a:lnTo>
                  <a:lnTo>
                    <a:pt x="19050" y="201930"/>
                  </a:lnTo>
                  <a:lnTo>
                    <a:pt x="0" y="201930"/>
                  </a:lnTo>
                  <a:moveTo>
                    <a:pt x="38100" y="201930"/>
                  </a:moveTo>
                  <a:lnTo>
                    <a:pt x="38100" y="4464304"/>
                  </a:lnTo>
                  <a:lnTo>
                    <a:pt x="19050" y="4464304"/>
                  </a:lnTo>
                  <a:lnTo>
                    <a:pt x="38100" y="4464304"/>
                  </a:lnTo>
                  <a:cubicBezTo>
                    <a:pt x="38100" y="4554728"/>
                    <a:pt x="111760" y="4628134"/>
                    <a:pt x="202819" y="4628134"/>
                  </a:cubicBezTo>
                  <a:lnTo>
                    <a:pt x="10539095" y="4628134"/>
                  </a:lnTo>
                  <a:cubicBezTo>
                    <a:pt x="10630153" y="4628134"/>
                    <a:pt x="10703813" y="4554728"/>
                    <a:pt x="10703813" y="4464304"/>
                  </a:cubicBezTo>
                  <a:lnTo>
                    <a:pt x="10703813" y="201930"/>
                  </a:lnTo>
                  <a:cubicBezTo>
                    <a:pt x="10703813" y="111506"/>
                    <a:pt x="10630153" y="38100"/>
                    <a:pt x="10539095" y="38100"/>
                  </a:cubicBezTo>
                  <a:lnTo>
                    <a:pt x="202819" y="38100"/>
                  </a:lnTo>
                  <a:lnTo>
                    <a:pt x="202819" y="19050"/>
                  </a:lnTo>
                  <a:lnTo>
                    <a:pt x="202819" y="38100"/>
                  </a:lnTo>
                  <a:cubicBezTo>
                    <a:pt x="111760" y="38100"/>
                    <a:pt x="38100" y="111506"/>
                    <a:pt x="38100" y="201930"/>
                  </a:cubicBezTo>
                  <a:close/>
                </a:path>
              </a:pathLst>
            </a:custGeom>
            <a:solidFill>
              <a:srgbClr val="C3D4CC"/>
            </a:solidFill>
          </p:spPr>
        </p:sp>
      </p:grpSp>
      <p:grpSp>
        <p:nvGrpSpPr>
          <p:cNvPr id="18" name="Group 18"/>
          <p:cNvGrpSpPr/>
          <p:nvPr/>
        </p:nvGrpSpPr>
        <p:grpSpPr>
          <a:xfrm>
            <a:off x="9239402" y="4579887"/>
            <a:ext cx="114300" cy="3471120"/>
            <a:chOff x="0" y="0"/>
            <a:chExt cx="152400" cy="4628159"/>
          </a:xfrm>
        </p:grpSpPr>
        <p:sp>
          <p:nvSpPr>
            <p:cNvPr id="19" name="Freeform 19"/>
            <p:cNvSpPr/>
            <p:nvPr/>
          </p:nvSpPr>
          <p:spPr>
            <a:xfrm>
              <a:off x="0" y="0"/>
              <a:ext cx="152400" cy="4628134"/>
            </a:xfrm>
            <a:custGeom>
              <a:avLst/>
              <a:gdLst/>
              <a:ahLst/>
              <a:cxnLst/>
              <a:rect l="l" t="t" r="r" b="b"/>
              <a:pathLst>
                <a:path w="152400" h="4628134">
                  <a:moveTo>
                    <a:pt x="0" y="76200"/>
                  </a:moveTo>
                  <a:cubicBezTo>
                    <a:pt x="0" y="34163"/>
                    <a:pt x="34163" y="0"/>
                    <a:pt x="76200" y="0"/>
                  </a:cubicBezTo>
                  <a:cubicBezTo>
                    <a:pt x="118237" y="0"/>
                    <a:pt x="152400" y="34163"/>
                    <a:pt x="152400" y="76200"/>
                  </a:cubicBezTo>
                  <a:lnTo>
                    <a:pt x="152400" y="4551934"/>
                  </a:lnTo>
                  <a:cubicBezTo>
                    <a:pt x="152400" y="4593971"/>
                    <a:pt x="118237" y="4628134"/>
                    <a:pt x="76200" y="4628134"/>
                  </a:cubicBezTo>
                  <a:cubicBezTo>
                    <a:pt x="34163" y="4628134"/>
                    <a:pt x="0" y="4593971"/>
                    <a:pt x="0" y="4551934"/>
                  </a:cubicBezTo>
                  <a:close/>
                </a:path>
              </a:pathLst>
            </a:custGeom>
            <a:solidFill>
              <a:srgbClr val="224435"/>
            </a:solidFill>
          </p:spPr>
        </p:sp>
      </p:grpSp>
      <p:sp>
        <p:nvSpPr>
          <p:cNvPr id="20" name="TextBox 20"/>
          <p:cNvSpPr txBox="1"/>
          <p:nvPr/>
        </p:nvSpPr>
        <p:spPr>
          <a:xfrm>
            <a:off x="9630223" y="4846882"/>
            <a:ext cx="5657107" cy="397221"/>
          </a:xfrm>
          <a:prstGeom prst="rect">
            <a:avLst/>
          </a:prstGeom>
        </p:spPr>
        <p:txBody>
          <a:bodyPr lIns="0" tIns="0" rIns="0" bIns="0" rtlCol="0" anchor="t">
            <a:spAutoFit/>
          </a:bodyPr>
          <a:lstStyle/>
          <a:p>
            <a:pPr algn="l">
              <a:lnSpc>
                <a:spcPts val="2999"/>
              </a:lnSpc>
            </a:pPr>
            <a:r>
              <a:rPr lang="en-US" sz="2437" b="1">
                <a:solidFill>
                  <a:srgbClr val="3B4E4E"/>
                </a:solidFill>
                <a:latin typeface="Arimo Bold"/>
                <a:ea typeface="Arimo Bold"/>
                <a:cs typeface="Arimo Bold"/>
                <a:sym typeface="Arimo Bold"/>
              </a:rPr>
              <a:t>Communicating Model Accuracy</a:t>
            </a:r>
          </a:p>
        </p:txBody>
      </p:sp>
      <p:sp>
        <p:nvSpPr>
          <p:cNvPr id="21" name="TextBox 21"/>
          <p:cNvSpPr txBox="1"/>
          <p:nvPr/>
        </p:nvSpPr>
        <p:spPr>
          <a:xfrm>
            <a:off x="9630223" y="5316741"/>
            <a:ext cx="7389019" cy="2457745"/>
          </a:xfrm>
          <a:prstGeom prst="rect">
            <a:avLst/>
          </a:prstGeom>
        </p:spPr>
        <p:txBody>
          <a:bodyPr lIns="0" tIns="0" rIns="0" bIns="0" rtlCol="0" anchor="t">
            <a:spAutoFit/>
          </a:bodyPr>
          <a:lstStyle/>
          <a:p>
            <a:pPr algn="l">
              <a:lnSpc>
                <a:spcPts val="3125"/>
              </a:lnSpc>
            </a:pPr>
            <a:r>
              <a:rPr lang="en-US" sz="1937">
                <a:solidFill>
                  <a:srgbClr val="3B4E4E"/>
                </a:solidFill>
                <a:latin typeface="Overpass Light"/>
                <a:ea typeface="Overpass Light"/>
                <a:cs typeface="Overpass Light"/>
                <a:sym typeface="Overpass Light"/>
              </a:rPr>
              <a:t>This metric is critical for communicating model performance to stakeholders. A higher R² (closer to 1.0) implies a better fit and more reliable predictions. We translate this score into a clear percentage to convey the model's predictive strength, such as "Our model predicts car prices with 89% accuracy based on the available features."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9F4BE"/>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DE6"/>
            </a:solidFill>
          </p:spPr>
        </p:sp>
      </p:grpSp>
      <p:sp>
        <p:nvSpPr>
          <p:cNvPr id="6" name="TextBox 6"/>
          <p:cNvSpPr txBox="1"/>
          <p:nvPr/>
        </p:nvSpPr>
        <p:spPr>
          <a:xfrm>
            <a:off x="976760" y="718985"/>
            <a:ext cx="10464403" cy="610495"/>
          </a:xfrm>
          <a:prstGeom prst="rect">
            <a:avLst/>
          </a:prstGeom>
        </p:spPr>
        <p:txBody>
          <a:bodyPr lIns="0" tIns="0" rIns="0" bIns="0" rtlCol="0" anchor="t">
            <a:spAutoFit/>
          </a:bodyPr>
          <a:lstStyle/>
          <a:p>
            <a:pPr algn="l">
              <a:lnSpc>
                <a:spcPts val="4499"/>
              </a:lnSpc>
            </a:pPr>
            <a:r>
              <a:rPr lang="en-US" sz="3562" b="1">
                <a:solidFill>
                  <a:srgbClr val="233939"/>
                </a:solidFill>
                <a:latin typeface="Arimo Bold"/>
                <a:ea typeface="Arimo Bold"/>
                <a:cs typeface="Arimo Bold"/>
                <a:sym typeface="Arimo Bold"/>
              </a:rPr>
              <a:t>From Raw Data to Actionable Intelligence</a:t>
            </a:r>
          </a:p>
        </p:txBody>
      </p:sp>
      <p:sp>
        <p:nvSpPr>
          <p:cNvPr id="7" name="TextBox 7"/>
          <p:cNvSpPr txBox="1"/>
          <p:nvPr/>
        </p:nvSpPr>
        <p:spPr>
          <a:xfrm>
            <a:off x="976760" y="1580855"/>
            <a:ext cx="16334480" cy="782984"/>
          </a:xfrm>
          <a:prstGeom prst="rect">
            <a:avLst/>
          </a:prstGeom>
        </p:spPr>
        <p:txBody>
          <a:bodyPr lIns="0" tIns="0" rIns="0" bIns="0" rtlCol="0" anchor="t">
            <a:spAutoFit/>
          </a:bodyPr>
          <a:lstStyle/>
          <a:p>
            <a:pPr algn="l">
              <a:lnSpc>
                <a:spcPts val="1999"/>
              </a:lnSpc>
            </a:pPr>
            <a:r>
              <a:rPr lang="en-US" sz="1437">
                <a:solidFill>
                  <a:srgbClr val="3B4E4E"/>
                </a:solidFill>
                <a:latin typeface="Overpass Light"/>
                <a:ea typeface="Overpass Light"/>
                <a:cs typeface="Overpass Light"/>
                <a:sym typeface="Overpass Light"/>
              </a:rPr>
              <a:t>What began as a simple pricing question became a complete machine learning journey: we defined the problem, prepared and explored the data, transformed features into model-ready signals, built a regression model, and evaluated its performance with meaningful metrics. Along the way, we turned scattered used-car records into a repeatable pipeline that produces not just predictions, but insight—showing how data can move from information to intelligence, and from analysis to better decisions.</a:t>
            </a:r>
          </a:p>
        </p:txBody>
      </p:sp>
      <p:grpSp>
        <p:nvGrpSpPr>
          <p:cNvPr id="8" name="Group 8"/>
          <p:cNvGrpSpPr/>
          <p:nvPr/>
        </p:nvGrpSpPr>
        <p:grpSpPr>
          <a:xfrm>
            <a:off x="967235" y="2658513"/>
            <a:ext cx="7962900" cy="1353741"/>
            <a:chOff x="0" y="0"/>
            <a:chExt cx="10617200" cy="1804988"/>
          </a:xfrm>
        </p:grpSpPr>
        <p:sp>
          <p:nvSpPr>
            <p:cNvPr id="9" name="Freeform 9"/>
            <p:cNvSpPr/>
            <p:nvPr/>
          </p:nvSpPr>
          <p:spPr>
            <a:xfrm>
              <a:off x="12700" y="12700"/>
              <a:ext cx="10591800" cy="1779651"/>
            </a:xfrm>
            <a:custGeom>
              <a:avLst/>
              <a:gdLst/>
              <a:ahLst/>
              <a:cxnLst/>
              <a:rect l="l" t="t" r="r" b="b"/>
              <a:pathLst>
                <a:path w="10591800" h="1779651">
                  <a:moveTo>
                    <a:pt x="0" y="121920"/>
                  </a:moveTo>
                  <a:cubicBezTo>
                    <a:pt x="0" y="54610"/>
                    <a:pt x="55245" y="0"/>
                    <a:pt x="123317" y="0"/>
                  </a:cubicBezTo>
                  <a:lnTo>
                    <a:pt x="10468483" y="0"/>
                  </a:lnTo>
                  <a:cubicBezTo>
                    <a:pt x="10536555" y="0"/>
                    <a:pt x="10591800" y="54610"/>
                    <a:pt x="10591800" y="121920"/>
                  </a:cubicBezTo>
                  <a:lnTo>
                    <a:pt x="10591800" y="1657731"/>
                  </a:lnTo>
                  <a:cubicBezTo>
                    <a:pt x="10591800" y="1725041"/>
                    <a:pt x="10536555" y="1779651"/>
                    <a:pt x="10468483" y="1779651"/>
                  </a:cubicBezTo>
                  <a:lnTo>
                    <a:pt x="123317" y="1779651"/>
                  </a:lnTo>
                  <a:cubicBezTo>
                    <a:pt x="55245" y="1779651"/>
                    <a:pt x="0" y="1725041"/>
                    <a:pt x="0" y="1657731"/>
                  </a:cubicBezTo>
                  <a:close/>
                </a:path>
              </a:pathLst>
            </a:custGeom>
            <a:solidFill>
              <a:srgbClr val="FFFDE6"/>
            </a:solidFill>
          </p:spPr>
        </p:sp>
        <p:sp>
          <p:nvSpPr>
            <p:cNvPr id="10" name="Freeform 10"/>
            <p:cNvSpPr/>
            <p:nvPr/>
          </p:nvSpPr>
          <p:spPr>
            <a:xfrm>
              <a:off x="0" y="0"/>
              <a:ext cx="10617200" cy="1805051"/>
            </a:xfrm>
            <a:custGeom>
              <a:avLst/>
              <a:gdLst/>
              <a:ahLst/>
              <a:cxnLst/>
              <a:rect l="l" t="t" r="r" b="b"/>
              <a:pathLst>
                <a:path w="10617200" h="1805051">
                  <a:moveTo>
                    <a:pt x="0" y="134620"/>
                  </a:moveTo>
                  <a:cubicBezTo>
                    <a:pt x="0" y="60071"/>
                    <a:pt x="61087" y="0"/>
                    <a:pt x="136017" y="0"/>
                  </a:cubicBezTo>
                  <a:lnTo>
                    <a:pt x="10481183" y="0"/>
                  </a:lnTo>
                  <a:lnTo>
                    <a:pt x="10481183" y="12700"/>
                  </a:lnTo>
                  <a:lnTo>
                    <a:pt x="10481183" y="0"/>
                  </a:lnTo>
                  <a:cubicBezTo>
                    <a:pt x="10556113" y="0"/>
                    <a:pt x="10617200" y="60071"/>
                    <a:pt x="10617200" y="134620"/>
                  </a:cubicBezTo>
                  <a:lnTo>
                    <a:pt x="10604500" y="134620"/>
                  </a:lnTo>
                  <a:lnTo>
                    <a:pt x="10617200" y="134620"/>
                  </a:lnTo>
                  <a:lnTo>
                    <a:pt x="10617200" y="1670431"/>
                  </a:lnTo>
                  <a:lnTo>
                    <a:pt x="10604500" y="1670431"/>
                  </a:lnTo>
                  <a:lnTo>
                    <a:pt x="10617200" y="1670431"/>
                  </a:lnTo>
                  <a:cubicBezTo>
                    <a:pt x="10617200" y="1744980"/>
                    <a:pt x="10556113" y="1805051"/>
                    <a:pt x="10481183" y="1805051"/>
                  </a:cubicBezTo>
                  <a:lnTo>
                    <a:pt x="10481183" y="1792351"/>
                  </a:lnTo>
                  <a:lnTo>
                    <a:pt x="10481183" y="1805051"/>
                  </a:lnTo>
                  <a:lnTo>
                    <a:pt x="136017" y="1805051"/>
                  </a:lnTo>
                  <a:lnTo>
                    <a:pt x="136017" y="1792351"/>
                  </a:lnTo>
                  <a:lnTo>
                    <a:pt x="136017" y="1805051"/>
                  </a:lnTo>
                  <a:cubicBezTo>
                    <a:pt x="61087" y="1805051"/>
                    <a:pt x="0" y="1744853"/>
                    <a:pt x="0" y="1670431"/>
                  </a:cubicBezTo>
                  <a:lnTo>
                    <a:pt x="0" y="134620"/>
                  </a:lnTo>
                  <a:lnTo>
                    <a:pt x="12700" y="134620"/>
                  </a:lnTo>
                  <a:lnTo>
                    <a:pt x="0" y="134620"/>
                  </a:lnTo>
                  <a:moveTo>
                    <a:pt x="25400" y="134620"/>
                  </a:moveTo>
                  <a:lnTo>
                    <a:pt x="25400" y="1670431"/>
                  </a:lnTo>
                  <a:lnTo>
                    <a:pt x="12700" y="1670431"/>
                  </a:lnTo>
                  <a:lnTo>
                    <a:pt x="25400" y="1670431"/>
                  </a:lnTo>
                  <a:cubicBezTo>
                    <a:pt x="25400" y="1730629"/>
                    <a:pt x="74803" y="1779651"/>
                    <a:pt x="136017" y="1779651"/>
                  </a:cubicBezTo>
                  <a:lnTo>
                    <a:pt x="10481183" y="1779651"/>
                  </a:lnTo>
                  <a:cubicBezTo>
                    <a:pt x="10542397" y="1779651"/>
                    <a:pt x="10591800" y="1730629"/>
                    <a:pt x="10591800" y="1670431"/>
                  </a:cubicBezTo>
                  <a:lnTo>
                    <a:pt x="10591800" y="134620"/>
                  </a:lnTo>
                  <a:cubicBezTo>
                    <a:pt x="10591800" y="74422"/>
                    <a:pt x="10542397" y="25400"/>
                    <a:pt x="10481183" y="25400"/>
                  </a:cubicBezTo>
                  <a:lnTo>
                    <a:pt x="136017" y="25400"/>
                  </a:lnTo>
                  <a:lnTo>
                    <a:pt x="136017" y="12700"/>
                  </a:lnTo>
                  <a:lnTo>
                    <a:pt x="136017" y="25400"/>
                  </a:lnTo>
                  <a:cubicBezTo>
                    <a:pt x="74803" y="25400"/>
                    <a:pt x="25400" y="74422"/>
                    <a:pt x="25400" y="134620"/>
                  </a:cubicBezTo>
                  <a:close/>
                </a:path>
              </a:pathLst>
            </a:custGeom>
            <a:solidFill>
              <a:srgbClr val="C3D4CC"/>
            </a:solidFill>
          </p:spPr>
        </p:sp>
      </p:grpSp>
      <p:grpSp>
        <p:nvGrpSpPr>
          <p:cNvPr id="11" name="Group 11"/>
          <p:cNvGrpSpPr/>
          <p:nvPr/>
        </p:nvGrpSpPr>
        <p:grpSpPr>
          <a:xfrm>
            <a:off x="957710" y="2668038"/>
            <a:ext cx="76200" cy="1334691"/>
            <a:chOff x="0" y="0"/>
            <a:chExt cx="101600" cy="1779588"/>
          </a:xfrm>
        </p:grpSpPr>
        <p:sp>
          <p:nvSpPr>
            <p:cNvPr id="12" name="Freeform 12"/>
            <p:cNvSpPr/>
            <p:nvPr/>
          </p:nvSpPr>
          <p:spPr>
            <a:xfrm>
              <a:off x="0" y="0"/>
              <a:ext cx="101600" cy="1779651"/>
            </a:xfrm>
            <a:custGeom>
              <a:avLst/>
              <a:gdLst/>
              <a:ahLst/>
              <a:cxnLst/>
              <a:rect l="l" t="t" r="r" b="b"/>
              <a:pathLst>
                <a:path w="101600" h="1779651">
                  <a:moveTo>
                    <a:pt x="0" y="50800"/>
                  </a:moveTo>
                  <a:cubicBezTo>
                    <a:pt x="0" y="22733"/>
                    <a:pt x="22733" y="0"/>
                    <a:pt x="50800" y="0"/>
                  </a:cubicBezTo>
                  <a:cubicBezTo>
                    <a:pt x="78867" y="0"/>
                    <a:pt x="101600" y="22733"/>
                    <a:pt x="101600" y="50800"/>
                  </a:cubicBezTo>
                  <a:lnTo>
                    <a:pt x="101600" y="1728851"/>
                  </a:lnTo>
                  <a:cubicBezTo>
                    <a:pt x="101600" y="1756918"/>
                    <a:pt x="78867" y="1779651"/>
                    <a:pt x="50800" y="1779651"/>
                  </a:cubicBezTo>
                  <a:cubicBezTo>
                    <a:pt x="22733" y="1779651"/>
                    <a:pt x="0" y="1756918"/>
                    <a:pt x="0" y="1728851"/>
                  </a:cubicBezTo>
                  <a:close/>
                </a:path>
              </a:pathLst>
            </a:custGeom>
            <a:solidFill>
              <a:srgbClr val="224435"/>
            </a:solidFill>
          </p:spPr>
        </p:sp>
      </p:grpSp>
      <p:sp>
        <p:nvSpPr>
          <p:cNvPr id="13" name="TextBox 13"/>
          <p:cNvSpPr txBox="1"/>
          <p:nvPr/>
        </p:nvSpPr>
        <p:spPr>
          <a:xfrm>
            <a:off x="1236021" y="2832049"/>
            <a:ext cx="2289419" cy="324145"/>
          </a:xfrm>
          <a:prstGeom prst="rect">
            <a:avLst/>
          </a:prstGeom>
        </p:spPr>
        <p:txBody>
          <a:bodyPr lIns="0" tIns="0" rIns="0" bIns="0" rtlCol="0" anchor="t">
            <a:spAutoFit/>
          </a:bodyPr>
          <a:lstStyle/>
          <a:p>
            <a:pPr algn="l">
              <a:lnSpc>
                <a:spcPts val="2249"/>
              </a:lnSpc>
            </a:pPr>
            <a:r>
              <a:rPr lang="en-US" sz="1750" b="1">
                <a:solidFill>
                  <a:srgbClr val="3B4E4E"/>
                </a:solidFill>
                <a:latin typeface="Arimo Bold"/>
                <a:ea typeface="Arimo Bold"/>
                <a:cs typeface="Arimo Bold"/>
                <a:sym typeface="Arimo Bold"/>
              </a:rPr>
              <a:t>Problem Framing</a:t>
            </a:r>
          </a:p>
        </p:txBody>
      </p:sp>
      <p:sp>
        <p:nvSpPr>
          <p:cNvPr id="14" name="TextBox 14"/>
          <p:cNvSpPr txBox="1"/>
          <p:nvPr/>
        </p:nvSpPr>
        <p:spPr>
          <a:xfrm>
            <a:off x="1236021" y="3272285"/>
            <a:ext cx="7482478" cy="528342"/>
          </a:xfrm>
          <a:prstGeom prst="rect">
            <a:avLst/>
          </a:prstGeom>
        </p:spPr>
        <p:txBody>
          <a:bodyPr lIns="0" tIns="0" rIns="0" bIns="0" rtlCol="0" anchor="t">
            <a:spAutoFit/>
          </a:bodyPr>
          <a:lstStyle/>
          <a:p>
            <a:pPr algn="l">
              <a:lnSpc>
                <a:spcPts val="1999"/>
              </a:lnSpc>
            </a:pPr>
            <a:r>
              <a:rPr lang="en-US" sz="1437">
                <a:solidFill>
                  <a:srgbClr val="3B4E4E"/>
                </a:solidFill>
                <a:latin typeface="Overpass Light"/>
                <a:ea typeface="Overpass Light"/>
                <a:cs typeface="Overpass Light"/>
                <a:sym typeface="Overpass Light"/>
              </a:rPr>
              <a:t>We started with a clear objective: predict used-car prices as a continuous regression task with business value.</a:t>
            </a:r>
          </a:p>
        </p:txBody>
      </p:sp>
      <p:grpSp>
        <p:nvGrpSpPr>
          <p:cNvPr id="15" name="Group 15"/>
          <p:cNvGrpSpPr/>
          <p:nvPr/>
        </p:nvGrpSpPr>
        <p:grpSpPr>
          <a:xfrm>
            <a:off x="967235" y="4128345"/>
            <a:ext cx="7962900" cy="1353741"/>
            <a:chOff x="0" y="0"/>
            <a:chExt cx="10617200" cy="1804988"/>
          </a:xfrm>
        </p:grpSpPr>
        <p:sp>
          <p:nvSpPr>
            <p:cNvPr id="16" name="Freeform 16"/>
            <p:cNvSpPr/>
            <p:nvPr/>
          </p:nvSpPr>
          <p:spPr>
            <a:xfrm>
              <a:off x="12700" y="12700"/>
              <a:ext cx="10591800" cy="1779651"/>
            </a:xfrm>
            <a:custGeom>
              <a:avLst/>
              <a:gdLst/>
              <a:ahLst/>
              <a:cxnLst/>
              <a:rect l="l" t="t" r="r" b="b"/>
              <a:pathLst>
                <a:path w="10591800" h="1779651">
                  <a:moveTo>
                    <a:pt x="0" y="121920"/>
                  </a:moveTo>
                  <a:cubicBezTo>
                    <a:pt x="0" y="54610"/>
                    <a:pt x="55245" y="0"/>
                    <a:pt x="123317" y="0"/>
                  </a:cubicBezTo>
                  <a:lnTo>
                    <a:pt x="10468483" y="0"/>
                  </a:lnTo>
                  <a:cubicBezTo>
                    <a:pt x="10536555" y="0"/>
                    <a:pt x="10591800" y="54610"/>
                    <a:pt x="10591800" y="121920"/>
                  </a:cubicBezTo>
                  <a:lnTo>
                    <a:pt x="10591800" y="1657731"/>
                  </a:lnTo>
                  <a:cubicBezTo>
                    <a:pt x="10591800" y="1725041"/>
                    <a:pt x="10536555" y="1779651"/>
                    <a:pt x="10468483" y="1779651"/>
                  </a:cubicBezTo>
                  <a:lnTo>
                    <a:pt x="123317" y="1779651"/>
                  </a:lnTo>
                  <a:cubicBezTo>
                    <a:pt x="55245" y="1779651"/>
                    <a:pt x="0" y="1725041"/>
                    <a:pt x="0" y="1657731"/>
                  </a:cubicBezTo>
                  <a:close/>
                </a:path>
              </a:pathLst>
            </a:custGeom>
            <a:solidFill>
              <a:srgbClr val="FFFDE6"/>
            </a:solidFill>
          </p:spPr>
        </p:sp>
        <p:sp>
          <p:nvSpPr>
            <p:cNvPr id="17" name="Freeform 17"/>
            <p:cNvSpPr/>
            <p:nvPr/>
          </p:nvSpPr>
          <p:spPr>
            <a:xfrm>
              <a:off x="0" y="0"/>
              <a:ext cx="10617200" cy="1805051"/>
            </a:xfrm>
            <a:custGeom>
              <a:avLst/>
              <a:gdLst/>
              <a:ahLst/>
              <a:cxnLst/>
              <a:rect l="l" t="t" r="r" b="b"/>
              <a:pathLst>
                <a:path w="10617200" h="1805051">
                  <a:moveTo>
                    <a:pt x="0" y="134620"/>
                  </a:moveTo>
                  <a:cubicBezTo>
                    <a:pt x="0" y="60071"/>
                    <a:pt x="61087" y="0"/>
                    <a:pt x="136017" y="0"/>
                  </a:cubicBezTo>
                  <a:lnTo>
                    <a:pt x="10481183" y="0"/>
                  </a:lnTo>
                  <a:lnTo>
                    <a:pt x="10481183" y="12700"/>
                  </a:lnTo>
                  <a:lnTo>
                    <a:pt x="10481183" y="0"/>
                  </a:lnTo>
                  <a:cubicBezTo>
                    <a:pt x="10556113" y="0"/>
                    <a:pt x="10617200" y="60071"/>
                    <a:pt x="10617200" y="134620"/>
                  </a:cubicBezTo>
                  <a:lnTo>
                    <a:pt x="10604500" y="134620"/>
                  </a:lnTo>
                  <a:lnTo>
                    <a:pt x="10617200" y="134620"/>
                  </a:lnTo>
                  <a:lnTo>
                    <a:pt x="10617200" y="1670431"/>
                  </a:lnTo>
                  <a:lnTo>
                    <a:pt x="10604500" y="1670431"/>
                  </a:lnTo>
                  <a:lnTo>
                    <a:pt x="10617200" y="1670431"/>
                  </a:lnTo>
                  <a:cubicBezTo>
                    <a:pt x="10617200" y="1744980"/>
                    <a:pt x="10556113" y="1805051"/>
                    <a:pt x="10481183" y="1805051"/>
                  </a:cubicBezTo>
                  <a:lnTo>
                    <a:pt x="10481183" y="1792351"/>
                  </a:lnTo>
                  <a:lnTo>
                    <a:pt x="10481183" y="1805051"/>
                  </a:lnTo>
                  <a:lnTo>
                    <a:pt x="136017" y="1805051"/>
                  </a:lnTo>
                  <a:lnTo>
                    <a:pt x="136017" y="1792351"/>
                  </a:lnTo>
                  <a:lnTo>
                    <a:pt x="136017" y="1805051"/>
                  </a:lnTo>
                  <a:cubicBezTo>
                    <a:pt x="61087" y="1805051"/>
                    <a:pt x="0" y="1744853"/>
                    <a:pt x="0" y="1670431"/>
                  </a:cubicBezTo>
                  <a:lnTo>
                    <a:pt x="0" y="134620"/>
                  </a:lnTo>
                  <a:lnTo>
                    <a:pt x="12700" y="134620"/>
                  </a:lnTo>
                  <a:lnTo>
                    <a:pt x="0" y="134620"/>
                  </a:lnTo>
                  <a:moveTo>
                    <a:pt x="25400" y="134620"/>
                  </a:moveTo>
                  <a:lnTo>
                    <a:pt x="25400" y="1670431"/>
                  </a:lnTo>
                  <a:lnTo>
                    <a:pt x="12700" y="1670431"/>
                  </a:lnTo>
                  <a:lnTo>
                    <a:pt x="25400" y="1670431"/>
                  </a:lnTo>
                  <a:cubicBezTo>
                    <a:pt x="25400" y="1730629"/>
                    <a:pt x="74803" y="1779651"/>
                    <a:pt x="136017" y="1779651"/>
                  </a:cubicBezTo>
                  <a:lnTo>
                    <a:pt x="10481183" y="1779651"/>
                  </a:lnTo>
                  <a:cubicBezTo>
                    <a:pt x="10542397" y="1779651"/>
                    <a:pt x="10591800" y="1730629"/>
                    <a:pt x="10591800" y="1670431"/>
                  </a:cubicBezTo>
                  <a:lnTo>
                    <a:pt x="10591800" y="134620"/>
                  </a:lnTo>
                  <a:cubicBezTo>
                    <a:pt x="10591800" y="74422"/>
                    <a:pt x="10542397" y="25400"/>
                    <a:pt x="10481183" y="25400"/>
                  </a:cubicBezTo>
                  <a:lnTo>
                    <a:pt x="136017" y="25400"/>
                  </a:lnTo>
                  <a:lnTo>
                    <a:pt x="136017" y="12700"/>
                  </a:lnTo>
                  <a:lnTo>
                    <a:pt x="136017" y="25400"/>
                  </a:lnTo>
                  <a:cubicBezTo>
                    <a:pt x="74803" y="25400"/>
                    <a:pt x="25400" y="74422"/>
                    <a:pt x="25400" y="134620"/>
                  </a:cubicBezTo>
                  <a:close/>
                </a:path>
              </a:pathLst>
            </a:custGeom>
            <a:solidFill>
              <a:srgbClr val="C3D4CC"/>
            </a:solidFill>
          </p:spPr>
        </p:sp>
      </p:grpSp>
      <p:grpSp>
        <p:nvGrpSpPr>
          <p:cNvPr id="18" name="Group 18"/>
          <p:cNvGrpSpPr/>
          <p:nvPr/>
        </p:nvGrpSpPr>
        <p:grpSpPr>
          <a:xfrm>
            <a:off x="957710" y="4137870"/>
            <a:ext cx="76200" cy="1334691"/>
            <a:chOff x="0" y="0"/>
            <a:chExt cx="101600" cy="1779588"/>
          </a:xfrm>
        </p:grpSpPr>
        <p:sp>
          <p:nvSpPr>
            <p:cNvPr id="19" name="Freeform 19"/>
            <p:cNvSpPr/>
            <p:nvPr/>
          </p:nvSpPr>
          <p:spPr>
            <a:xfrm>
              <a:off x="0" y="0"/>
              <a:ext cx="101600" cy="1779651"/>
            </a:xfrm>
            <a:custGeom>
              <a:avLst/>
              <a:gdLst/>
              <a:ahLst/>
              <a:cxnLst/>
              <a:rect l="l" t="t" r="r" b="b"/>
              <a:pathLst>
                <a:path w="101600" h="1779651">
                  <a:moveTo>
                    <a:pt x="0" y="50800"/>
                  </a:moveTo>
                  <a:cubicBezTo>
                    <a:pt x="0" y="22733"/>
                    <a:pt x="22733" y="0"/>
                    <a:pt x="50800" y="0"/>
                  </a:cubicBezTo>
                  <a:cubicBezTo>
                    <a:pt x="78867" y="0"/>
                    <a:pt x="101600" y="22733"/>
                    <a:pt x="101600" y="50800"/>
                  </a:cubicBezTo>
                  <a:lnTo>
                    <a:pt x="101600" y="1728851"/>
                  </a:lnTo>
                  <a:cubicBezTo>
                    <a:pt x="101600" y="1756918"/>
                    <a:pt x="78867" y="1779651"/>
                    <a:pt x="50800" y="1779651"/>
                  </a:cubicBezTo>
                  <a:cubicBezTo>
                    <a:pt x="22733" y="1779651"/>
                    <a:pt x="0" y="1756918"/>
                    <a:pt x="0" y="1728851"/>
                  </a:cubicBezTo>
                  <a:close/>
                </a:path>
              </a:pathLst>
            </a:custGeom>
            <a:solidFill>
              <a:srgbClr val="224435"/>
            </a:solidFill>
          </p:spPr>
        </p:sp>
      </p:grpSp>
      <p:sp>
        <p:nvSpPr>
          <p:cNvPr id="20" name="TextBox 20"/>
          <p:cNvSpPr txBox="1"/>
          <p:nvPr/>
        </p:nvSpPr>
        <p:spPr>
          <a:xfrm>
            <a:off x="1236021" y="4301881"/>
            <a:ext cx="2289419" cy="324145"/>
          </a:xfrm>
          <a:prstGeom prst="rect">
            <a:avLst/>
          </a:prstGeom>
        </p:spPr>
        <p:txBody>
          <a:bodyPr lIns="0" tIns="0" rIns="0" bIns="0" rtlCol="0" anchor="t">
            <a:spAutoFit/>
          </a:bodyPr>
          <a:lstStyle/>
          <a:p>
            <a:pPr algn="l">
              <a:lnSpc>
                <a:spcPts val="2249"/>
              </a:lnSpc>
            </a:pPr>
            <a:r>
              <a:rPr lang="en-US" sz="1750" b="1">
                <a:solidFill>
                  <a:srgbClr val="3B4E4E"/>
                </a:solidFill>
                <a:latin typeface="Arimo Bold"/>
                <a:ea typeface="Arimo Bold"/>
                <a:cs typeface="Arimo Bold"/>
                <a:sym typeface="Arimo Bold"/>
              </a:rPr>
              <a:t>Data Preparation</a:t>
            </a:r>
          </a:p>
        </p:txBody>
      </p:sp>
      <p:sp>
        <p:nvSpPr>
          <p:cNvPr id="21" name="TextBox 21"/>
          <p:cNvSpPr txBox="1"/>
          <p:nvPr/>
        </p:nvSpPr>
        <p:spPr>
          <a:xfrm>
            <a:off x="1236021" y="4742107"/>
            <a:ext cx="7482478" cy="528342"/>
          </a:xfrm>
          <a:prstGeom prst="rect">
            <a:avLst/>
          </a:prstGeom>
        </p:spPr>
        <p:txBody>
          <a:bodyPr lIns="0" tIns="0" rIns="0" bIns="0" rtlCol="0" anchor="t">
            <a:spAutoFit/>
          </a:bodyPr>
          <a:lstStyle/>
          <a:p>
            <a:pPr algn="l">
              <a:lnSpc>
                <a:spcPts val="1999"/>
              </a:lnSpc>
            </a:pPr>
            <a:r>
              <a:rPr lang="en-US" sz="1437">
                <a:solidFill>
                  <a:srgbClr val="3B4E4E"/>
                </a:solidFill>
                <a:latin typeface="Overpass Light"/>
                <a:ea typeface="Overpass Light"/>
                <a:cs typeface="Overpass Light"/>
                <a:sym typeface="Overpass Light"/>
              </a:rPr>
              <a:t>Cleaning, encoding, and structuring the dataset transformed noisy raw records into a reliable foundation for modeling.</a:t>
            </a:r>
          </a:p>
        </p:txBody>
      </p:sp>
      <p:grpSp>
        <p:nvGrpSpPr>
          <p:cNvPr id="22" name="Group 22"/>
          <p:cNvGrpSpPr/>
          <p:nvPr/>
        </p:nvGrpSpPr>
        <p:grpSpPr>
          <a:xfrm>
            <a:off x="967235" y="5598166"/>
            <a:ext cx="7962900" cy="1353741"/>
            <a:chOff x="0" y="0"/>
            <a:chExt cx="10617200" cy="1804988"/>
          </a:xfrm>
        </p:grpSpPr>
        <p:sp>
          <p:nvSpPr>
            <p:cNvPr id="23" name="Freeform 23"/>
            <p:cNvSpPr/>
            <p:nvPr/>
          </p:nvSpPr>
          <p:spPr>
            <a:xfrm>
              <a:off x="12700" y="12700"/>
              <a:ext cx="10591800" cy="1779651"/>
            </a:xfrm>
            <a:custGeom>
              <a:avLst/>
              <a:gdLst/>
              <a:ahLst/>
              <a:cxnLst/>
              <a:rect l="l" t="t" r="r" b="b"/>
              <a:pathLst>
                <a:path w="10591800" h="1779651">
                  <a:moveTo>
                    <a:pt x="0" y="121920"/>
                  </a:moveTo>
                  <a:cubicBezTo>
                    <a:pt x="0" y="54610"/>
                    <a:pt x="55245" y="0"/>
                    <a:pt x="123317" y="0"/>
                  </a:cubicBezTo>
                  <a:lnTo>
                    <a:pt x="10468483" y="0"/>
                  </a:lnTo>
                  <a:cubicBezTo>
                    <a:pt x="10536555" y="0"/>
                    <a:pt x="10591800" y="54610"/>
                    <a:pt x="10591800" y="121920"/>
                  </a:cubicBezTo>
                  <a:lnTo>
                    <a:pt x="10591800" y="1657731"/>
                  </a:lnTo>
                  <a:cubicBezTo>
                    <a:pt x="10591800" y="1725041"/>
                    <a:pt x="10536555" y="1779651"/>
                    <a:pt x="10468483" y="1779651"/>
                  </a:cubicBezTo>
                  <a:lnTo>
                    <a:pt x="123317" y="1779651"/>
                  </a:lnTo>
                  <a:cubicBezTo>
                    <a:pt x="55245" y="1779651"/>
                    <a:pt x="0" y="1725041"/>
                    <a:pt x="0" y="1657731"/>
                  </a:cubicBezTo>
                  <a:close/>
                </a:path>
              </a:pathLst>
            </a:custGeom>
            <a:solidFill>
              <a:srgbClr val="FFFDE6"/>
            </a:solidFill>
          </p:spPr>
        </p:sp>
        <p:sp>
          <p:nvSpPr>
            <p:cNvPr id="24" name="Freeform 24"/>
            <p:cNvSpPr/>
            <p:nvPr/>
          </p:nvSpPr>
          <p:spPr>
            <a:xfrm>
              <a:off x="0" y="0"/>
              <a:ext cx="10617200" cy="1805051"/>
            </a:xfrm>
            <a:custGeom>
              <a:avLst/>
              <a:gdLst/>
              <a:ahLst/>
              <a:cxnLst/>
              <a:rect l="l" t="t" r="r" b="b"/>
              <a:pathLst>
                <a:path w="10617200" h="1805051">
                  <a:moveTo>
                    <a:pt x="0" y="134620"/>
                  </a:moveTo>
                  <a:cubicBezTo>
                    <a:pt x="0" y="60071"/>
                    <a:pt x="61087" y="0"/>
                    <a:pt x="136017" y="0"/>
                  </a:cubicBezTo>
                  <a:lnTo>
                    <a:pt x="10481183" y="0"/>
                  </a:lnTo>
                  <a:lnTo>
                    <a:pt x="10481183" y="12700"/>
                  </a:lnTo>
                  <a:lnTo>
                    <a:pt x="10481183" y="0"/>
                  </a:lnTo>
                  <a:cubicBezTo>
                    <a:pt x="10556113" y="0"/>
                    <a:pt x="10617200" y="60071"/>
                    <a:pt x="10617200" y="134620"/>
                  </a:cubicBezTo>
                  <a:lnTo>
                    <a:pt x="10604500" y="134620"/>
                  </a:lnTo>
                  <a:lnTo>
                    <a:pt x="10617200" y="134620"/>
                  </a:lnTo>
                  <a:lnTo>
                    <a:pt x="10617200" y="1670431"/>
                  </a:lnTo>
                  <a:lnTo>
                    <a:pt x="10604500" y="1670431"/>
                  </a:lnTo>
                  <a:lnTo>
                    <a:pt x="10617200" y="1670431"/>
                  </a:lnTo>
                  <a:cubicBezTo>
                    <a:pt x="10617200" y="1744980"/>
                    <a:pt x="10556113" y="1805051"/>
                    <a:pt x="10481183" y="1805051"/>
                  </a:cubicBezTo>
                  <a:lnTo>
                    <a:pt x="10481183" y="1792351"/>
                  </a:lnTo>
                  <a:lnTo>
                    <a:pt x="10481183" y="1805051"/>
                  </a:lnTo>
                  <a:lnTo>
                    <a:pt x="136017" y="1805051"/>
                  </a:lnTo>
                  <a:lnTo>
                    <a:pt x="136017" y="1792351"/>
                  </a:lnTo>
                  <a:lnTo>
                    <a:pt x="136017" y="1805051"/>
                  </a:lnTo>
                  <a:cubicBezTo>
                    <a:pt x="61087" y="1805051"/>
                    <a:pt x="0" y="1744853"/>
                    <a:pt x="0" y="1670431"/>
                  </a:cubicBezTo>
                  <a:lnTo>
                    <a:pt x="0" y="134620"/>
                  </a:lnTo>
                  <a:lnTo>
                    <a:pt x="12700" y="134620"/>
                  </a:lnTo>
                  <a:lnTo>
                    <a:pt x="0" y="134620"/>
                  </a:lnTo>
                  <a:moveTo>
                    <a:pt x="25400" y="134620"/>
                  </a:moveTo>
                  <a:lnTo>
                    <a:pt x="25400" y="1670431"/>
                  </a:lnTo>
                  <a:lnTo>
                    <a:pt x="12700" y="1670431"/>
                  </a:lnTo>
                  <a:lnTo>
                    <a:pt x="25400" y="1670431"/>
                  </a:lnTo>
                  <a:cubicBezTo>
                    <a:pt x="25400" y="1730629"/>
                    <a:pt x="74803" y="1779651"/>
                    <a:pt x="136017" y="1779651"/>
                  </a:cubicBezTo>
                  <a:lnTo>
                    <a:pt x="10481183" y="1779651"/>
                  </a:lnTo>
                  <a:cubicBezTo>
                    <a:pt x="10542397" y="1779651"/>
                    <a:pt x="10591800" y="1730629"/>
                    <a:pt x="10591800" y="1670431"/>
                  </a:cubicBezTo>
                  <a:lnTo>
                    <a:pt x="10591800" y="134620"/>
                  </a:lnTo>
                  <a:cubicBezTo>
                    <a:pt x="10591800" y="74422"/>
                    <a:pt x="10542397" y="25400"/>
                    <a:pt x="10481183" y="25400"/>
                  </a:cubicBezTo>
                  <a:lnTo>
                    <a:pt x="136017" y="25400"/>
                  </a:lnTo>
                  <a:lnTo>
                    <a:pt x="136017" y="12700"/>
                  </a:lnTo>
                  <a:lnTo>
                    <a:pt x="136017" y="25400"/>
                  </a:lnTo>
                  <a:cubicBezTo>
                    <a:pt x="74803" y="25400"/>
                    <a:pt x="25400" y="74422"/>
                    <a:pt x="25400" y="134620"/>
                  </a:cubicBezTo>
                  <a:close/>
                </a:path>
              </a:pathLst>
            </a:custGeom>
            <a:solidFill>
              <a:srgbClr val="C3D4CC"/>
            </a:solidFill>
          </p:spPr>
        </p:sp>
      </p:grpSp>
      <p:grpSp>
        <p:nvGrpSpPr>
          <p:cNvPr id="25" name="Group 25"/>
          <p:cNvGrpSpPr/>
          <p:nvPr/>
        </p:nvGrpSpPr>
        <p:grpSpPr>
          <a:xfrm>
            <a:off x="957710" y="5607691"/>
            <a:ext cx="76200" cy="1334691"/>
            <a:chOff x="0" y="0"/>
            <a:chExt cx="101600" cy="1779588"/>
          </a:xfrm>
        </p:grpSpPr>
        <p:sp>
          <p:nvSpPr>
            <p:cNvPr id="26" name="Freeform 26"/>
            <p:cNvSpPr/>
            <p:nvPr/>
          </p:nvSpPr>
          <p:spPr>
            <a:xfrm>
              <a:off x="0" y="0"/>
              <a:ext cx="101600" cy="1779651"/>
            </a:xfrm>
            <a:custGeom>
              <a:avLst/>
              <a:gdLst/>
              <a:ahLst/>
              <a:cxnLst/>
              <a:rect l="l" t="t" r="r" b="b"/>
              <a:pathLst>
                <a:path w="101600" h="1779651">
                  <a:moveTo>
                    <a:pt x="0" y="50800"/>
                  </a:moveTo>
                  <a:cubicBezTo>
                    <a:pt x="0" y="22733"/>
                    <a:pt x="22733" y="0"/>
                    <a:pt x="50800" y="0"/>
                  </a:cubicBezTo>
                  <a:cubicBezTo>
                    <a:pt x="78867" y="0"/>
                    <a:pt x="101600" y="22733"/>
                    <a:pt x="101600" y="50800"/>
                  </a:cubicBezTo>
                  <a:lnTo>
                    <a:pt x="101600" y="1728851"/>
                  </a:lnTo>
                  <a:cubicBezTo>
                    <a:pt x="101600" y="1756918"/>
                    <a:pt x="78867" y="1779651"/>
                    <a:pt x="50800" y="1779651"/>
                  </a:cubicBezTo>
                  <a:cubicBezTo>
                    <a:pt x="22733" y="1779651"/>
                    <a:pt x="0" y="1756918"/>
                    <a:pt x="0" y="1728851"/>
                  </a:cubicBezTo>
                  <a:close/>
                </a:path>
              </a:pathLst>
            </a:custGeom>
            <a:solidFill>
              <a:srgbClr val="224435"/>
            </a:solidFill>
          </p:spPr>
        </p:sp>
      </p:grpSp>
      <p:sp>
        <p:nvSpPr>
          <p:cNvPr id="27" name="TextBox 27"/>
          <p:cNvSpPr txBox="1"/>
          <p:nvPr/>
        </p:nvSpPr>
        <p:spPr>
          <a:xfrm>
            <a:off x="1236021" y="5771702"/>
            <a:ext cx="2913907" cy="324145"/>
          </a:xfrm>
          <a:prstGeom prst="rect">
            <a:avLst/>
          </a:prstGeom>
        </p:spPr>
        <p:txBody>
          <a:bodyPr lIns="0" tIns="0" rIns="0" bIns="0" rtlCol="0" anchor="t">
            <a:spAutoFit/>
          </a:bodyPr>
          <a:lstStyle/>
          <a:p>
            <a:pPr algn="l">
              <a:lnSpc>
                <a:spcPts val="2249"/>
              </a:lnSpc>
            </a:pPr>
            <a:r>
              <a:rPr lang="en-US" sz="1750" b="1">
                <a:solidFill>
                  <a:srgbClr val="3B4E4E"/>
                </a:solidFill>
                <a:latin typeface="Arimo Bold"/>
                <a:ea typeface="Arimo Bold"/>
                <a:cs typeface="Arimo Bold"/>
                <a:sym typeface="Arimo Bold"/>
              </a:rPr>
              <a:t>Exploration &amp; Modeling</a:t>
            </a:r>
          </a:p>
        </p:txBody>
      </p:sp>
      <p:sp>
        <p:nvSpPr>
          <p:cNvPr id="28" name="TextBox 28"/>
          <p:cNvSpPr txBox="1"/>
          <p:nvPr/>
        </p:nvSpPr>
        <p:spPr>
          <a:xfrm>
            <a:off x="1236021" y="6211938"/>
            <a:ext cx="7482478" cy="528342"/>
          </a:xfrm>
          <a:prstGeom prst="rect">
            <a:avLst/>
          </a:prstGeom>
        </p:spPr>
        <p:txBody>
          <a:bodyPr lIns="0" tIns="0" rIns="0" bIns="0" rtlCol="0" anchor="t">
            <a:spAutoFit/>
          </a:bodyPr>
          <a:lstStyle/>
          <a:p>
            <a:pPr algn="l">
              <a:lnSpc>
                <a:spcPts val="1999"/>
              </a:lnSpc>
            </a:pPr>
            <a:r>
              <a:rPr lang="en-US" sz="1437">
                <a:solidFill>
                  <a:srgbClr val="3B4E4E"/>
                </a:solidFill>
                <a:latin typeface="Overpass Light"/>
                <a:ea typeface="Overpass Light"/>
                <a:cs typeface="Overpass Light"/>
                <a:sym typeface="Overpass Light"/>
              </a:rPr>
              <a:t>EDA revealed the signals that matter most, and the regression workflow converted those patterns into usable predictions.</a:t>
            </a:r>
          </a:p>
        </p:txBody>
      </p:sp>
      <p:grpSp>
        <p:nvGrpSpPr>
          <p:cNvPr id="29" name="Group 29"/>
          <p:cNvGrpSpPr/>
          <p:nvPr/>
        </p:nvGrpSpPr>
        <p:grpSpPr>
          <a:xfrm>
            <a:off x="967235" y="7067998"/>
            <a:ext cx="7962900" cy="1353741"/>
            <a:chOff x="0" y="0"/>
            <a:chExt cx="10617200" cy="1804988"/>
          </a:xfrm>
        </p:grpSpPr>
        <p:sp>
          <p:nvSpPr>
            <p:cNvPr id="30" name="Freeform 30"/>
            <p:cNvSpPr/>
            <p:nvPr/>
          </p:nvSpPr>
          <p:spPr>
            <a:xfrm>
              <a:off x="12700" y="12700"/>
              <a:ext cx="10591800" cy="1779651"/>
            </a:xfrm>
            <a:custGeom>
              <a:avLst/>
              <a:gdLst/>
              <a:ahLst/>
              <a:cxnLst/>
              <a:rect l="l" t="t" r="r" b="b"/>
              <a:pathLst>
                <a:path w="10591800" h="1779651">
                  <a:moveTo>
                    <a:pt x="0" y="121920"/>
                  </a:moveTo>
                  <a:cubicBezTo>
                    <a:pt x="0" y="54610"/>
                    <a:pt x="55245" y="0"/>
                    <a:pt x="123317" y="0"/>
                  </a:cubicBezTo>
                  <a:lnTo>
                    <a:pt x="10468483" y="0"/>
                  </a:lnTo>
                  <a:cubicBezTo>
                    <a:pt x="10536555" y="0"/>
                    <a:pt x="10591800" y="54610"/>
                    <a:pt x="10591800" y="121920"/>
                  </a:cubicBezTo>
                  <a:lnTo>
                    <a:pt x="10591800" y="1657731"/>
                  </a:lnTo>
                  <a:cubicBezTo>
                    <a:pt x="10591800" y="1725041"/>
                    <a:pt x="10536555" y="1779651"/>
                    <a:pt x="10468483" y="1779651"/>
                  </a:cubicBezTo>
                  <a:lnTo>
                    <a:pt x="123317" y="1779651"/>
                  </a:lnTo>
                  <a:cubicBezTo>
                    <a:pt x="55245" y="1779651"/>
                    <a:pt x="0" y="1725041"/>
                    <a:pt x="0" y="1657731"/>
                  </a:cubicBezTo>
                  <a:close/>
                </a:path>
              </a:pathLst>
            </a:custGeom>
            <a:solidFill>
              <a:srgbClr val="FFFDE6"/>
            </a:solidFill>
          </p:spPr>
        </p:sp>
        <p:sp>
          <p:nvSpPr>
            <p:cNvPr id="31" name="Freeform 31"/>
            <p:cNvSpPr/>
            <p:nvPr/>
          </p:nvSpPr>
          <p:spPr>
            <a:xfrm>
              <a:off x="0" y="0"/>
              <a:ext cx="10617200" cy="1805051"/>
            </a:xfrm>
            <a:custGeom>
              <a:avLst/>
              <a:gdLst/>
              <a:ahLst/>
              <a:cxnLst/>
              <a:rect l="l" t="t" r="r" b="b"/>
              <a:pathLst>
                <a:path w="10617200" h="1805051">
                  <a:moveTo>
                    <a:pt x="0" y="134620"/>
                  </a:moveTo>
                  <a:cubicBezTo>
                    <a:pt x="0" y="60071"/>
                    <a:pt x="61087" y="0"/>
                    <a:pt x="136017" y="0"/>
                  </a:cubicBezTo>
                  <a:lnTo>
                    <a:pt x="10481183" y="0"/>
                  </a:lnTo>
                  <a:lnTo>
                    <a:pt x="10481183" y="12700"/>
                  </a:lnTo>
                  <a:lnTo>
                    <a:pt x="10481183" y="0"/>
                  </a:lnTo>
                  <a:cubicBezTo>
                    <a:pt x="10556113" y="0"/>
                    <a:pt x="10617200" y="60071"/>
                    <a:pt x="10617200" y="134620"/>
                  </a:cubicBezTo>
                  <a:lnTo>
                    <a:pt x="10604500" y="134620"/>
                  </a:lnTo>
                  <a:lnTo>
                    <a:pt x="10617200" y="134620"/>
                  </a:lnTo>
                  <a:lnTo>
                    <a:pt x="10617200" y="1670431"/>
                  </a:lnTo>
                  <a:lnTo>
                    <a:pt x="10604500" y="1670431"/>
                  </a:lnTo>
                  <a:lnTo>
                    <a:pt x="10617200" y="1670431"/>
                  </a:lnTo>
                  <a:cubicBezTo>
                    <a:pt x="10617200" y="1744980"/>
                    <a:pt x="10556113" y="1805051"/>
                    <a:pt x="10481183" y="1805051"/>
                  </a:cubicBezTo>
                  <a:lnTo>
                    <a:pt x="10481183" y="1792351"/>
                  </a:lnTo>
                  <a:lnTo>
                    <a:pt x="10481183" y="1805051"/>
                  </a:lnTo>
                  <a:lnTo>
                    <a:pt x="136017" y="1805051"/>
                  </a:lnTo>
                  <a:lnTo>
                    <a:pt x="136017" y="1792351"/>
                  </a:lnTo>
                  <a:lnTo>
                    <a:pt x="136017" y="1805051"/>
                  </a:lnTo>
                  <a:cubicBezTo>
                    <a:pt x="61087" y="1805051"/>
                    <a:pt x="0" y="1744853"/>
                    <a:pt x="0" y="1670431"/>
                  </a:cubicBezTo>
                  <a:lnTo>
                    <a:pt x="0" y="134620"/>
                  </a:lnTo>
                  <a:lnTo>
                    <a:pt x="12700" y="134620"/>
                  </a:lnTo>
                  <a:lnTo>
                    <a:pt x="0" y="134620"/>
                  </a:lnTo>
                  <a:moveTo>
                    <a:pt x="25400" y="134620"/>
                  </a:moveTo>
                  <a:lnTo>
                    <a:pt x="25400" y="1670431"/>
                  </a:lnTo>
                  <a:lnTo>
                    <a:pt x="12700" y="1670431"/>
                  </a:lnTo>
                  <a:lnTo>
                    <a:pt x="25400" y="1670431"/>
                  </a:lnTo>
                  <a:cubicBezTo>
                    <a:pt x="25400" y="1730629"/>
                    <a:pt x="74803" y="1779651"/>
                    <a:pt x="136017" y="1779651"/>
                  </a:cubicBezTo>
                  <a:lnTo>
                    <a:pt x="10481183" y="1779651"/>
                  </a:lnTo>
                  <a:cubicBezTo>
                    <a:pt x="10542397" y="1779651"/>
                    <a:pt x="10591800" y="1730629"/>
                    <a:pt x="10591800" y="1670431"/>
                  </a:cubicBezTo>
                  <a:lnTo>
                    <a:pt x="10591800" y="134620"/>
                  </a:lnTo>
                  <a:cubicBezTo>
                    <a:pt x="10591800" y="74422"/>
                    <a:pt x="10542397" y="25400"/>
                    <a:pt x="10481183" y="25400"/>
                  </a:cubicBezTo>
                  <a:lnTo>
                    <a:pt x="136017" y="25400"/>
                  </a:lnTo>
                  <a:lnTo>
                    <a:pt x="136017" y="12700"/>
                  </a:lnTo>
                  <a:lnTo>
                    <a:pt x="136017" y="25400"/>
                  </a:lnTo>
                  <a:cubicBezTo>
                    <a:pt x="74803" y="25400"/>
                    <a:pt x="25400" y="74422"/>
                    <a:pt x="25400" y="134620"/>
                  </a:cubicBezTo>
                  <a:close/>
                </a:path>
              </a:pathLst>
            </a:custGeom>
            <a:solidFill>
              <a:srgbClr val="C3D4CC"/>
            </a:solidFill>
          </p:spPr>
        </p:sp>
      </p:grpSp>
      <p:grpSp>
        <p:nvGrpSpPr>
          <p:cNvPr id="32" name="Group 32"/>
          <p:cNvGrpSpPr/>
          <p:nvPr/>
        </p:nvGrpSpPr>
        <p:grpSpPr>
          <a:xfrm>
            <a:off x="957710" y="7077523"/>
            <a:ext cx="76200" cy="1334691"/>
            <a:chOff x="0" y="0"/>
            <a:chExt cx="101600" cy="1779588"/>
          </a:xfrm>
        </p:grpSpPr>
        <p:sp>
          <p:nvSpPr>
            <p:cNvPr id="33" name="Freeform 33"/>
            <p:cNvSpPr/>
            <p:nvPr/>
          </p:nvSpPr>
          <p:spPr>
            <a:xfrm>
              <a:off x="0" y="0"/>
              <a:ext cx="101600" cy="1779651"/>
            </a:xfrm>
            <a:custGeom>
              <a:avLst/>
              <a:gdLst/>
              <a:ahLst/>
              <a:cxnLst/>
              <a:rect l="l" t="t" r="r" b="b"/>
              <a:pathLst>
                <a:path w="101600" h="1779651">
                  <a:moveTo>
                    <a:pt x="0" y="50800"/>
                  </a:moveTo>
                  <a:cubicBezTo>
                    <a:pt x="0" y="22733"/>
                    <a:pt x="22733" y="0"/>
                    <a:pt x="50800" y="0"/>
                  </a:cubicBezTo>
                  <a:cubicBezTo>
                    <a:pt x="78867" y="0"/>
                    <a:pt x="101600" y="22733"/>
                    <a:pt x="101600" y="50800"/>
                  </a:cubicBezTo>
                  <a:lnTo>
                    <a:pt x="101600" y="1728851"/>
                  </a:lnTo>
                  <a:cubicBezTo>
                    <a:pt x="101600" y="1756918"/>
                    <a:pt x="78867" y="1779651"/>
                    <a:pt x="50800" y="1779651"/>
                  </a:cubicBezTo>
                  <a:cubicBezTo>
                    <a:pt x="22733" y="1779651"/>
                    <a:pt x="0" y="1756918"/>
                    <a:pt x="0" y="1728851"/>
                  </a:cubicBezTo>
                  <a:close/>
                </a:path>
              </a:pathLst>
            </a:custGeom>
            <a:solidFill>
              <a:srgbClr val="224435"/>
            </a:solidFill>
          </p:spPr>
        </p:sp>
      </p:grpSp>
      <p:sp>
        <p:nvSpPr>
          <p:cNvPr id="34" name="TextBox 34"/>
          <p:cNvSpPr txBox="1"/>
          <p:nvPr/>
        </p:nvSpPr>
        <p:spPr>
          <a:xfrm>
            <a:off x="1236021" y="7241534"/>
            <a:ext cx="2899172" cy="324145"/>
          </a:xfrm>
          <a:prstGeom prst="rect">
            <a:avLst/>
          </a:prstGeom>
        </p:spPr>
        <p:txBody>
          <a:bodyPr lIns="0" tIns="0" rIns="0" bIns="0" rtlCol="0" anchor="t">
            <a:spAutoFit/>
          </a:bodyPr>
          <a:lstStyle/>
          <a:p>
            <a:pPr algn="l">
              <a:lnSpc>
                <a:spcPts val="2249"/>
              </a:lnSpc>
            </a:pPr>
            <a:r>
              <a:rPr lang="en-US" sz="1750" b="1">
                <a:solidFill>
                  <a:srgbClr val="3B4E4E"/>
                </a:solidFill>
                <a:latin typeface="Arimo Bold"/>
                <a:ea typeface="Arimo Bold"/>
                <a:cs typeface="Arimo Bold"/>
                <a:sym typeface="Arimo Bold"/>
              </a:rPr>
              <a:t>Evaluation &amp; Validation</a:t>
            </a:r>
          </a:p>
        </p:txBody>
      </p:sp>
      <p:sp>
        <p:nvSpPr>
          <p:cNvPr id="35" name="TextBox 35"/>
          <p:cNvSpPr txBox="1"/>
          <p:nvPr/>
        </p:nvSpPr>
        <p:spPr>
          <a:xfrm>
            <a:off x="1236021" y="7681760"/>
            <a:ext cx="7482478" cy="528342"/>
          </a:xfrm>
          <a:prstGeom prst="rect">
            <a:avLst/>
          </a:prstGeom>
        </p:spPr>
        <p:txBody>
          <a:bodyPr lIns="0" tIns="0" rIns="0" bIns="0" rtlCol="0" anchor="t">
            <a:spAutoFit/>
          </a:bodyPr>
          <a:lstStyle/>
          <a:p>
            <a:pPr algn="l">
              <a:lnSpc>
                <a:spcPts val="1999"/>
              </a:lnSpc>
            </a:pPr>
            <a:r>
              <a:rPr lang="en-US" sz="1437">
                <a:solidFill>
                  <a:srgbClr val="3B4E4E"/>
                </a:solidFill>
                <a:latin typeface="Overpass Light"/>
                <a:ea typeface="Overpass Light"/>
                <a:cs typeface="Overpass Light"/>
                <a:sym typeface="Overpass Light"/>
              </a:rPr>
              <a:t>R², MAE, and RMSE gave us a balanced view of fit and error, confirming where the model performs well and where it can improve.</a:t>
            </a:r>
          </a:p>
        </p:txBody>
      </p:sp>
      <p:sp>
        <p:nvSpPr>
          <p:cNvPr id="36" name="TextBox 36"/>
          <p:cNvSpPr txBox="1"/>
          <p:nvPr/>
        </p:nvSpPr>
        <p:spPr>
          <a:xfrm>
            <a:off x="9376915" y="2632024"/>
            <a:ext cx="3663105" cy="476841"/>
          </a:xfrm>
          <a:prstGeom prst="rect">
            <a:avLst/>
          </a:prstGeom>
        </p:spPr>
        <p:txBody>
          <a:bodyPr lIns="0" tIns="0" rIns="0" bIns="0" rtlCol="0" anchor="t">
            <a:spAutoFit/>
          </a:bodyPr>
          <a:lstStyle/>
          <a:p>
            <a:pPr algn="l">
              <a:lnSpc>
                <a:spcPts val="3562"/>
              </a:lnSpc>
            </a:pPr>
            <a:r>
              <a:rPr lang="en-US" sz="2874" b="1">
                <a:solidFill>
                  <a:srgbClr val="233939"/>
                </a:solidFill>
                <a:latin typeface="Arimo Bold"/>
                <a:ea typeface="Arimo Bold"/>
                <a:cs typeface="Arimo Bold"/>
                <a:sym typeface="Arimo Bold"/>
              </a:rPr>
              <a:t>Business Impact</a:t>
            </a:r>
          </a:p>
        </p:txBody>
      </p:sp>
      <p:sp>
        <p:nvSpPr>
          <p:cNvPr id="37" name="TextBox 37"/>
          <p:cNvSpPr txBox="1"/>
          <p:nvPr/>
        </p:nvSpPr>
        <p:spPr>
          <a:xfrm>
            <a:off x="9376915" y="3224955"/>
            <a:ext cx="7943850" cy="1037634"/>
          </a:xfrm>
          <a:prstGeom prst="rect">
            <a:avLst/>
          </a:prstGeom>
        </p:spPr>
        <p:txBody>
          <a:bodyPr lIns="0" tIns="0" rIns="0" bIns="0" rtlCol="0" anchor="t">
            <a:spAutoFit/>
          </a:bodyPr>
          <a:lstStyle/>
          <a:p>
            <a:pPr algn="l">
              <a:lnSpc>
                <a:spcPts val="1999"/>
              </a:lnSpc>
            </a:pPr>
            <a:r>
              <a:rPr lang="en-US" sz="1437">
                <a:solidFill>
                  <a:srgbClr val="3B4E4E"/>
                </a:solidFill>
                <a:latin typeface="Overpass Light"/>
                <a:ea typeface="Overpass Light"/>
                <a:cs typeface="Overpass Light"/>
                <a:sym typeface="Overpass Light"/>
              </a:rPr>
              <a:t>This model creates practical value by supporting smarter pricing decisions, sharper inventory strategy, and more consistent market positioning. It gives teams a data-backed way to justify price points, identify depreciation drivers, and respond faster to changing market conditions. In short, it replaces guesswork with evidence and turns pricing into a competitive advantage.</a:t>
            </a:r>
          </a:p>
        </p:txBody>
      </p:sp>
      <p:sp>
        <p:nvSpPr>
          <p:cNvPr id="38" name="TextBox 38"/>
          <p:cNvSpPr txBox="1"/>
          <p:nvPr/>
        </p:nvSpPr>
        <p:spPr>
          <a:xfrm>
            <a:off x="9376915" y="4378671"/>
            <a:ext cx="3709245" cy="476841"/>
          </a:xfrm>
          <a:prstGeom prst="rect">
            <a:avLst/>
          </a:prstGeom>
        </p:spPr>
        <p:txBody>
          <a:bodyPr lIns="0" tIns="0" rIns="0" bIns="0" rtlCol="0" anchor="t">
            <a:spAutoFit/>
          </a:bodyPr>
          <a:lstStyle/>
          <a:p>
            <a:pPr algn="l">
              <a:lnSpc>
                <a:spcPts val="3562"/>
              </a:lnSpc>
            </a:pPr>
            <a:r>
              <a:rPr lang="en-US" sz="2874" b="1">
                <a:solidFill>
                  <a:srgbClr val="233939"/>
                </a:solidFill>
                <a:latin typeface="Arimo Bold"/>
                <a:ea typeface="Arimo Bold"/>
                <a:cs typeface="Arimo Bold"/>
                <a:sym typeface="Arimo Bold"/>
              </a:rPr>
              <a:t>What We Learned</a:t>
            </a:r>
          </a:p>
        </p:txBody>
      </p:sp>
      <p:sp>
        <p:nvSpPr>
          <p:cNvPr id="39" name="TextBox 39"/>
          <p:cNvSpPr txBox="1"/>
          <p:nvPr/>
        </p:nvSpPr>
        <p:spPr>
          <a:xfrm>
            <a:off x="9376915" y="4971602"/>
            <a:ext cx="7943850" cy="1688897"/>
          </a:xfrm>
          <a:prstGeom prst="rect">
            <a:avLst/>
          </a:prstGeom>
        </p:spPr>
        <p:txBody>
          <a:bodyPr lIns="0" tIns="0" rIns="0" bIns="0" rtlCol="0" anchor="t">
            <a:spAutoFit/>
          </a:bodyPr>
          <a:lstStyle/>
          <a:p>
            <a:pPr marL="216793" lvl="1" indent="-108396" algn="l">
              <a:lnSpc>
                <a:spcPts val="1999"/>
              </a:lnSpc>
              <a:buFont typeface="Arial"/>
              <a:buChar char="•"/>
            </a:pPr>
            <a:r>
              <a:rPr lang="en-US" sz="1437">
                <a:solidFill>
                  <a:srgbClr val="3B4E4E"/>
                </a:solidFill>
                <a:latin typeface="Overpass Light"/>
                <a:ea typeface="Overpass Light"/>
                <a:cs typeface="Overpass Light"/>
                <a:sym typeface="Overpass Light"/>
              </a:rPr>
              <a:t>Strong ML projects begin with a clearly framed problem and a measurable objective.</a:t>
            </a:r>
          </a:p>
          <a:p>
            <a:pPr marL="216793" lvl="1" indent="-108396" algn="l">
              <a:lnSpc>
                <a:spcPts val="1999"/>
              </a:lnSpc>
              <a:buFont typeface="Arial"/>
              <a:buChar char="•"/>
            </a:pPr>
            <a:r>
              <a:rPr lang="en-US" sz="1437">
                <a:solidFill>
                  <a:srgbClr val="3B4E4E"/>
                </a:solidFill>
                <a:latin typeface="Overpass Light"/>
                <a:ea typeface="Overpass Light"/>
                <a:cs typeface="Overpass Light"/>
                <a:sym typeface="Overpass Light"/>
              </a:rPr>
              <a:t>Data quality matters as much as model choice; cleaning and encoding shape everything that follows.</a:t>
            </a:r>
          </a:p>
          <a:p>
            <a:pPr marL="216793" lvl="1" indent="-108396" algn="l">
              <a:lnSpc>
                <a:spcPts val="1999"/>
              </a:lnSpc>
              <a:buFont typeface="Arial"/>
              <a:buChar char="•"/>
            </a:pPr>
            <a:r>
              <a:rPr lang="en-US" sz="1437">
                <a:solidFill>
                  <a:srgbClr val="3B4E4E"/>
                </a:solidFill>
                <a:latin typeface="Overpass Light"/>
                <a:ea typeface="Overpass Light"/>
                <a:cs typeface="Overpass Light"/>
                <a:sym typeface="Overpass Light"/>
              </a:rPr>
              <a:t>Exploration turns raw features into understanding, revealing which signals actually drive outcomes.</a:t>
            </a:r>
          </a:p>
          <a:p>
            <a:pPr marL="216793" lvl="1" indent="-108396" algn="l">
              <a:lnSpc>
                <a:spcPts val="1999"/>
              </a:lnSpc>
              <a:buFont typeface="Arial"/>
              <a:buChar char="•"/>
            </a:pPr>
            <a:r>
              <a:rPr lang="en-US" sz="1437">
                <a:solidFill>
                  <a:srgbClr val="3B4E4E"/>
                </a:solidFill>
                <a:latin typeface="Overpass Light"/>
                <a:ea typeface="Overpass Light"/>
                <a:cs typeface="Overpass Light"/>
                <a:sym typeface="Overpass Light"/>
              </a:rPr>
              <a:t>Evaluation is not the end—it is the checkpoint that tells us how to improve responsibly.</a:t>
            </a:r>
          </a:p>
        </p:txBody>
      </p:sp>
      <p:sp>
        <p:nvSpPr>
          <p:cNvPr id="40" name="TextBox 40"/>
          <p:cNvSpPr txBox="1"/>
          <p:nvPr/>
        </p:nvSpPr>
        <p:spPr>
          <a:xfrm>
            <a:off x="9376915" y="6776590"/>
            <a:ext cx="3663105" cy="476841"/>
          </a:xfrm>
          <a:prstGeom prst="rect">
            <a:avLst/>
          </a:prstGeom>
        </p:spPr>
        <p:txBody>
          <a:bodyPr lIns="0" tIns="0" rIns="0" bIns="0" rtlCol="0" anchor="t">
            <a:spAutoFit/>
          </a:bodyPr>
          <a:lstStyle/>
          <a:p>
            <a:pPr algn="l">
              <a:lnSpc>
                <a:spcPts val="3562"/>
              </a:lnSpc>
            </a:pPr>
            <a:r>
              <a:rPr lang="en-US" sz="2874" b="1">
                <a:solidFill>
                  <a:srgbClr val="233939"/>
                </a:solidFill>
                <a:latin typeface="Arimo Bold"/>
                <a:ea typeface="Arimo Bold"/>
                <a:cs typeface="Arimo Bold"/>
                <a:sym typeface="Arimo Bold"/>
              </a:rPr>
              <a:t>The Path Forward</a:t>
            </a:r>
          </a:p>
        </p:txBody>
      </p:sp>
      <p:sp>
        <p:nvSpPr>
          <p:cNvPr id="41" name="TextBox 41"/>
          <p:cNvSpPr txBox="1"/>
          <p:nvPr/>
        </p:nvSpPr>
        <p:spPr>
          <a:xfrm>
            <a:off x="9376915" y="7369521"/>
            <a:ext cx="7943850" cy="1037634"/>
          </a:xfrm>
          <a:prstGeom prst="rect">
            <a:avLst/>
          </a:prstGeom>
        </p:spPr>
        <p:txBody>
          <a:bodyPr lIns="0" tIns="0" rIns="0" bIns="0" rtlCol="0" anchor="t">
            <a:spAutoFit/>
          </a:bodyPr>
          <a:lstStyle/>
          <a:p>
            <a:pPr algn="l">
              <a:lnSpc>
                <a:spcPts val="1999"/>
              </a:lnSpc>
            </a:pPr>
            <a:r>
              <a:rPr lang="en-US" sz="1437">
                <a:solidFill>
                  <a:srgbClr val="3B4E4E"/>
                </a:solidFill>
                <a:latin typeface="Overpass Light"/>
                <a:ea typeface="Overpass Light"/>
                <a:cs typeface="Overpass Light"/>
                <a:sym typeface="Overpass Light"/>
              </a:rPr>
              <a:t>This workflow is a foundation, not a finish line. The next step is to test more advanced models, tune hyperparameters, expand features, and explore deployment in a real-world setting. With continuous improvement, this pipeline can evolve into a reliable decision-support system that grows in accuracy, robustness, and business impact over time.</a:t>
            </a:r>
          </a:p>
        </p:txBody>
      </p:sp>
      <p:sp>
        <p:nvSpPr>
          <p:cNvPr id="42" name="TextBox 42"/>
          <p:cNvSpPr txBox="1"/>
          <p:nvPr/>
        </p:nvSpPr>
        <p:spPr>
          <a:xfrm>
            <a:off x="1251499" y="8849468"/>
            <a:ext cx="16059741" cy="528342"/>
          </a:xfrm>
          <a:prstGeom prst="rect">
            <a:avLst/>
          </a:prstGeom>
        </p:spPr>
        <p:txBody>
          <a:bodyPr lIns="0" tIns="0" rIns="0" bIns="0" rtlCol="0" anchor="t">
            <a:spAutoFit/>
          </a:bodyPr>
          <a:lstStyle/>
          <a:p>
            <a:pPr algn="l">
              <a:lnSpc>
                <a:spcPts val="1999"/>
              </a:lnSpc>
            </a:pPr>
            <a:r>
              <a:rPr lang="en-US" sz="1437" b="1">
                <a:solidFill>
                  <a:srgbClr val="3B4E4E"/>
                </a:solidFill>
                <a:latin typeface="Overpass Bold"/>
                <a:ea typeface="Overpass Bold"/>
                <a:cs typeface="Overpass Bold"/>
                <a:sym typeface="Overpass Bold"/>
              </a:rPr>
              <a:t>Data-driven decision making is the real outcome of machine learning.</a:t>
            </a:r>
            <a:r>
              <a:rPr lang="en-US" sz="1437">
                <a:solidFill>
                  <a:srgbClr val="3B4E4E"/>
                </a:solidFill>
                <a:latin typeface="Overpass Light"/>
                <a:ea typeface="Overpass Light"/>
                <a:cs typeface="Overpass Light"/>
                <a:sym typeface="Overpass Light"/>
              </a:rPr>
              <a:t> When raw data is transformed with care, curiosity, and rigor, it becomes actionable intelligence—and that is where the true power of the model begins.</a:t>
            </a:r>
          </a:p>
        </p:txBody>
      </p:sp>
      <p:grpSp>
        <p:nvGrpSpPr>
          <p:cNvPr id="43" name="Group 43"/>
          <p:cNvGrpSpPr/>
          <p:nvPr/>
        </p:nvGrpSpPr>
        <p:grpSpPr>
          <a:xfrm>
            <a:off x="976760" y="8716413"/>
            <a:ext cx="19050" cy="813492"/>
            <a:chOff x="0" y="0"/>
            <a:chExt cx="25400" cy="1084656"/>
          </a:xfrm>
        </p:grpSpPr>
        <p:sp>
          <p:nvSpPr>
            <p:cNvPr id="44" name="Freeform 44"/>
            <p:cNvSpPr/>
            <p:nvPr/>
          </p:nvSpPr>
          <p:spPr>
            <a:xfrm>
              <a:off x="0" y="0"/>
              <a:ext cx="25400" cy="1084707"/>
            </a:xfrm>
            <a:custGeom>
              <a:avLst/>
              <a:gdLst/>
              <a:ahLst/>
              <a:cxnLst/>
              <a:rect l="l" t="t" r="r" b="b"/>
              <a:pathLst>
                <a:path w="25400" h="1084707">
                  <a:moveTo>
                    <a:pt x="0" y="0"/>
                  </a:moveTo>
                  <a:lnTo>
                    <a:pt x="25400" y="0"/>
                  </a:lnTo>
                  <a:lnTo>
                    <a:pt x="25400" y="1084707"/>
                  </a:lnTo>
                  <a:lnTo>
                    <a:pt x="0" y="1084707"/>
                  </a:lnTo>
                  <a:close/>
                </a:path>
              </a:pathLst>
            </a:custGeom>
            <a:solidFill>
              <a:srgbClr val="224435"/>
            </a:solid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3449</Words>
  <Application>Microsoft Office PowerPoint</Application>
  <PresentationFormat>Custom</PresentationFormat>
  <Paragraphs>165</Paragraphs>
  <Slides>14</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14</vt:i4>
      </vt:variant>
    </vt:vector>
  </HeadingPairs>
  <TitlesOfParts>
    <vt:vector size="24" baseType="lpstr">
      <vt:lpstr>Calibri</vt:lpstr>
      <vt:lpstr>Arimo Bold</vt:lpstr>
      <vt:lpstr>Arimo</vt:lpstr>
      <vt:lpstr>Overpass</vt:lpstr>
      <vt:lpstr>Overpass Light</vt:lpstr>
      <vt:lpstr>Arial</vt:lpstr>
      <vt:lpstr>Consolas</vt:lpstr>
      <vt:lpstr>Overpass Light Italics</vt:lpstr>
      <vt:lpstr>Overpass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BHAVIT GUPTA</cp:lastModifiedBy>
  <cp:revision>2</cp:revision>
  <dcterms:created xsi:type="dcterms:W3CDTF">2006-08-16T00:00:00Z</dcterms:created>
  <dcterms:modified xsi:type="dcterms:W3CDTF">2026-04-20T15:41:06Z</dcterms:modified>
  <dc:identifier>DAHHZzvNk-k</dc:identifier>
</cp:coreProperties>
</file>